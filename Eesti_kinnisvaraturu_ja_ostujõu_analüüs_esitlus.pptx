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utvustus" id="{AE82099D-4C9A-615D-55CE-76F43C065774}">
          <p14:sldIdLst>
            <p14:sldId id="256"/>
            <p14:sldId id="257"/>
          </p14:sldIdLst>
        </p14:section>
        <p14:section name="Tutvustus" id="{4D529A0A-A9F6-AC32-EC38-0F39539BE704}">
          <p14:sldIdLst/>
        </p14:section>
        <p14:section name="Andmevoog ja puhastus" id="{17FDB3FA-4C09-DCB6-A168-0578690AAFAD}">
          <p14:sldIdLst>
            <p14:sldId id="258"/>
            <p14:sldId id="259"/>
          </p14:sldIdLst>
        </p14:section>
        <p14:section name="Andmevoog ja puhastus" id="{4E4C4534-18D6-4A26-919C-0CC25B49CE7D}">
          <p14:sldIdLst/>
        </p14:section>
        <p14:section name="Lahendus ja aruanne" id="{4EA0CA45-EA3C-13A1-EF8C-9E327BC38E20}">
          <p14:sldIdLst>
            <p14:sldId id="260"/>
            <p14:sldId id="261"/>
          </p14:sldIdLst>
        </p14:section>
        <p14:section name="Lahendus ja aruanne" id="{50293F0F-EA48-351D-3E25-64AD468C1D6A}">
          <p14:sldIdLst/>
        </p14:section>
        <p14:section name="Dokumentatsioon ja tiim" id="{12C37D27-26F4-1E52-AD9E-B740780AEE98}">
          <p14:sldIdLst>
            <p14:sldId id="262"/>
          </p14:sldIdLst>
        </p14:section>
        <p14:section name="Õppetunnid" id="{8D1982C2-BF9B-1D25-7140-BCEE22629F67}">
          <p14:sldIdLst>
            <p14:sldId id="263"/>
          </p14:sldIdLst>
        </p14:section>
        <p14:section name="Lõpetamine" id="{CDC629F9-1911-59B1-4A09-C7C9AE29A2AC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0120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Tervitus, meeskonna tutvustus (nimed). Üks lause projekti kohta: võrdlesime palka, kinnisvara hindu, intressimäärasid ja inflatsiooni 15 Eesti maakonnas.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Kes me oleme ja mis probleemi lahendasime. Eesmärk: analüüsida palgakasvu, inflatsiooni ja finantstingimuste mõju elanike ostujõule kinnisvaraturul. Sihtrühm: eraisikud ja koduostjad, kes otsustavad maakonniti.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Andmed: Statistikaamet (palk, THI), Maa-amet (korterite m² hind ja tehingud), Eesti Pank (intressid). Python/Pandas laeb ja rikastab, PostgreSQL hoiab tähtskeemi, Power BI teeb raporti. Selgita loogikat, mitte koodi.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Suurim väljakutse: 2023. I kvartalis läks Statistikaamet valimipõhiselt uuringult registripõhisele (MTA TÖR ja TSD), mis tekitas kunstliku hinnahüppe. Lahendus: kolme palgatabeli (PA21, PA004, PA117) ühendamine Pythonis, duplikaatide eemaldamine ja nihke silumine üleminekukohtades. Hiiu maakonnas puudub 3 kvartali hind, sest tehinguid oli alla 5 (2009 IV, 2010 I, 2014 I) – jätsime NULL.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Kasutuslugu 1 (Power BI): koduostja valib maakonna ja näeb, kuidas keskmine brutopalk ja korterite m² hind aastate jooksul liiguvad ning kus käärid kõige suuremaks muutuvad. Näita 2–3 maakonda (nt Harju vs Ida-Viru).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Kasutuslugu 2 (R-skript Power BI-s): trajektoori kõrvalekalded näitavad, kus kinnisvara kallines palgast kiiremini. Mulli suurus on tehinguaktiivsus; vaikimisi 5 aktiivseimat maakonda. Lõpuks mainige 3 äppi: m² hinna prognoos, Ostujõu Kompass ja „Mitu m² saad ühe kuupalgaga?“.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Näita kiirelt README-d ja koodikommentaare GitHubis. Siis üks lause iga liikme kohta: kes mille eest vastutas. Asenda kohatäited päris nimede ja rollidega.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Hästi / keeruline on võetud projekti dokumentatsioonist. Veerg „Järgmisel korral“ on ettepanek – kohanda see oma grupi päris kogemusega.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Näita GitHubi linki ja QR-koodi, täname kuulajaid, küsimused.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69494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1280160"/>
            <a:ext cx="60350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1280160"/>
            <a:ext cx="7719060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t-EE" sz="3800" b="1" dirty="0">
                <a:solidFill>
                  <a:schemeClr val="bg1"/>
                </a:solidFill>
              </a:rPr>
              <a:t>Eesti Kinnisvaraturu ja Ostujõu Analüüs (2005-2026)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VALI IT andmeanalüüsi kursuse grupitöö  ·  [</a:t>
            </a:r>
            <a:r>
              <a:rPr lang="et-EE" sz="1400" dirty="0">
                <a:solidFill>
                  <a:schemeClr val="bg1"/>
                </a:solidFill>
              </a:rPr>
              <a:t>Kaidi </a:t>
            </a:r>
            <a:r>
              <a:rPr lang="et-EE" sz="1400" dirty="0" err="1">
                <a:solidFill>
                  <a:schemeClr val="bg1"/>
                </a:solidFill>
              </a:rPr>
              <a:t>Soiela</a:t>
            </a:r>
            <a:r>
              <a:rPr lang="et-EE" sz="1400" dirty="0">
                <a:solidFill>
                  <a:schemeClr val="bg1"/>
                </a:solidFill>
              </a:rPr>
              <a:t>, Siret Laaneoks, Merje Nõmmik, Kristel Kuusik</a:t>
            </a:r>
            <a:r>
              <a:rPr lang="en-US" sz="1400" dirty="0">
                <a:solidFill>
                  <a:schemeClr val="bg1"/>
                </a:solidFill>
              </a:rPr>
              <a:t>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Probleem ja eesmärk</a:t>
            </a:r>
            <a:endParaRPr lang="en-US" sz="3000" dirty="0"/>
          </a:p>
        </p:txBody>
      </p:sp>
      <p:sp>
        <p:nvSpPr>
          <p:cNvPr id="6" name="Kaart Probleem"/>
          <p:cNvSpPr/>
          <p:nvPr/>
        </p:nvSpPr>
        <p:spPr>
          <a:xfrm>
            <a:off x="457200" y="1234440"/>
            <a:ext cx="484632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14859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0080" y="14859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28016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Probleem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Kas keskmise palgaga töötaja jõuab kinnisvara hinnatõusuga sammu pidada?</a:t>
            </a:r>
            <a:endParaRPr lang="en-US" sz="1600" dirty="0"/>
          </a:p>
        </p:txBody>
      </p:sp>
      <p:sp>
        <p:nvSpPr>
          <p:cNvPr id="10" name="Kaart Hüpotees"/>
          <p:cNvSpPr/>
          <p:nvPr/>
        </p:nvSpPr>
        <p:spPr>
          <a:xfrm>
            <a:off x="457200" y="2331720"/>
            <a:ext cx="484632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640080" y="258318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" y="25831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280160" y="237744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Hüpotees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Ostuvõime on inflatsiooni ja EURIBORi tõusu tõttu madalam kui eelmisel kümnendil.</a:t>
            </a:r>
            <a:endParaRPr lang="en-US" sz="1600" dirty="0"/>
          </a:p>
        </p:txBody>
      </p:sp>
      <p:sp>
        <p:nvSpPr>
          <p:cNvPr id="14" name="Kaart Sihtrühm ja väärtus"/>
          <p:cNvSpPr/>
          <p:nvPr/>
        </p:nvSpPr>
        <p:spPr>
          <a:xfrm>
            <a:off x="457200" y="3429000"/>
            <a:ext cx="484632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/>
        </p:spPr>
      </p:sp>
      <p:sp>
        <p:nvSpPr>
          <p:cNvPr id="15" name="Shape 12"/>
          <p:cNvSpPr/>
          <p:nvPr/>
        </p:nvSpPr>
        <p:spPr>
          <a:xfrm>
            <a:off x="640080" y="368046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40080" y="3680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347472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Sihtrühm ja väärtus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Eraisikud ja koduostjad: kaalutletud otsus maakonniti.</a:t>
            </a:r>
            <a:endParaRPr lang="en-US" sz="1600" dirty="0"/>
          </a:p>
        </p:txBody>
      </p:sp>
      <p:sp>
        <p:nvSpPr>
          <p:cNvPr id="18" name="Statistika maakonda"/>
          <p:cNvSpPr/>
          <p:nvPr/>
        </p:nvSpPr>
        <p:spPr>
          <a:xfrm>
            <a:off x="5669280" y="1234440"/>
            <a:ext cx="1463040" cy="1508760"/>
          </a:xfrm>
          <a:prstGeom prst="roundRect">
            <a:avLst>
              <a:gd name="adj" fmla="val 6250"/>
            </a:avLst>
          </a:prstGeom>
          <a:solidFill>
            <a:schemeClr val="accent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669280" y="15087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20" name="Text 17"/>
          <p:cNvSpPr txBox="1"/>
          <p:nvPr/>
        </p:nvSpPr>
        <p:spPr>
          <a:xfrm>
            <a:off x="5669280" y="2103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</a:rPr>
              <a:t>maakonda</a:t>
            </a:r>
            <a:endParaRPr lang="en-US" sz="1400" dirty="0"/>
          </a:p>
        </p:txBody>
      </p:sp>
      <p:sp>
        <p:nvSpPr>
          <p:cNvPr id="21" name="Statistika vaatlusperiood"/>
          <p:cNvSpPr/>
          <p:nvPr/>
        </p:nvSpPr>
        <p:spPr>
          <a:xfrm>
            <a:off x="7223760" y="1234440"/>
            <a:ext cx="1463040" cy="1508760"/>
          </a:xfrm>
          <a:prstGeom prst="roundRect">
            <a:avLst>
              <a:gd name="adj" fmla="val 6250"/>
            </a:avLst>
          </a:prstGeom>
          <a:solidFill>
            <a:schemeClr val="accent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223760" y="15087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2005–2026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7223760" y="2103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</a:rPr>
              <a:t>vaatlusperiood</a:t>
            </a:r>
            <a:endParaRPr lang="en-US" sz="1400" dirty="0"/>
          </a:p>
        </p:txBody>
      </p:sp>
      <p:sp>
        <p:nvSpPr>
          <p:cNvPr id="24" name="Statistika andmeallikat"/>
          <p:cNvSpPr/>
          <p:nvPr/>
        </p:nvSpPr>
        <p:spPr>
          <a:xfrm>
            <a:off x="5669280" y="2880360"/>
            <a:ext cx="1463040" cy="1508760"/>
          </a:xfrm>
          <a:prstGeom prst="roundRect">
            <a:avLst>
              <a:gd name="adj" fmla="val 6250"/>
            </a:avLst>
          </a:prstGeom>
          <a:solidFill>
            <a:schemeClr val="accent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669280" y="3154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0" y="37490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</a:rPr>
              <a:t>andmeallikat</a:t>
            </a:r>
            <a:endParaRPr lang="en-US" sz="1400" dirty="0"/>
          </a:p>
        </p:txBody>
      </p:sp>
      <p:sp>
        <p:nvSpPr>
          <p:cNvPr id="27" name="Statistika kasutajarakendust"/>
          <p:cNvSpPr/>
          <p:nvPr/>
        </p:nvSpPr>
        <p:spPr>
          <a:xfrm>
            <a:off x="7223760" y="2880360"/>
            <a:ext cx="1463040" cy="1508760"/>
          </a:xfrm>
          <a:prstGeom prst="roundRect">
            <a:avLst>
              <a:gd name="adj" fmla="val 6250"/>
            </a:avLst>
          </a:prstGeom>
          <a:solidFill>
            <a:schemeClr val="accent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223760" y="3154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29" name="Text 26"/>
          <p:cNvSpPr txBox="1"/>
          <p:nvPr/>
        </p:nvSpPr>
        <p:spPr>
          <a:xfrm>
            <a:off x="7223760" y="37490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</a:rPr>
              <a:t>kasutajarakendust</a:t>
            </a:r>
            <a:endParaRPr lang="en-US" sz="14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Andmevoog allikatest raportini</a:t>
            </a:r>
            <a:endParaRPr lang="en-US" sz="3000" dirty="0"/>
          </a:p>
        </p:txBody>
      </p:sp>
      <p:pic>
        <p:nvPicPr>
          <p:cNvPr id="6" name="Arhitektuuri plokkskeem" descr="Andmevoo plokkskeem: allikad, Python/Pandas, PostgreSQL, Power B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5669280" cy="283189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1148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Kolm avalikku allikat → üks andmebaas → üks raport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6400800" y="123444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949440" y="11887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Kogu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CSV-failid kolmest avalikust allikast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400800" y="2057400"/>
            <a:ext cx="411480" cy="4114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0" y="2057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6949440" y="201168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Puhasta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Python ühtlustab ja liidab tabelid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6400800" y="2880360"/>
            <a:ext cx="411480" cy="4114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40080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949440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Modelleeri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PostgreSQL tähtskeem andmemudelina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6400800" y="370332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400800" y="3703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949440" y="365760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t-EE" sz="1600" b="1" dirty="0">
                <a:solidFill>
                  <a:schemeClr val="tx2"/>
                </a:solidFill>
              </a:rPr>
              <a:t>Visualiseeri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Power BI aruanded ja 3 äppi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Andmekvaliteedi väljakutsed</a:t>
            </a:r>
            <a:endParaRPr lang="en-US" sz="3000" dirty="0"/>
          </a:p>
        </p:txBody>
      </p:sp>
      <p:sp>
        <p:nvSpPr>
          <p:cNvPr id="6" name="Kaart Registripõhine üleminek (2023)"/>
          <p:cNvSpPr/>
          <p:nvPr/>
        </p:nvSpPr>
        <p:spPr>
          <a:xfrm>
            <a:off x="457200" y="1188720"/>
            <a:ext cx="46634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23444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Registripõhine üleminek (2023)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Kunstlik hinnahüpe; silutud üleminekukohtades</a:t>
            </a:r>
            <a:endParaRPr lang="en-US" sz="1600" dirty="0"/>
          </a:p>
        </p:txBody>
      </p:sp>
      <p:sp>
        <p:nvSpPr>
          <p:cNvPr id="10" name="Kaart Puuduvad väärtused"/>
          <p:cNvSpPr/>
          <p:nvPr/>
        </p:nvSpPr>
        <p:spPr>
          <a:xfrm>
            <a:off x="457200" y="2331720"/>
            <a:ext cx="46634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640080" y="26060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?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280160" y="237744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Puuduvad väärtused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Hiiumaa: 3 kvartalit alla 5 tehingu, jäetud NULL</a:t>
            </a:r>
            <a:endParaRPr lang="en-US" sz="1600" dirty="0"/>
          </a:p>
        </p:txBody>
      </p:sp>
      <p:sp>
        <p:nvSpPr>
          <p:cNvPr id="14" name="Kaart Kolm palgatabelit, duplikaadid"/>
          <p:cNvSpPr/>
          <p:nvPr/>
        </p:nvSpPr>
        <p:spPr>
          <a:xfrm>
            <a:off x="457200" y="3474720"/>
            <a:ext cx="46634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5" name="Shape 12"/>
          <p:cNvSpPr/>
          <p:nvPr/>
        </p:nvSpPr>
        <p:spPr>
          <a:xfrm>
            <a:off x="640080" y="3749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4008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2×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352044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Kolm palgatabelit, duplikaadid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PA21, PA004 ja PA117 liidetud, duplikaadid eemaldatud</a:t>
            </a:r>
            <a:endParaRPr lang="en-US" sz="1600" dirty="0"/>
          </a:p>
        </p:txBody>
      </p:sp>
      <p:pic>
        <p:nvPicPr>
          <p:cNvPr id="18" name="Tähtskeem" descr="PostgreSQL tähtske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188720"/>
            <a:ext cx="3200400" cy="2388413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486400" y="3840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Tähtskeem: 4 faktitabelit, 2 dimensiooni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Stsenaarium 1: kus on käärid?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188720"/>
            <a:ext cx="5577840" cy="2238832"/>
          </a:xfrm>
          <a:prstGeom prst="roundRect">
            <a:avLst>
              <a:gd name="adj" fmla="val 2042"/>
            </a:avLst>
          </a:prstGeom>
          <a:solidFill>
            <a:schemeClr val="bg2"/>
          </a:solidFill>
          <a:ln/>
        </p:spPr>
      </p:sp>
      <p:pic>
        <p:nvPicPr>
          <p:cNvPr id="7" name="Ekraanipilt" descr="Stsenaarium 1: kus on käärid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440"/>
            <a:ext cx="5486400" cy="214739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347327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Ekraanipilt – näita live-demos või ekraanisalvestusena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309360" y="1188720"/>
            <a:ext cx="237744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446520" y="12344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Küsimus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Millal ja kus lahknevad palk ja m² hind?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309360" y="2286000"/>
            <a:ext cx="2377440" cy="1005840"/>
          </a:xfrm>
          <a:prstGeom prst="roundRect">
            <a:avLst>
              <a:gd name="adj" fmla="val 9091"/>
            </a:avLst>
          </a:prstGeom>
          <a:solidFill>
            <a:schemeClr val="accent3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46520" y="23317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Tegevus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Vali slicerist Eesti või maakond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309360" y="3383280"/>
            <a:ext cx="2377440" cy="1005840"/>
          </a:xfrm>
          <a:prstGeom prst="roundRect">
            <a:avLst>
              <a:gd name="adj" fmla="val 9091"/>
            </a:avLst>
          </a:prstGeom>
          <a:solidFill>
            <a:schemeClr val="accent4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446520" y="34290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Väärtus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Näed, millal „käärid“ suurimaks lähevad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Stsenaarium 2: kus on ostujõud?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188720"/>
            <a:ext cx="5577840" cy="2364258"/>
          </a:xfrm>
          <a:prstGeom prst="roundRect">
            <a:avLst>
              <a:gd name="adj" fmla="val 1934"/>
            </a:avLst>
          </a:prstGeom>
          <a:solidFill>
            <a:schemeClr val="bg2"/>
          </a:solidFill>
          <a:ln/>
        </p:spPr>
      </p:sp>
      <p:pic>
        <p:nvPicPr>
          <p:cNvPr id="7" name="Ekraanipilt" descr="Stsenaarium 2: kus on ostujõud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440"/>
            <a:ext cx="5486400" cy="227281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359869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Ekraanipilt – näita live-demos või ekraanisalvestusena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309360" y="1188720"/>
            <a:ext cx="237744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446520" y="12344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Küsimus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Millises maakonnas on palk hinnaga kõige paremas suhtes?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309360" y="2286000"/>
            <a:ext cx="2377440" cy="1005840"/>
          </a:xfrm>
          <a:prstGeom prst="roundRect">
            <a:avLst>
              <a:gd name="adj" fmla="val 9091"/>
            </a:avLst>
          </a:prstGeom>
          <a:solidFill>
            <a:schemeClr val="accent3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46520" y="23317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Tegevus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Võrdle trajektoore, mulli suurus = tehingud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309360" y="3383280"/>
            <a:ext cx="2377440" cy="1005840"/>
          </a:xfrm>
          <a:prstGeom prst="roundRect">
            <a:avLst>
              <a:gd name="adj" fmla="val 9091"/>
            </a:avLst>
          </a:prstGeom>
          <a:solidFill>
            <a:schemeClr val="accent4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446520" y="34290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Väärtus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Näed, kus ostujõud on madalam või kõrgem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Dokumentatsioon ja tiim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188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Dokumenteeritud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457200" y="1645920"/>
            <a:ext cx="402336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0080" y="164592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README  </a:t>
            </a:r>
            <a:r>
              <a:rPr lang="en-US" sz="1400" dirty="0">
                <a:solidFill>
                  <a:schemeClr val="tx1"/>
                </a:solidFill>
              </a:rPr>
              <a:t>Projekti kirjeldus ja kasutusjuhend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377440"/>
            <a:ext cx="402336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23774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Andmemudel  </a:t>
            </a:r>
            <a:r>
              <a:rPr lang="en-US" sz="1400" dirty="0">
                <a:solidFill>
                  <a:schemeClr val="tx1"/>
                </a:solidFill>
              </a:rPr>
              <a:t>Tabelite ja veergude kirjeldus (SQL tähtskeem)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57200" y="3108960"/>
            <a:ext cx="402336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" y="31089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chemeClr val="tx2"/>
                </a:solidFill>
              </a:rPr>
              <a:t>Nime</a:t>
            </a:r>
            <a:r>
              <a:rPr lang="et-EE" sz="1600" b="1" dirty="0">
                <a:solidFill>
                  <a:schemeClr val="tx2"/>
                </a:solidFill>
              </a:rPr>
              <a:t> </a:t>
            </a:r>
            <a:r>
              <a:rPr lang="en-US" sz="1600" b="1" dirty="0" err="1">
                <a:solidFill>
                  <a:schemeClr val="tx2"/>
                </a:solidFill>
              </a:rPr>
              <a:t>reeglid</a:t>
            </a:r>
            <a:r>
              <a:rPr lang="en-US" sz="1600" b="1" dirty="0">
                <a:solidFill>
                  <a:schemeClr val="tx2"/>
                </a:solidFill>
              </a:rPr>
              <a:t>  </a:t>
            </a:r>
            <a:r>
              <a:rPr lang="en-US" sz="1400" dirty="0">
                <a:solidFill>
                  <a:schemeClr val="tx1"/>
                </a:solidFill>
              </a:rPr>
              <a:t>_raw ja _py_final failid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" y="3840480"/>
            <a:ext cx="402336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0080" y="38404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Kommentaarid  </a:t>
            </a:r>
            <a:r>
              <a:rPr lang="en-US" sz="1400" dirty="0" err="1">
                <a:solidFill>
                  <a:schemeClr val="tx1"/>
                </a:solidFill>
              </a:rPr>
              <a:t>Selgitused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Pythoni</a:t>
            </a:r>
            <a:r>
              <a:rPr lang="et-EE" sz="1400" dirty="0">
                <a:solidFill>
                  <a:schemeClr val="tx1"/>
                </a:solidFill>
              </a:rPr>
              <a:t>, Power BI</a:t>
            </a:r>
            <a:r>
              <a:rPr lang="en-US" sz="1400" dirty="0">
                <a:solidFill>
                  <a:schemeClr val="tx1"/>
                </a:solidFill>
              </a:rPr>
              <a:t> ja SQL koodis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1188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Kes mille eest vastutas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4846320" y="1645920"/>
            <a:ext cx="3840480" cy="56388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/>
        </p:spPr>
      </p:sp>
      <p:sp>
        <p:nvSpPr>
          <p:cNvPr id="17" name="Shape 14"/>
          <p:cNvSpPr/>
          <p:nvPr/>
        </p:nvSpPr>
        <p:spPr>
          <a:xfrm>
            <a:off x="5006340" y="16840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715000" y="1645920"/>
            <a:ext cx="283464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t-EE" sz="1600" b="1" dirty="0">
                <a:solidFill>
                  <a:schemeClr val="bg1"/>
                </a:solidFill>
              </a:rPr>
              <a:t>Kaidi </a:t>
            </a:r>
            <a:r>
              <a:rPr lang="et-EE" sz="1600" b="1" dirty="0" err="1">
                <a:solidFill>
                  <a:schemeClr val="bg1"/>
                </a:solidFill>
              </a:rPr>
              <a:t>Soiela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4846320" y="2331720"/>
            <a:ext cx="3840480" cy="56388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/>
        </p:spPr>
      </p:sp>
      <p:sp>
        <p:nvSpPr>
          <p:cNvPr id="20" name="Shape 17"/>
          <p:cNvSpPr/>
          <p:nvPr/>
        </p:nvSpPr>
        <p:spPr>
          <a:xfrm>
            <a:off x="5000625" y="234600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657850" y="2346960"/>
            <a:ext cx="27203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t-EE" sz="1600" b="1" dirty="0">
                <a:solidFill>
                  <a:schemeClr val="bg1"/>
                </a:solidFill>
              </a:rPr>
              <a:t>Merje Nõmmik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4831080" y="3120390"/>
            <a:ext cx="3840480" cy="52959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/>
        </p:spPr>
      </p:sp>
      <p:sp>
        <p:nvSpPr>
          <p:cNvPr id="23" name="Shape 20"/>
          <p:cNvSpPr/>
          <p:nvPr/>
        </p:nvSpPr>
        <p:spPr>
          <a:xfrm>
            <a:off x="4983480" y="31394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600700" y="3175635"/>
            <a:ext cx="28346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t-EE" sz="1600" b="1" dirty="0">
                <a:solidFill>
                  <a:schemeClr val="bg1"/>
                </a:solidFill>
              </a:rPr>
              <a:t>Siret Laaneoks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26" name="Shape 13">
            <a:extLst>
              <a:ext uri="{FF2B5EF4-FFF2-40B4-BE49-F238E27FC236}">
                <a16:creationId xmlns:a16="http://schemas.microsoft.com/office/drawing/2014/main" id="{20CCA7B2-C1C1-2B6E-7672-84A95FC003A3}"/>
              </a:ext>
            </a:extLst>
          </p:cNvPr>
          <p:cNvSpPr/>
          <p:nvPr/>
        </p:nvSpPr>
        <p:spPr>
          <a:xfrm>
            <a:off x="4846320" y="3861435"/>
            <a:ext cx="3840480" cy="56388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/>
        </p:spPr>
      </p:sp>
      <p:sp>
        <p:nvSpPr>
          <p:cNvPr id="27" name="Shape 17">
            <a:extLst>
              <a:ext uri="{FF2B5EF4-FFF2-40B4-BE49-F238E27FC236}">
                <a16:creationId xmlns:a16="http://schemas.microsoft.com/office/drawing/2014/main" id="{E5183D93-871B-4589-B3A1-27247BF79791}"/>
              </a:ext>
            </a:extLst>
          </p:cNvPr>
          <p:cNvSpPr/>
          <p:nvPr/>
        </p:nvSpPr>
        <p:spPr>
          <a:xfrm>
            <a:off x="4983480" y="3914775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Text 21">
            <a:extLst>
              <a:ext uri="{FF2B5EF4-FFF2-40B4-BE49-F238E27FC236}">
                <a16:creationId xmlns:a16="http://schemas.microsoft.com/office/drawing/2014/main" id="{8003AF74-467C-C648-B180-8D291F9FBF1B}"/>
              </a:ext>
            </a:extLst>
          </p:cNvPr>
          <p:cNvSpPr txBox="1"/>
          <p:nvPr/>
        </p:nvSpPr>
        <p:spPr>
          <a:xfrm>
            <a:off x="5600700" y="3975735"/>
            <a:ext cx="28346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t-EE" sz="1600" b="1" dirty="0">
                <a:solidFill>
                  <a:schemeClr val="bg1"/>
                </a:solidFill>
              </a:rPr>
              <a:t>Kristel Kuusik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Õppetunnid ja kokkuvõte</a:t>
            </a:r>
            <a:endParaRPr lang="en-US" sz="3000" dirty="0"/>
          </a:p>
        </p:txBody>
      </p:sp>
      <p:sp>
        <p:nvSpPr>
          <p:cNvPr id="3" name="Ajakiip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Aeg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2 min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/>
        </p:spPr>
      </p:sp>
      <p:sp>
        <p:nvSpPr>
          <p:cNvPr id="7" name="Shape 4"/>
          <p:cNvSpPr/>
          <p:nvPr/>
        </p:nvSpPr>
        <p:spPr>
          <a:xfrm>
            <a:off x="594360" y="1325880"/>
            <a:ext cx="237744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94360" y="1325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Läks hästi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196596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Avalike allikate kvaliteet on väga hea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Selge tähtskeem andmebaasis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3 kasutajarakendust otsustustoeks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264408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3401568" y="1325880"/>
            <a:ext cx="237744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401568" y="1325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Oli keeruline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447288" y="196596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2023. a registripõhine üleminek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Hiiumaa puuduvad kvartalid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Kolme palgatabeli ühtlustamine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071616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/>
        </p:spPr>
      </p:sp>
      <p:sp>
        <p:nvSpPr>
          <p:cNvPr id="15" name="Shape 12"/>
          <p:cNvSpPr/>
          <p:nvPr/>
        </p:nvSpPr>
        <p:spPr>
          <a:xfrm>
            <a:off x="6208776" y="1325880"/>
            <a:ext cx="237744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08776" y="1325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Järgmisel korral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254496" y="196596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Kontrolli allikate metoodikamuutusi kohe alguses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Automatiseeri andmete uuendamine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Jaga tööd ja ajakava varem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128016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800" b="1" dirty="0">
                <a:solidFill>
                  <a:schemeClr val="bg1"/>
                </a:solidFill>
              </a:rPr>
              <a:t>Kus töö asub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377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github.com/[kasutaja]/[repositoorium]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Aitäh! Küsimused?</a:t>
            </a:r>
            <a:endParaRPr lang="en-US" sz="3000" dirty="0"/>
          </a:p>
        </p:txBody>
      </p:sp>
      <p:sp>
        <p:nvSpPr>
          <p:cNvPr id="5" name="QR kohatäide"/>
          <p:cNvSpPr/>
          <p:nvPr/>
        </p:nvSpPr>
        <p:spPr>
          <a:xfrm>
            <a:off x="6675120" y="1371600"/>
            <a:ext cx="1920240" cy="1920240"/>
          </a:xfrm>
          <a:prstGeom prst="roundRect">
            <a:avLst>
              <a:gd name="adj" fmla="val 4762"/>
            </a:avLst>
          </a:prstGeom>
          <a:solidFill>
            <a:schemeClr val="bg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0" y="137160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accent5"/>
                </a:solidFill>
              </a:rPr>
              <a:t>QR-kood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lk vs kinnisvara">
  <a:themeElements>
    <a:clrScheme name="Palk vs kinnisvara">
      <a:dk1>
        <a:srgbClr val="14232B"/>
      </a:dk1>
      <a:lt1>
        <a:srgbClr val="FFFFFF"/>
      </a:lt1>
      <a:dk2>
        <a:srgbClr val="0B4F5C"/>
      </a:dk2>
      <a:lt2>
        <a:srgbClr val="EEF3F4"/>
      </a:lt2>
      <a:accent1>
        <a:srgbClr val="0B4F5C"/>
      </a:accent1>
      <a:accent2>
        <a:srgbClr val="E8A33D"/>
      </a:accent2>
      <a:accent3>
        <a:srgbClr val="2E8B8B"/>
      </a:accent3>
      <a:accent4>
        <a:srgbClr val="C4572B"/>
      </a:accent4>
      <a:accent5>
        <a:srgbClr val="6B7F86"/>
      </a:accent5>
      <a:accent6>
        <a:srgbClr val="A9C7CB"/>
      </a:accent6>
      <a:hlink>
        <a:srgbClr val="0B4F5C"/>
      </a:hlink>
      <a:folHlink>
        <a:srgbClr val="6B7F86"/>
      </a:folHlink>
    </a:clrScheme>
    <a:fontScheme name="Palk vs kinnisvar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681</Words>
  <Application>Microsoft Office PowerPoint</Application>
  <PresentationFormat>On-screen Show (16:9)</PresentationFormat>
  <Paragraphs>115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Palk vs kinnisvara</vt:lpstr>
      <vt:lpstr>Eesti Kinnisvaraturu ja Ostujõu Analüüs (2005-2026)</vt:lpstr>
      <vt:lpstr>Probleem ja eesmärk</vt:lpstr>
      <vt:lpstr>Andmevoog allikatest raportini</vt:lpstr>
      <vt:lpstr>Andmekvaliteedi väljakutsed</vt:lpstr>
      <vt:lpstr>Stsenaarium 1: kus on käärid?</vt:lpstr>
      <vt:lpstr>Stsenaarium 2: kus on ostujõud?</vt:lpstr>
      <vt:lpstr>Dokumentatsioon ja tiim</vt:lpstr>
      <vt:lpstr>Õppetunnid ja kokkuvõte</vt:lpstr>
      <vt:lpstr>Kus töö asub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Palk vs kinnisvara – grupitöö esitlus</dc:title>
  <dc:subject>PptxGenJS Presentation</dc:subject>
  <dc:creator>PptxGenJS</dc:creator>
  <cp:lastModifiedBy>Õpilane</cp:lastModifiedBy>
  <cp:revision>6</cp:revision>
  <dcterms:created xsi:type="dcterms:W3CDTF">2026-10-06T08:24:40Z</dcterms:created>
  <dcterms:modified xsi:type="dcterms:W3CDTF">2026-10-06T10:07:36Z</dcterms:modified>
</cp:coreProperties>
</file>