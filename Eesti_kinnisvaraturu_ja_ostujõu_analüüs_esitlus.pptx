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4" r:id="rId1"/>
  </p:sldMasterIdLst>
  <p:notesMasterIdLst>
    <p:notesMasterId r:id="rId10"/>
  </p:notesMasterIdLst>
  <p:sldIdLst>
    <p:sldId id="256" r:id="rId2"/>
    <p:sldId id="257" r:id="rId3"/>
    <p:sldId id="265" r:id="rId4"/>
    <p:sldId id="258" r:id="rId5"/>
    <p:sldId id="259" r:id="rId6"/>
    <p:sldId id="262" r:id="rId7"/>
    <p:sldId id="263" r:id="rId8"/>
    <p:sldId id="264" r:id="rId9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utvustus" id="{AE82099D-4C9A-615D-55CE-76F43C065774}">
          <p14:sldIdLst>
            <p14:sldId id="256"/>
            <p14:sldId id="257"/>
            <p14:sldId id="265"/>
          </p14:sldIdLst>
        </p14:section>
        <p14:section name="Andmevoog ja puhastus" id="{17FDB3FA-4C09-DCB6-A168-0578690AAFAD}">
          <p14:sldIdLst>
            <p14:sldId id="258"/>
            <p14:sldId id="259"/>
          </p14:sldIdLst>
        </p14:section>
        <p14:section name="Lahendus ja aruanne" id="{4EA0CA45-EA3C-13A1-EF8C-9E327BC38E20}">
          <p14:sldIdLst/>
        </p14:section>
        <p14:section name="Dokumentatsioon ja tiim" id="{12C37D27-26F4-1E52-AD9E-B740780AEE98}">
          <p14:sldIdLst>
            <p14:sldId id="262"/>
          </p14:sldIdLst>
        </p14:section>
        <p14:section name="Õppetunnid" id="{8D1982C2-BF9B-1D25-7140-BCEE22629F67}">
          <p14:sldIdLst>
            <p14:sldId id="263"/>
          </p14:sldIdLst>
        </p14:section>
        <p14:section name="Lõpetamine" id="{CDC629F9-1911-59B1-4A09-C7C9AE29A2AC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8" d="100"/>
          <a:sy n="138" d="100"/>
        </p:scale>
        <p:origin x="11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012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Tervitus, meeskonna tutvustus (nimed). Üks lause projekti kohta: võrdlesime palka, kinnisvara hindu, intressimäärasid ja inflatsiooni 15 Eesti maakonnas.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Kes me oleme ja mis probleemi lahendasime. Eesmärk: analüüsida palgakasvu, inflatsiooni ja finantstingimuste mõju elanike ostujõule kinnisvaraturul. Sihtrühm: eraisikud ja koduostjad, kes otsustavad maakonniti.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Andmed: Statistikaamet (palk, THI), Maa-amet (korterite m² hind ja tehingud), Eesti Pank (intressid). Python/Pandas laeb ja rikastab, PostgreSQL hoiab tähtskeemi, Power BI teeb raporti. Selgita loogikat, mitte koodi.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Suurim väljakutse: 2023. I kvartalis läks Statistikaamet valimipõhiselt uuringult registripõhisele (MTA TÖR ja TSD), mis tekitas kunstliku hinnahüppe. Lahendus: kolme palgatabeli (PA21, PA004, PA117) ühendamine Pythonis, duplikaatide eemaldamine ja nihke silumine üleminekukohtades. Hiiu maakonnas puudub 3 kvartali hind, sest tehinguid oli alla 5 (2009 IV, 2010 I, 2014 I) – jätsime NULL.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Näita kiirelt README-d ja koodikommentaare GitHubis. Siis üks lause iga liikme kohta: kes mille eest vastutas. Asenda kohatäited päris nimede ja rollidega.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Hästi / keeruline on võetud projekti dokumentatsioonist. Veerg „Järgmisel korral“ on ettepanek – kohanda see oma grupi päris kogemusega.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Näita GitHubi linki ja QR-koodi, täname kuulajaid, küsimused.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3159" y="514350"/>
            <a:ext cx="6000750" cy="2228851"/>
          </a:xfrm>
        </p:spPr>
        <p:txBody>
          <a:bodyPr anchor="b">
            <a:normAutofit/>
          </a:bodyPr>
          <a:lstStyle>
            <a:lvl1pPr algn="l">
              <a:defRPr sz="36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3159" y="2882900"/>
            <a:ext cx="4800600" cy="1460500"/>
          </a:xfrm>
        </p:spPr>
        <p:txBody>
          <a:bodyPr anchor="t">
            <a:normAutofit/>
          </a:bodyPr>
          <a:lstStyle>
            <a:lvl1pPr marL="0" indent="0" algn="l">
              <a:buNone/>
              <a:defRPr sz="1575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6EE87-EBD5-4F12-A48A-63ACA297AC8F}" type="datetimeFigureOut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6171009" y="6350"/>
            <a:ext cx="2857500" cy="28575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581128" y="68659"/>
            <a:ext cx="4560491" cy="45604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5426869" y="171450"/>
            <a:ext cx="3714750" cy="37147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5501878" y="24209"/>
            <a:ext cx="3639742" cy="363974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5884070" y="457201"/>
            <a:ext cx="3257549" cy="325754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08069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81531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1504950"/>
            <a:ext cx="6400801" cy="1711200"/>
          </a:xfrm>
        </p:spPr>
        <p:txBody>
          <a:bodyPr anchor="b">
            <a:normAutofit/>
          </a:bodyPr>
          <a:lstStyle>
            <a:lvl1pPr algn="l">
              <a:defRPr sz="27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371850"/>
            <a:ext cx="6400800" cy="11239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1015F-7CC6-4D0A-9D87-873EA4C304CC}" type="datetimeFigureOut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69388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3159" y="514351"/>
            <a:ext cx="3703241" cy="271145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6100" y="514351"/>
            <a:ext cx="3700859" cy="271145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10/6/2026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46977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061" y="514350"/>
            <a:ext cx="348734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3159" y="952897"/>
            <a:ext cx="3703241" cy="2272904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9299" y="514350"/>
            <a:ext cx="3498851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54909" y="946546"/>
            <a:ext cx="3696891" cy="2272904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10/6/2026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54690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52540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91E96-98B0-4413-9547-46F3504108EF}" type="datetimeFigureOut">
              <a:rPr lang="en-US" smtClean="0"/>
              <a:t>10/6/2026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55781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3759" y="514350"/>
            <a:ext cx="2743200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3159" y="514350"/>
            <a:ext cx="4457701" cy="398145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3759" y="1657350"/>
            <a:ext cx="2743200" cy="1568450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10/6/2026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38908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2109" y="1085850"/>
            <a:ext cx="4514850" cy="85725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1759" y="685800"/>
            <a:ext cx="2460731" cy="3429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42109" y="2082800"/>
            <a:ext cx="4516041" cy="1536700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66402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514350" y="400050"/>
            <a:ext cx="8114109" cy="234315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85801" y="2882900"/>
            <a:ext cx="6228158" cy="3429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200"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10/6/2026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29511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anchor="ctr">
            <a:normAutofit/>
          </a:bodyPr>
          <a:lstStyle>
            <a:lvl1pPr algn="l">
              <a:defRPr sz="24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086100"/>
            <a:ext cx="6401991" cy="140970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82354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514350"/>
            <a:ext cx="6858001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84659" y="2571750"/>
            <a:ext cx="6400800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225801"/>
            <a:ext cx="6400800" cy="1263649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47852615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2571750"/>
            <a:ext cx="6400800" cy="1273050"/>
          </a:xfrm>
        </p:spPr>
        <p:txBody>
          <a:bodyPr anchor="b">
            <a:normAutofit/>
          </a:bodyPr>
          <a:lstStyle>
            <a:lvl1pPr algn="l">
              <a:defRPr sz="24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8" y="3849736"/>
            <a:ext cx="6401993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470493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514350"/>
            <a:ext cx="6858000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0"/>
            <a:ext cx="6400801" cy="787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733800"/>
            <a:ext cx="6400801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08220632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1"/>
            <a:ext cx="6400800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575049"/>
            <a:ext cx="6400801" cy="9207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805811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276522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3909" y="514350"/>
            <a:ext cx="1543050" cy="3429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514350"/>
            <a:ext cx="5867400" cy="398145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3476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1280160"/>
            <a:ext cx="60350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800" dirty="0"/>
          </a:p>
        </p:txBody>
      </p:sp>
    </p:spTree>
    <p:extLst>
      <p:ext uri="{BB962C8B-B14F-4D97-AF65-F5344CB8AC3E}">
        <p14:creationId xmlns:p14="http://schemas.microsoft.com/office/powerpoint/2010/main" val="6094657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689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6905227" y="2222500"/>
            <a:ext cx="2236394" cy="2406650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3159" y="3365499"/>
            <a:ext cx="6400800" cy="11303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514351"/>
            <a:ext cx="6400800" cy="2711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8309" y="4629150"/>
            <a:ext cx="12001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90298CD5-6C1E-4009-B41F-6DF62E31D3BE}" type="datetimeFigureOut">
              <a:rPr lang="en-US" smtClean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3159" y="4629150"/>
            <a:ext cx="56578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72400" y="4183857"/>
            <a:ext cx="856684" cy="5024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4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65880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  <p:sldLayoutId id="2147483876" r:id="rId12"/>
    <p:sldLayoutId id="2147483877" r:id="rId13"/>
    <p:sldLayoutId id="2147483878" r:id="rId14"/>
    <p:sldLayoutId id="2147483879" r:id="rId15"/>
    <p:sldLayoutId id="2147483880" r:id="rId16"/>
    <p:sldLayoutId id="2147483881" r:id="rId17"/>
    <p:sldLayoutId id="2147483882" r:id="rId18"/>
    <p:sldLayoutId id="2147483883" r:id="rId19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27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5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3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2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hyperlink" Target="https://www.linkedin.com/in/kaidi-soiela-a32782159/" TargetMode="External"/><Relationship Id="rId7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9.xml"/><Relationship Id="rId6" Type="http://schemas.openxmlformats.org/officeDocument/2006/relationships/hyperlink" Target="https://www.linkedin.com/in/merje-n%C3%B5mmik-362948210/" TargetMode="External"/><Relationship Id="rId5" Type="http://schemas.openxmlformats.org/officeDocument/2006/relationships/hyperlink" Target="https://www.linkedin.com/in/kristel-kuusik-474a8514b/" TargetMode="External"/><Relationship Id="rId4" Type="http://schemas.openxmlformats.org/officeDocument/2006/relationships/hyperlink" Target="https://www.linkedin.com/in/siret-laaneoks-4b10b21a3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2"/>
          </p:nvPr>
        </p:nvSpPr>
        <p:spPr>
          <a:xfrm>
            <a:off x="548640" y="1280160"/>
            <a:ext cx="771906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t-EE" sz="3800" b="1" dirty="0">
                <a:solidFill>
                  <a:schemeClr val="bg1"/>
                </a:solidFill>
              </a:rPr>
              <a:t>Eesti Kinnisvaraturu ja Ostujõu Analüüs (2005-2026)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VALI IT andmeanalüüsi kursuse grupitöö  ·  [</a:t>
            </a:r>
            <a:r>
              <a:rPr lang="et-EE" sz="1400" dirty="0">
                <a:solidFill>
                  <a:schemeClr val="bg1"/>
                </a:solidFill>
              </a:rPr>
              <a:t>Kaidi Soiela, Siret Laaneoks, Merje Nõmmik, Kristel Kuusik</a:t>
            </a:r>
            <a:r>
              <a:rPr lang="en-US" sz="1400" dirty="0">
                <a:solidFill>
                  <a:schemeClr val="bg1"/>
                </a:solidFill>
              </a:rPr>
              <a:t>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Probleem ja eesmärk</a:t>
            </a:r>
            <a:endParaRPr lang="en-US" sz="30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6" name="Kaart Probleem"/>
          <p:cNvSpPr/>
          <p:nvPr/>
        </p:nvSpPr>
        <p:spPr>
          <a:xfrm>
            <a:off x="457200" y="1234440"/>
            <a:ext cx="484632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14859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14859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28016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Probleem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Kas keskmise palgaga töötaja jõuab kinnisvara hinnatõusuga sammu pidada?</a:t>
            </a:r>
            <a:endParaRPr lang="en-US" sz="1600" dirty="0"/>
          </a:p>
        </p:txBody>
      </p:sp>
      <p:sp>
        <p:nvSpPr>
          <p:cNvPr id="10" name="Kaart Hüpotees"/>
          <p:cNvSpPr/>
          <p:nvPr/>
        </p:nvSpPr>
        <p:spPr>
          <a:xfrm>
            <a:off x="457200" y="2331720"/>
            <a:ext cx="484632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640080" y="258318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25831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280160" y="237744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Hüpotees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Ostuvõime on inflatsiooni ja EURIBORi tõusu tõttu madalam kui eelmisel kümnendil.</a:t>
            </a:r>
            <a:endParaRPr lang="en-US" sz="1600" dirty="0"/>
          </a:p>
        </p:txBody>
      </p:sp>
      <p:sp>
        <p:nvSpPr>
          <p:cNvPr id="14" name="Kaart Sihtrühm ja väärtus"/>
          <p:cNvSpPr/>
          <p:nvPr/>
        </p:nvSpPr>
        <p:spPr>
          <a:xfrm>
            <a:off x="457200" y="3429000"/>
            <a:ext cx="484632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/>
        </p:spPr>
      </p:sp>
      <p:sp>
        <p:nvSpPr>
          <p:cNvPr id="15" name="Shape 12"/>
          <p:cNvSpPr/>
          <p:nvPr/>
        </p:nvSpPr>
        <p:spPr>
          <a:xfrm>
            <a:off x="640080" y="368046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0080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347472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Sihtrühm ja väärtus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Eraisikud ja koduostjad: kaalutletud otsus maakonniti.</a:t>
            </a:r>
            <a:endParaRPr lang="en-US" sz="1600" dirty="0"/>
          </a:p>
        </p:txBody>
      </p:sp>
      <p:sp>
        <p:nvSpPr>
          <p:cNvPr id="18" name="Statistika maakonda"/>
          <p:cNvSpPr/>
          <p:nvPr/>
        </p:nvSpPr>
        <p:spPr>
          <a:xfrm>
            <a:off x="5669280" y="1234440"/>
            <a:ext cx="1463040" cy="1508760"/>
          </a:xfrm>
          <a:prstGeom prst="roundRect">
            <a:avLst>
              <a:gd name="adj" fmla="val 6250"/>
            </a:avLst>
          </a:prstGeom>
          <a:solidFill>
            <a:schemeClr val="accent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669280" y="15087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0" y="2103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maakonda</a:t>
            </a:r>
            <a:endParaRPr lang="en-US" sz="1400" dirty="0"/>
          </a:p>
        </p:txBody>
      </p:sp>
      <p:sp>
        <p:nvSpPr>
          <p:cNvPr id="21" name="Statistika vaatlusperiood"/>
          <p:cNvSpPr/>
          <p:nvPr/>
        </p:nvSpPr>
        <p:spPr>
          <a:xfrm>
            <a:off x="7223760" y="1234440"/>
            <a:ext cx="1463040" cy="1508760"/>
          </a:xfrm>
          <a:prstGeom prst="roundRect">
            <a:avLst>
              <a:gd name="adj" fmla="val 6250"/>
            </a:avLst>
          </a:prstGeom>
          <a:solidFill>
            <a:schemeClr val="accent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223760" y="15087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2005–2026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7223760" y="2103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vaatlusperiood</a:t>
            </a:r>
            <a:endParaRPr lang="en-US" sz="1400" dirty="0"/>
          </a:p>
        </p:txBody>
      </p:sp>
      <p:sp>
        <p:nvSpPr>
          <p:cNvPr id="24" name="Statistika andmeallikat"/>
          <p:cNvSpPr/>
          <p:nvPr/>
        </p:nvSpPr>
        <p:spPr>
          <a:xfrm>
            <a:off x="5669280" y="2880360"/>
            <a:ext cx="1463040" cy="1508760"/>
          </a:xfrm>
          <a:prstGeom prst="roundRect">
            <a:avLst>
              <a:gd name="adj" fmla="val 6250"/>
            </a:avLst>
          </a:prstGeom>
          <a:solidFill>
            <a:schemeClr val="accent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66928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0" y="3749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andmeallikat</a:t>
            </a:r>
            <a:endParaRPr lang="en-US" sz="1400" dirty="0"/>
          </a:p>
        </p:txBody>
      </p:sp>
      <p:sp>
        <p:nvSpPr>
          <p:cNvPr id="27" name="Statistika kasutajarakendust"/>
          <p:cNvSpPr/>
          <p:nvPr/>
        </p:nvSpPr>
        <p:spPr>
          <a:xfrm>
            <a:off x="7223760" y="2880360"/>
            <a:ext cx="1463040" cy="1508760"/>
          </a:xfrm>
          <a:prstGeom prst="roundRect">
            <a:avLst>
              <a:gd name="adj" fmla="val 6250"/>
            </a:avLst>
          </a:prstGeom>
          <a:solidFill>
            <a:schemeClr val="accent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2376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29" name="Text 26"/>
          <p:cNvSpPr txBox="1"/>
          <p:nvPr/>
        </p:nvSpPr>
        <p:spPr>
          <a:xfrm>
            <a:off x="7223760" y="3749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</a:rPr>
              <a:t>kasutajarakendust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DFD50-047E-BC20-8C0A-749C14233B9E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t-EE" dirty="0"/>
              <a:t>Projekti tiim</a:t>
            </a:r>
          </a:p>
        </p:txBody>
      </p:sp>
      <p:pic>
        <p:nvPicPr>
          <p:cNvPr id="1026" name="Picture 2" descr="Profile image">
            <a:extLst>
              <a:ext uri="{FF2B5EF4-FFF2-40B4-BE49-F238E27FC236}">
                <a16:creationId xmlns:a16="http://schemas.microsoft.com/office/drawing/2014/main" id="{3B20104D-234E-5D4E-AB24-F8C14B91E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005840"/>
            <a:ext cx="1801041" cy="1801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20569C2-F1FE-2797-9332-120E09168D2C}"/>
              </a:ext>
            </a:extLst>
          </p:cNvPr>
          <p:cNvSpPr txBox="1"/>
          <p:nvPr/>
        </p:nvSpPr>
        <p:spPr>
          <a:xfrm>
            <a:off x="457201" y="2921027"/>
            <a:ext cx="180104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t-EE" b="1" i="0" dirty="0">
                <a:effectLst/>
                <a:latin typeface="system-ui"/>
              </a:rPr>
              <a:t>Kaidi Soiela</a:t>
            </a:r>
          </a:p>
          <a:p>
            <a:pPr algn="l" fontAlgn="base"/>
            <a:r>
              <a:rPr lang="en-US" sz="900" b="0" i="0" dirty="0">
                <a:effectLst/>
                <a:latin typeface="system-ui"/>
              </a:rPr>
              <a:t>Data Analyst | Power BI &amp; Alteryx Developer | SQL &amp; Python | Ex-PwC</a:t>
            </a:r>
            <a:endParaRPr lang="et-EE" sz="900" b="0" i="0" dirty="0">
              <a:effectLst/>
              <a:latin typeface="system-ui"/>
            </a:endParaRPr>
          </a:p>
          <a:p>
            <a:pPr algn="l" fontAlgn="base"/>
            <a:endParaRPr lang="et-EE" sz="900" dirty="0">
              <a:latin typeface="system-ui"/>
            </a:endParaRPr>
          </a:p>
          <a:p>
            <a:pPr algn="l" fontAlgn="base"/>
            <a:r>
              <a:rPr lang="et-EE" sz="900" dirty="0">
                <a:hlinkClick r:id="rId3"/>
              </a:rPr>
              <a:t>Kaidi Soiela | LinkedIn</a:t>
            </a:r>
            <a:endParaRPr lang="et-EE" sz="900" b="1" i="0" dirty="0">
              <a:effectLst/>
              <a:latin typeface="system-u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277688-E8D8-3EE8-5655-1D1D2271EE41}"/>
              </a:ext>
            </a:extLst>
          </p:cNvPr>
          <p:cNvSpPr txBox="1"/>
          <p:nvPr/>
        </p:nvSpPr>
        <p:spPr>
          <a:xfrm>
            <a:off x="2487386" y="2942099"/>
            <a:ext cx="180104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t-EE" b="1" i="0" dirty="0">
                <a:effectLst/>
                <a:latin typeface="system-ui"/>
              </a:rPr>
              <a:t>Siret Laaneoks</a:t>
            </a:r>
          </a:p>
          <a:p>
            <a:pPr algn="l" fontAlgn="base"/>
            <a:r>
              <a:rPr lang="en-US" sz="900" b="0" i="0" dirty="0">
                <a:effectLst/>
                <a:latin typeface="system-ui"/>
              </a:rPr>
              <a:t>Banking and Product Management Professional</a:t>
            </a:r>
            <a:endParaRPr lang="et-EE" sz="900" b="0" i="0" dirty="0">
              <a:effectLst/>
              <a:latin typeface="system-ui"/>
            </a:endParaRPr>
          </a:p>
          <a:p>
            <a:pPr algn="l" fontAlgn="base"/>
            <a:endParaRPr lang="et-EE" sz="900" dirty="0">
              <a:latin typeface="system-ui"/>
            </a:endParaRPr>
          </a:p>
          <a:p>
            <a:pPr algn="l" fontAlgn="base"/>
            <a:endParaRPr lang="et-EE" sz="900" dirty="0">
              <a:latin typeface="system-ui"/>
            </a:endParaRPr>
          </a:p>
          <a:p>
            <a:pPr algn="l" fontAlgn="base"/>
            <a:r>
              <a:rPr lang="et-EE" sz="900" dirty="0">
                <a:hlinkClick r:id="rId4"/>
              </a:rPr>
              <a:t>Siret Laaneoks | LinkedIn</a:t>
            </a:r>
            <a:endParaRPr lang="et-EE" sz="900" b="1" i="0" dirty="0">
              <a:effectLst/>
              <a:latin typeface="system-u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6C4D57-D5CA-294F-C2BA-7911F4551A72}"/>
              </a:ext>
            </a:extLst>
          </p:cNvPr>
          <p:cNvSpPr txBox="1"/>
          <p:nvPr/>
        </p:nvSpPr>
        <p:spPr>
          <a:xfrm>
            <a:off x="4229100" y="2963172"/>
            <a:ext cx="180104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t-EE" b="1" i="0" dirty="0">
                <a:effectLst/>
                <a:latin typeface="system-ui"/>
              </a:rPr>
              <a:t>Kristel Kuusik</a:t>
            </a:r>
          </a:p>
          <a:p>
            <a:pPr algn="l" fontAlgn="base"/>
            <a:r>
              <a:rPr lang="en-US" sz="900" b="0" i="0" dirty="0">
                <a:effectLst/>
                <a:latin typeface="system-ui"/>
              </a:rPr>
              <a:t>Aspiring Data Analyst | SQL, Power BI, Excel, SAP | Turning 5+ Years of Operations Data into Insights</a:t>
            </a:r>
            <a:endParaRPr lang="et-EE" sz="900" dirty="0">
              <a:latin typeface="system-ui"/>
            </a:endParaRPr>
          </a:p>
          <a:p>
            <a:pPr algn="l" fontAlgn="base"/>
            <a:r>
              <a:rPr lang="et-EE" sz="900" dirty="0">
                <a:hlinkClick r:id="rId5"/>
              </a:rPr>
              <a:t>Kristel Kuusik | LinkedIn</a:t>
            </a:r>
            <a:endParaRPr lang="et-EE" sz="900" b="1" i="0" dirty="0">
              <a:effectLst/>
              <a:latin typeface="system-u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57DACF-EA92-7E06-22F2-70A93C2FA98B}"/>
              </a:ext>
            </a:extLst>
          </p:cNvPr>
          <p:cNvSpPr txBox="1"/>
          <p:nvPr/>
        </p:nvSpPr>
        <p:spPr>
          <a:xfrm>
            <a:off x="6113419" y="2942099"/>
            <a:ext cx="180104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t-EE" b="1" i="0" dirty="0">
                <a:effectLst/>
                <a:latin typeface="system-ui"/>
              </a:rPr>
              <a:t>Merje Nõmmik</a:t>
            </a:r>
          </a:p>
          <a:p>
            <a:pPr algn="l" fontAlgn="base"/>
            <a:r>
              <a:rPr lang="et-EE" sz="900" b="0" i="0" dirty="0" err="1">
                <a:effectLst/>
                <a:latin typeface="system-ui"/>
              </a:rPr>
              <a:t>Data</a:t>
            </a:r>
            <a:r>
              <a:rPr lang="et-EE" sz="900" b="0" i="0" dirty="0">
                <a:effectLst/>
                <a:latin typeface="system-ui"/>
              </a:rPr>
              <a:t> &amp; Business </a:t>
            </a:r>
            <a:r>
              <a:rPr lang="et-EE" sz="900" b="0" i="0" dirty="0" err="1">
                <a:effectLst/>
                <a:latin typeface="system-ui"/>
              </a:rPr>
              <a:t>Intelligence</a:t>
            </a:r>
            <a:r>
              <a:rPr lang="et-EE" sz="900" b="0" i="0" dirty="0">
                <a:effectLst/>
                <a:latin typeface="system-ui"/>
              </a:rPr>
              <a:t> </a:t>
            </a:r>
            <a:r>
              <a:rPr lang="et-EE" sz="900" b="0" i="0" dirty="0" err="1">
                <a:effectLst/>
                <a:latin typeface="system-ui"/>
              </a:rPr>
              <a:t>Analyst</a:t>
            </a:r>
            <a:r>
              <a:rPr lang="et-EE" sz="900" b="0" i="0" dirty="0">
                <a:effectLst/>
                <a:latin typeface="system-ui"/>
              </a:rPr>
              <a:t> | Power BI · SQL · </a:t>
            </a:r>
            <a:r>
              <a:rPr lang="et-EE" sz="900" b="0" i="0" dirty="0" err="1">
                <a:effectLst/>
                <a:latin typeface="system-ui"/>
              </a:rPr>
              <a:t>Python</a:t>
            </a:r>
            <a:r>
              <a:rPr lang="et-EE" sz="900" b="0" i="0" dirty="0">
                <a:effectLst/>
                <a:latin typeface="system-ui"/>
              </a:rPr>
              <a:t> | </a:t>
            </a:r>
            <a:r>
              <a:rPr lang="et-EE" sz="900" b="0" i="0" dirty="0" err="1">
                <a:effectLst/>
                <a:latin typeface="system-ui"/>
              </a:rPr>
              <a:t>Customer</a:t>
            </a:r>
            <a:r>
              <a:rPr lang="et-EE" sz="900" b="0" i="0" dirty="0">
                <a:effectLst/>
                <a:latin typeface="system-ui"/>
              </a:rPr>
              <a:t> </a:t>
            </a:r>
            <a:r>
              <a:rPr lang="et-EE" sz="900" b="0" i="0" dirty="0" err="1">
                <a:effectLst/>
                <a:latin typeface="system-ui"/>
              </a:rPr>
              <a:t>Experience</a:t>
            </a:r>
            <a:r>
              <a:rPr lang="et-EE" sz="900" b="0" i="0" dirty="0">
                <a:effectLst/>
                <a:latin typeface="system-ui"/>
              </a:rPr>
              <a:t> &amp; </a:t>
            </a:r>
            <a:r>
              <a:rPr lang="et-EE" sz="900" b="0" i="0" dirty="0" err="1">
                <a:effectLst/>
                <a:latin typeface="system-ui"/>
              </a:rPr>
              <a:t>Operations</a:t>
            </a:r>
            <a:r>
              <a:rPr lang="et-EE" sz="900" b="0" i="0" dirty="0">
                <a:effectLst/>
                <a:latin typeface="system-ui"/>
              </a:rPr>
              <a:t> |</a:t>
            </a:r>
            <a:endParaRPr lang="et-EE" sz="900" dirty="0">
              <a:latin typeface="system-ui"/>
            </a:endParaRPr>
          </a:p>
          <a:p>
            <a:pPr algn="l" fontAlgn="base"/>
            <a:r>
              <a:rPr lang="et-EE" sz="900" dirty="0">
                <a:hlinkClick r:id="rId6"/>
              </a:rPr>
              <a:t>Merje Nõmmik | LinkedIn</a:t>
            </a:r>
            <a:endParaRPr lang="et-EE" sz="900" b="1" i="0" dirty="0">
              <a:effectLst/>
              <a:latin typeface="system-ui"/>
            </a:endParaRPr>
          </a:p>
        </p:txBody>
      </p:sp>
      <p:pic>
        <p:nvPicPr>
          <p:cNvPr id="1032" name="Picture 8" descr="Profile image">
            <a:extLst>
              <a:ext uri="{FF2B5EF4-FFF2-40B4-BE49-F238E27FC236}">
                <a16:creationId xmlns:a16="http://schemas.microsoft.com/office/drawing/2014/main" id="{706DFF08-EE88-A495-75AA-06942E520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059" y="1005839"/>
            <a:ext cx="1801041" cy="1801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Profile image">
            <a:extLst>
              <a:ext uri="{FF2B5EF4-FFF2-40B4-BE49-F238E27FC236}">
                <a16:creationId xmlns:a16="http://schemas.microsoft.com/office/drawing/2014/main" id="{32CE22B2-0C84-A921-7B9F-A2E4D489C0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8426" y="1005159"/>
            <a:ext cx="1801041" cy="1801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1299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Andmevoog allikatest raportini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6" name="Arhitektuuri plokkskeem" descr="Andmevoo plokkskeem: allikad, Python/Pandas, PostgreSQL, Power B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5669280" cy="283189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114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Kolm avalikku allikat → üks andmebaas → üks raport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6400800" y="123444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11887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Kogu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CSV-failid kolmest avalikust allikast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400800" y="2057400"/>
            <a:ext cx="411480" cy="4114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201168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Puhasta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Python ühtlustab ja liidab tabelid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6400800" y="288036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0080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949440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Modelleeri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PostgreSQL tähtskeem andmemudelina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6400800" y="370332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40080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949440" y="365760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t-EE" sz="1600" b="1" dirty="0">
                <a:solidFill>
                  <a:schemeClr val="tx2"/>
                </a:solidFill>
              </a:rPr>
              <a:t>Visualiseeri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Power BI aruanded ja 3 äppi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Andmekvaliteedi väljakutsed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6" name="Kaart Registripõhine üleminek (2023)"/>
          <p:cNvSpPr/>
          <p:nvPr/>
        </p:nvSpPr>
        <p:spPr>
          <a:xfrm>
            <a:off x="457200" y="1188720"/>
            <a:ext cx="46634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23444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Registripõhine üleminek (2023)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Kunstlik hinnahüpe; silutud üleminekukohtades</a:t>
            </a:r>
            <a:endParaRPr lang="en-US" sz="1600" dirty="0"/>
          </a:p>
        </p:txBody>
      </p:sp>
      <p:sp>
        <p:nvSpPr>
          <p:cNvPr id="10" name="Kaart Puuduvad väärtused"/>
          <p:cNvSpPr/>
          <p:nvPr/>
        </p:nvSpPr>
        <p:spPr>
          <a:xfrm>
            <a:off x="457200" y="2331720"/>
            <a:ext cx="46634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?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280160" y="237744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Puuduvad väärtused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Hiiumaa: 3 kvartalit alla 5 tehingu, jäetud NULL</a:t>
            </a:r>
            <a:endParaRPr lang="en-US" sz="1600" dirty="0"/>
          </a:p>
        </p:txBody>
      </p:sp>
      <p:sp>
        <p:nvSpPr>
          <p:cNvPr id="14" name="Kaart Kolm palgatabelit, duplikaadid"/>
          <p:cNvSpPr/>
          <p:nvPr/>
        </p:nvSpPr>
        <p:spPr>
          <a:xfrm>
            <a:off x="457200" y="3474720"/>
            <a:ext cx="46634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5" name="Shape 12"/>
          <p:cNvSpPr/>
          <p:nvPr/>
        </p:nvSpPr>
        <p:spPr>
          <a:xfrm>
            <a:off x="640080" y="3749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00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2×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352044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Kolm palgatabelit, duplikaadid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PA21, PA004 ja PA117 liidetud, duplikaadid eemaldatud</a:t>
            </a:r>
            <a:endParaRPr lang="en-US" sz="1600" dirty="0"/>
          </a:p>
        </p:txBody>
      </p:sp>
      <p:pic>
        <p:nvPicPr>
          <p:cNvPr id="18" name="Tähtskeem" descr="PostgreSQL tähtske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188720"/>
            <a:ext cx="3200400" cy="2388413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486400" y="3840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Tähtskeem: 4 faktitabelit, 2 dimensiooni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Dokumentatsioon ja tiim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45720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Dokumenteeritud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57200" y="1645920"/>
            <a:ext cx="40233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16459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README  </a:t>
            </a:r>
            <a:r>
              <a:rPr lang="en-US" sz="1400" dirty="0">
                <a:solidFill>
                  <a:schemeClr val="tx1"/>
                </a:solidFill>
              </a:rPr>
              <a:t>Projekti kirjeldus ja kasutusjuhend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77440"/>
            <a:ext cx="40233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23774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Andmemudel  </a:t>
            </a:r>
            <a:r>
              <a:rPr lang="en-US" sz="1400" dirty="0">
                <a:solidFill>
                  <a:schemeClr val="tx1"/>
                </a:solidFill>
              </a:rPr>
              <a:t>Tabelite ja veergude kirjeldus (SQL tähtskeem)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57200" y="3108960"/>
            <a:ext cx="40233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31089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chemeClr val="tx2"/>
                </a:solidFill>
              </a:rPr>
              <a:t>Nime</a:t>
            </a:r>
            <a:r>
              <a:rPr lang="et-EE" sz="1600" b="1" dirty="0">
                <a:solidFill>
                  <a:schemeClr val="tx2"/>
                </a:solidFill>
              </a:rPr>
              <a:t> </a:t>
            </a:r>
            <a:r>
              <a:rPr lang="en-US" sz="1600" b="1" dirty="0" err="1">
                <a:solidFill>
                  <a:schemeClr val="tx2"/>
                </a:solidFill>
              </a:rPr>
              <a:t>reeglid</a:t>
            </a:r>
            <a:r>
              <a:rPr lang="en-US" sz="1600" b="1" dirty="0">
                <a:solidFill>
                  <a:schemeClr val="tx2"/>
                </a:solidFill>
              </a:rPr>
              <a:t>  </a:t>
            </a:r>
            <a:r>
              <a:rPr lang="en-US" sz="1400" dirty="0">
                <a:solidFill>
                  <a:schemeClr val="tx1"/>
                </a:solidFill>
              </a:rPr>
              <a:t>_raw ja _py_final failid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840480"/>
            <a:ext cx="40233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38404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Kommentaarid  </a:t>
            </a:r>
            <a:r>
              <a:rPr lang="en-US" sz="1400" dirty="0" err="1">
                <a:solidFill>
                  <a:schemeClr val="tx1"/>
                </a:solidFill>
              </a:rPr>
              <a:t>Selgitused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Pythoni</a:t>
            </a:r>
            <a:r>
              <a:rPr lang="et-EE" sz="1400" dirty="0">
                <a:solidFill>
                  <a:schemeClr val="tx1"/>
                </a:solidFill>
              </a:rPr>
              <a:t>, Power BI</a:t>
            </a:r>
            <a:r>
              <a:rPr lang="en-US" sz="1400" dirty="0">
                <a:solidFill>
                  <a:schemeClr val="tx1"/>
                </a:solidFill>
              </a:rPr>
              <a:t> ja SQL koodis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Kes mille eest vastutas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846320" y="1645920"/>
            <a:ext cx="3840480" cy="5638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/>
        </p:spPr>
      </p:sp>
      <p:sp>
        <p:nvSpPr>
          <p:cNvPr id="17" name="Shape 14"/>
          <p:cNvSpPr/>
          <p:nvPr/>
        </p:nvSpPr>
        <p:spPr>
          <a:xfrm>
            <a:off x="5006340" y="16840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715000" y="1645920"/>
            <a:ext cx="283464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t-EE" sz="1600" b="1" dirty="0">
                <a:solidFill>
                  <a:schemeClr val="bg1"/>
                </a:solidFill>
              </a:rPr>
              <a:t>Kaidi Soiela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846320" y="2331720"/>
            <a:ext cx="3840480" cy="5638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/>
        </p:spPr>
      </p:sp>
      <p:sp>
        <p:nvSpPr>
          <p:cNvPr id="20" name="Shape 17"/>
          <p:cNvSpPr/>
          <p:nvPr/>
        </p:nvSpPr>
        <p:spPr>
          <a:xfrm>
            <a:off x="5000625" y="234600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657850" y="2346960"/>
            <a:ext cx="27203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t-EE" sz="1600" b="1" dirty="0">
                <a:solidFill>
                  <a:schemeClr val="bg1"/>
                </a:solidFill>
              </a:rPr>
              <a:t>Merje Nõmmik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4831080" y="3120390"/>
            <a:ext cx="3840480" cy="52959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/>
        </p:spPr>
      </p:sp>
      <p:sp>
        <p:nvSpPr>
          <p:cNvPr id="23" name="Shape 20"/>
          <p:cNvSpPr/>
          <p:nvPr/>
        </p:nvSpPr>
        <p:spPr>
          <a:xfrm>
            <a:off x="4983480" y="31394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600700" y="3175635"/>
            <a:ext cx="28346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t-EE" sz="1600" b="1" dirty="0">
                <a:solidFill>
                  <a:schemeClr val="bg1"/>
                </a:solidFill>
              </a:rPr>
              <a:t>Siret Laaneoks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20CCA7B2-C1C1-2B6E-7672-84A95FC003A3}"/>
              </a:ext>
            </a:extLst>
          </p:cNvPr>
          <p:cNvSpPr/>
          <p:nvPr/>
        </p:nvSpPr>
        <p:spPr>
          <a:xfrm>
            <a:off x="4846320" y="3861435"/>
            <a:ext cx="3840480" cy="5638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/>
        </p:spPr>
      </p:sp>
      <p:sp>
        <p:nvSpPr>
          <p:cNvPr id="27" name="Shape 17">
            <a:extLst>
              <a:ext uri="{FF2B5EF4-FFF2-40B4-BE49-F238E27FC236}">
                <a16:creationId xmlns:a16="http://schemas.microsoft.com/office/drawing/2014/main" id="{E5183D93-871B-4589-B3A1-27247BF79791}"/>
              </a:ext>
            </a:extLst>
          </p:cNvPr>
          <p:cNvSpPr/>
          <p:nvPr/>
        </p:nvSpPr>
        <p:spPr>
          <a:xfrm>
            <a:off x="4983480" y="3914775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8003AF74-467C-C648-B180-8D291F9FBF1B}"/>
              </a:ext>
            </a:extLst>
          </p:cNvPr>
          <p:cNvSpPr txBox="1"/>
          <p:nvPr/>
        </p:nvSpPr>
        <p:spPr>
          <a:xfrm>
            <a:off x="5600700" y="3975735"/>
            <a:ext cx="28346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t-EE" sz="1600" b="1" dirty="0">
                <a:solidFill>
                  <a:schemeClr val="bg1"/>
                </a:solidFill>
              </a:rPr>
              <a:t>Kristel Kuusik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Õppetunnid ja kokkuvõte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3" name="Ajakiip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Aeg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2 min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/>
        </p:spPr>
      </p:sp>
      <p:sp>
        <p:nvSpPr>
          <p:cNvPr id="7" name="Shape 4"/>
          <p:cNvSpPr/>
          <p:nvPr/>
        </p:nvSpPr>
        <p:spPr>
          <a:xfrm>
            <a:off x="594360" y="1325880"/>
            <a:ext cx="237744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9436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Läks hästi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96596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Avalike allikate kvaliteet on väga hea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Selge tähtskeem andmebaasis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 kasutajarakendust otsustustoeks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64408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401568" y="1325880"/>
            <a:ext cx="237744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401568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Oli keeruline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447288" y="196596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2023. a registripõhine üleminek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Hiiumaa puuduvad kvartalid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Kolme palgatabeli ühtlustamine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071616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/>
        </p:spPr>
      </p:sp>
      <p:sp>
        <p:nvSpPr>
          <p:cNvPr id="15" name="Shape 12"/>
          <p:cNvSpPr/>
          <p:nvPr/>
        </p:nvSpPr>
        <p:spPr>
          <a:xfrm>
            <a:off x="6208776" y="1325880"/>
            <a:ext cx="237744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08776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Järgmisel korral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54496" y="196596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Kontrolli allikate metoodikamuutusi kohe alguses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Automatiseeri andmete uuendamine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Jaga tööd ja ajakava varem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2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bg1"/>
                </a:solidFill>
              </a:rPr>
              <a:t>Kus töö asub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77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github.com/[kasutaja]/[repositoorium]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Aitäh! Küsimused?</a:t>
            </a:r>
            <a:endParaRPr lang="en-US" sz="3000" dirty="0"/>
          </a:p>
        </p:txBody>
      </p:sp>
      <p:sp>
        <p:nvSpPr>
          <p:cNvPr id="5" name="QR kohatäide"/>
          <p:cNvSpPr/>
          <p:nvPr/>
        </p:nvSpPr>
        <p:spPr>
          <a:xfrm>
            <a:off x="6675120" y="1371600"/>
            <a:ext cx="1920240" cy="1920240"/>
          </a:xfrm>
          <a:prstGeom prst="roundRect">
            <a:avLst>
              <a:gd name="adj" fmla="val 4762"/>
            </a:avLst>
          </a:prstGeom>
          <a:solidFill>
            <a:schemeClr val="bg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0" y="137160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accent5"/>
                </a:solidFill>
              </a:rPr>
              <a:t>QR-kood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48</TotalTime>
  <Words>600</Words>
  <Application>Microsoft Office PowerPoint</Application>
  <PresentationFormat>On-screen Show (16:9)</PresentationFormat>
  <Paragraphs>109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Cambria</vt:lpstr>
      <vt:lpstr>Century Gothic</vt:lpstr>
      <vt:lpstr>system-ui</vt:lpstr>
      <vt:lpstr>Wingdings 3</vt:lpstr>
      <vt:lpstr>Slice</vt:lpstr>
      <vt:lpstr>Eesti Kinnisvaraturu ja Ostujõu Analüüs (2005-2026)</vt:lpstr>
      <vt:lpstr>Probleem ja eesmärk</vt:lpstr>
      <vt:lpstr>Projekti tiim</vt:lpstr>
      <vt:lpstr>Andmevoog allikatest raportini</vt:lpstr>
      <vt:lpstr>Andmekvaliteedi väljakutsed</vt:lpstr>
      <vt:lpstr>Dokumentatsioon ja tiim</vt:lpstr>
      <vt:lpstr>Õppetunnid ja kokkuvõte</vt:lpstr>
      <vt:lpstr>Kus töö asub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Palk vs kinnisvara – grupitöö esitlus</dc:title>
  <dc:subject>PptxGenJS Presentation</dc:subject>
  <dc:creator>PptxGenJS</dc:creator>
  <cp:lastModifiedBy>Õpilane</cp:lastModifiedBy>
  <cp:revision>11</cp:revision>
  <dcterms:created xsi:type="dcterms:W3CDTF">2026-10-06T08:24:40Z</dcterms:created>
  <dcterms:modified xsi:type="dcterms:W3CDTF">2026-10-06T11:36:21Z</dcterms:modified>
</cp:coreProperties>
</file>