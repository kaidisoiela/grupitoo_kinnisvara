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93" r:id="rId1"/>
  </p:sldMasterIdLst>
  <p:notesMasterIdLst>
    <p:notesMasterId r:id="rId11"/>
  </p:notesMasterIdLst>
  <p:handoutMasterIdLst>
    <p:handoutMasterId r:id="rId12"/>
  </p:handoutMasterIdLst>
  <p:sldIdLst>
    <p:sldId id="266" r:id="rId2"/>
    <p:sldId id="281" r:id="rId3"/>
    <p:sldId id="271" r:id="rId4"/>
    <p:sldId id="274" r:id="rId5"/>
    <p:sldId id="275" r:id="rId6"/>
    <p:sldId id="276" r:id="rId7"/>
    <p:sldId id="277" r:id="rId8"/>
    <p:sldId id="280" r:id="rId9"/>
    <p:sldId id="284" r:id="rId10"/>
  </p:sldIdLst>
  <p:sldSz cx="18288000" cy="10287000"/>
  <p:notesSz cx="6858000" cy="9144000"/>
  <p:embeddedFontLst>
    <p:embeddedFont>
      <p:font typeface="Agrandir" panose="020B0604020202020204" charset="0"/>
      <p:regular r:id="rId13"/>
    </p:embeddedFont>
    <p:embeddedFont>
      <p:font typeface="Cambria" panose="02040503050406030204" pitchFamily="18" charset="0"/>
      <p:regular r:id="rId14"/>
      <p:bold r:id="rId15"/>
      <p:italic r:id="rId16"/>
      <p:boldItalic r:id="rId17"/>
    </p:embeddedFont>
    <p:embeddedFont>
      <p:font typeface="Maragsa" panose="020B0604020202020204" charset="0"/>
      <p:regular r:id="rId18"/>
    </p:embeddedFont>
    <p:embeddedFont>
      <p:font typeface="Neue Haas Grotesk Text Pro" panose="020B0504020202020204" pitchFamily="34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118F9CB-4A1F-E1EB-94CE-685196558FE1}" name="Merje Nõmmik" initials="MN" userId="1a4da45743c8171d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9" d="100"/>
          <a:sy n="69" d="100"/>
        </p:scale>
        <p:origin x="114" y="12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312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font" Target="fonts/font5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se kohatäide 1">
            <a:extLst>
              <a:ext uri="{FF2B5EF4-FFF2-40B4-BE49-F238E27FC236}">
                <a16:creationId xmlns:a16="http://schemas.microsoft.com/office/drawing/2014/main" id="{3D9E5BFD-96AE-77AA-BDA0-556649505A1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3" name="Kuupäeva kohatäide 2">
            <a:extLst>
              <a:ext uri="{FF2B5EF4-FFF2-40B4-BE49-F238E27FC236}">
                <a16:creationId xmlns:a16="http://schemas.microsoft.com/office/drawing/2014/main" id="{CB3F4A88-6007-7570-7832-8395DF91DAD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4E3B54-E8B8-4D2F-9093-C38B63E1A623}" type="datetimeFigureOut">
              <a:rPr lang="et-EE" smtClean="0"/>
              <a:t>08.10.2026</a:t>
            </a:fld>
            <a:endParaRPr lang="et-EE"/>
          </a:p>
        </p:txBody>
      </p:sp>
      <p:sp>
        <p:nvSpPr>
          <p:cNvPr id="4" name="Jaluse kohatäide 3">
            <a:extLst>
              <a:ext uri="{FF2B5EF4-FFF2-40B4-BE49-F238E27FC236}">
                <a16:creationId xmlns:a16="http://schemas.microsoft.com/office/drawing/2014/main" id="{2FF6B8C7-B735-CF0D-9289-1F76F78964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5" name="Slaidinumbri kohatäide 4">
            <a:extLst>
              <a:ext uri="{FF2B5EF4-FFF2-40B4-BE49-F238E27FC236}">
                <a16:creationId xmlns:a16="http://schemas.microsoft.com/office/drawing/2014/main" id="{38E1BECA-BAE2-7714-C0B0-C54211EB65A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2F7207-227E-4C7F-8BB8-68E93838C6DE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1148346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se kohatäid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3" name="Kuupäeva kohatäid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35B479-238C-4084-A020-7C85E92EBEF7}" type="datetimeFigureOut">
              <a:rPr lang="et-EE" smtClean="0"/>
              <a:t>08.10.2026</a:t>
            </a:fld>
            <a:endParaRPr lang="et-EE"/>
          </a:p>
        </p:txBody>
      </p:sp>
      <p:sp>
        <p:nvSpPr>
          <p:cNvPr id="4" name="Slaidi pildi kohatä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t-EE"/>
          </a:p>
        </p:txBody>
      </p:sp>
      <p:sp>
        <p:nvSpPr>
          <p:cNvPr id="5" name="Märkmete kohatäid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</a:p>
        </p:txBody>
      </p:sp>
      <p:sp>
        <p:nvSpPr>
          <p:cNvPr id="6" name="Jaluse kohatäid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7" name="Slaidinumbri kohatä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8B6E92-D574-4550-BB5A-57FD519D230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21467762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Tutvustus: projekt uurib, kas kinnisvara põgeneb tavainimese eest kiiremini, kui sissetulekud tõusevad. Periood 2005–2026, 15 maakonda.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Täida nimed, rollid, fotod ja LinkedIni lingid. Foto lisamiseks: paremklõps raamil → Vorminda kuju → Täide → Pilt.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F0C6C-32AF-33FF-36E7-5094ADBED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A6E88D-A983-B4B8-1AC2-2EFD43BC2F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746D28-08F2-7C76-75EE-BEC62F59EE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Kolm põhisõnumit: eesmärk, fookus ja tööriistad.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F36B8-2957-543B-F8D5-3C9654E3E1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7866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Kuus põhimõistet, mida analüüsis kasutatakse.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Kõik andmed on avalikud, alla laetud csv-failidena; seisuga september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Allikad → Python → PostgreSQL → Power BI.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Kvaliteet, transformeerimine ja </a:t>
            </a:r>
            <a:r>
              <a:rPr lang="en-US" dirty="0" err="1"/>
              <a:t>rikastamine</a:t>
            </a:r>
            <a:r>
              <a:rPr lang="en-US" dirty="0"/>
              <a:t>.</a:t>
            </a:r>
            <a:r>
              <a:rPr lang="et-E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Metoodiline piirang: üleminek 2023. aasta I kvartalis: Statistikaamet läks valimipõhiselt uuringult üle registripõhisele (MTA TÖR ja TSD). Registripõhine süsteem hõlmab ka mikroettevõtteid, mistõttu tekib andmetes kunstlik „hinnahüpe“. Lahendus: Pythonis liidetakse kolm palgatabelit – PA21 (2005–2017), PA004 (2018–2020) ja PA117 (2021–2026).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t-EE" dirty="0"/>
              <a:t>Galaktika. </a:t>
            </a:r>
            <a:r>
              <a:rPr lang="en-US" dirty="0"/>
              <a:t>Neli faktitabelit/dimensiooni ümber ajadimensiooni: Aeg ja Maakond (dimensioonid), Kinnisvara, Palk, Intressid ja Tarbijahinnaindeks (faktid). PK = põhivõti, FK = võõrvõti.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i pildi kohatä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ärkmete kohatäid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aidinumbri kohatä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8B6E92-D574-4550-BB5A-57FD519D2309}" type="slidenum">
              <a:rPr lang="et-EE" smtClean="0"/>
              <a:t>9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239522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79867CD-CD09-0EEC-D165-96584688B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444" y="96011"/>
            <a:ext cx="18022824" cy="7680959"/>
          </a:xfrm>
        </p:spPr>
        <p:txBody>
          <a:bodyPr>
            <a:normAutofit/>
          </a:bodyPr>
          <a:lstStyle>
            <a:lvl1pPr>
              <a:defRPr sz="16500" cap="all" baseline="0"/>
            </a:lvl1pPr>
          </a:lstStyle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65D245-B564-481D-A323-F73C5BCA8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32204" y="8041317"/>
            <a:ext cx="15055596" cy="850392"/>
          </a:xfrm>
        </p:spPr>
        <p:txBody>
          <a:bodyPr anchor="b" anchorCtr="0">
            <a:normAutofit/>
          </a:bodyPr>
          <a:lstStyle>
            <a:lvl1pPr marL="0" indent="0" algn="r">
              <a:lnSpc>
                <a:spcPct val="100000"/>
              </a:lnSpc>
              <a:buNone/>
              <a:defRPr sz="30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t-EE"/>
              <a:t>Klõpsake juhteksemplari alapealkirja laadi redigeerimiseks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1422A5-3076-413B-84CB-ED3BA4171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072EE-51B3-4C0C-A460-4684AB079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267C68-40D5-477E-9DBC-C28FD4B11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1F8589-B640-4540-D0AD-2B0461CD3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7081708" y="8624891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626864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s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EE2F5-9D3C-4BE7-9AD5-335B31CF2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2204" y="1635369"/>
            <a:ext cx="16260939" cy="1185765"/>
          </a:xfrm>
        </p:spPr>
        <p:txBody>
          <a:bodyPr/>
          <a:lstStyle/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98C4F-4BF6-47CF-ABEE-2B12748C4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2203" y="2821134"/>
            <a:ext cx="16260941" cy="6837216"/>
          </a:xfrm>
        </p:spPr>
        <p:txBody>
          <a:bodyPr/>
          <a:lstStyle/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1AB30-CD74-471D-9FA6-ADC0C901E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39070-70D2-4DD1-A439-155343FE2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A137C4-F19E-4521-8DCB-4E0CF9CA3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D144482-F463-E942-01AE-69DF54F417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880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5494549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1771" y="7014266"/>
            <a:ext cx="16253459" cy="1979265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8100" dirty="0"/>
            </a:lvl1pPr>
          </a:lstStyle>
          <a:p>
            <a:pPr lvl="0"/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31771" y="9097701"/>
            <a:ext cx="16253459" cy="560649"/>
          </a:xfrm>
        </p:spPr>
        <p:txBody>
          <a:bodyPr vert="horz" lIns="91440" tIns="45720" rIns="91440" bIns="45720" rtlCol="0" anchor="b">
            <a:noAutofit/>
          </a:bodyPr>
          <a:lstStyle>
            <a:lvl1pPr marL="0" indent="0">
              <a:spcBef>
                <a:spcPts val="0"/>
              </a:spcBef>
              <a:buNone/>
              <a:defRPr lang="en-US" sz="3000" dirty="0"/>
            </a:lvl1pPr>
          </a:lstStyle>
          <a:p>
            <a:pPr lvl="0"/>
            <a:r>
              <a:rPr lang="et-EE"/>
              <a:t>Klõpsake juhteksemplari alapealkirja laadi redigeerimiseks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2"/>
            <a:ext cx="18287999" cy="670174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7765164-0D02-5316-1845-119CB0111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8572500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FA2081-8ED6-0719-D0B6-2818D601933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51F47A-9B8B-A343-2C56-110E21331A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259CCC4-FA9E-2074-3142-5EBA62F91B2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89562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769585" y="2117038"/>
            <a:ext cx="5604015" cy="4268351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5400" dirty="0"/>
            </a:lvl1pPr>
          </a:lstStyle>
          <a:p>
            <a:pPr lvl="0"/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69583" y="6604559"/>
            <a:ext cx="5594873" cy="168468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2400" dirty="0"/>
            </a:lvl1pPr>
          </a:lstStyle>
          <a:p>
            <a:pPr lvl="0"/>
            <a:r>
              <a:rPr lang="et-EE"/>
              <a:t>Klõpsake juhteksemplari alapealkirja laadi redigeerimiseks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11426678" cy="102870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DF8C2BF2-38FB-0598-A4BE-DD111229A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769583" y="9658350"/>
            <a:ext cx="2571452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18" name="Date Placeholder 4">
            <a:extLst>
              <a:ext uri="{FF2B5EF4-FFF2-40B4-BE49-F238E27FC236}">
                <a16:creationId xmlns:a16="http://schemas.microsoft.com/office/drawing/2014/main" id="{5A41BBAF-5441-8512-B575-2EB961DD485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4476344" y="9658350"/>
            <a:ext cx="1297056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89401810-4A83-D1CF-00A6-76F622C71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785646" y="9658350"/>
            <a:ext cx="902154" cy="628650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75580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aotise päi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61A7175-8061-E7CC-68E4-2B3CECB6CC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32204" y="1635367"/>
            <a:ext cx="15055596" cy="7738886"/>
          </a:xfrm>
        </p:spPr>
        <p:txBody>
          <a:bodyPr>
            <a:normAutofit/>
          </a:bodyPr>
          <a:lstStyle>
            <a:lvl1pPr>
              <a:defRPr sz="1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094542-CAEF-4D6C-BE6A-BC100F059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08851-4DCC-447C-828A-5F7E66F76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8BDE40-8468-4051-9703-B751608AA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6A5A591-C2D3-D6A3-432F-2C1371951C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8802"/>
            <a:ext cx="1206293" cy="0"/>
          </a:xfrm>
          <a:prstGeom prst="line">
            <a:avLst/>
          </a:prstGeom>
          <a:ln w="1206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3107073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B916BDA-9E36-8180-7EBC-AC2A35C79F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36410" y="1633054"/>
            <a:ext cx="12718608" cy="209333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92AF672E-4752-50B9-9301-C8042FD003C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645046" y="3726383"/>
            <a:ext cx="12701337" cy="5309271"/>
          </a:xfrm>
        </p:spPr>
        <p:txBody>
          <a:bodyPr>
            <a:normAutofit/>
          </a:bodyPr>
          <a:lstStyle>
            <a:lvl1pPr marL="685800" indent="-685800">
              <a:lnSpc>
                <a:spcPct val="100000"/>
              </a:lnSpc>
              <a:buFont typeface="+mj-lt"/>
              <a:buAutoNum type="arabicPeriod"/>
              <a:defRPr sz="3000"/>
            </a:lvl1pPr>
            <a:lvl2pPr marL="1028700" indent="-685800">
              <a:lnSpc>
                <a:spcPct val="100000"/>
              </a:lnSpc>
              <a:buFont typeface="+mj-lt"/>
              <a:buAutoNum type="arabicPeriod"/>
              <a:defRPr sz="3000"/>
            </a:lvl2pPr>
            <a:lvl3pPr marL="1200150" indent="-514350">
              <a:lnSpc>
                <a:spcPct val="100000"/>
              </a:lnSpc>
              <a:buFont typeface="+mj-lt"/>
              <a:buAutoNum type="arabicPeriod"/>
              <a:defRPr sz="3000"/>
            </a:lvl3pPr>
            <a:lvl4pPr marL="1543050" indent="-514350">
              <a:lnSpc>
                <a:spcPct val="100000"/>
              </a:lnSpc>
              <a:buFont typeface="+mj-lt"/>
              <a:buAutoNum type="arabicPeriod"/>
              <a:defRPr sz="3000"/>
            </a:lvl4pPr>
            <a:lvl5pPr marL="1885950" indent="-514350">
              <a:lnSpc>
                <a:spcPct val="100000"/>
              </a:lnSpc>
              <a:buFont typeface="+mj-lt"/>
              <a:buAutoNum type="arabicPeriod"/>
              <a:defRPr sz="3000"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65070F-FB67-7572-2807-986A25537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8258694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32204" y="1632204"/>
            <a:ext cx="8624088" cy="2331720"/>
          </a:xfrm>
        </p:spPr>
        <p:txBody>
          <a:bodyPr anchor="t" anchorCtr="0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632204" y="3977640"/>
            <a:ext cx="8624088" cy="5541264"/>
          </a:xfrm>
        </p:spPr>
        <p:txBody>
          <a:bodyPr>
            <a:normAutofit/>
          </a:bodyPr>
          <a:lstStyle>
            <a:lvl1pPr marL="514350" indent="-514350">
              <a:lnSpc>
                <a:spcPct val="100000"/>
              </a:lnSpc>
              <a:buFont typeface="System Font Regular"/>
              <a:buChar char="-"/>
              <a:defRPr sz="3000"/>
            </a:lvl1pPr>
            <a:lvl2pPr>
              <a:lnSpc>
                <a:spcPct val="100000"/>
              </a:lnSpc>
              <a:defRPr sz="3000"/>
            </a:lvl2pPr>
            <a:lvl3pPr>
              <a:lnSpc>
                <a:spcPct val="100000"/>
              </a:lnSpc>
              <a:defRPr sz="3000"/>
            </a:lvl3pPr>
            <a:lvl4pPr>
              <a:lnSpc>
                <a:spcPct val="100000"/>
              </a:lnSpc>
              <a:defRPr sz="3000"/>
            </a:lvl4pPr>
            <a:lvl5pPr>
              <a:lnSpc>
                <a:spcPct val="100000"/>
              </a:lnSpc>
              <a:defRPr sz="3000"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36410" y="9658350"/>
            <a:ext cx="5873106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09516" y="9658350"/>
            <a:ext cx="1689180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98696" y="9658350"/>
            <a:ext cx="1057596" cy="628650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E4B52E79-E470-1B1A-EADF-94DA7253B32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972800" y="0"/>
            <a:ext cx="7315200" cy="10287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C1AE97-7274-F222-2135-C3524958A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8263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515" y="1672284"/>
            <a:ext cx="5885183" cy="612537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41919" y="1672935"/>
            <a:ext cx="8714570" cy="7756815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2400"/>
            </a:lvl1pPr>
            <a:lvl2pPr>
              <a:lnSpc>
                <a:spcPct val="100000"/>
              </a:lnSpc>
              <a:defRPr sz="2400"/>
            </a:lvl2pPr>
            <a:lvl3pPr>
              <a:lnSpc>
                <a:spcPct val="100000"/>
              </a:lnSpc>
              <a:defRPr sz="2400"/>
            </a:lvl3pPr>
            <a:lvl4pPr>
              <a:lnSpc>
                <a:spcPct val="100000"/>
              </a:lnSpc>
              <a:defRPr sz="2400"/>
            </a:lvl4pPr>
            <a:lvl5pPr>
              <a:lnSpc>
                <a:spcPct val="100000"/>
              </a:lnSpc>
              <a:defRPr sz="2400"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954F329-E63B-9F25-4E06-2E98A6453D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316106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5552" y="1671983"/>
            <a:ext cx="4156989" cy="5513328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01799" y="1693718"/>
            <a:ext cx="11691347" cy="7736033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2400"/>
            </a:lvl1pPr>
            <a:lvl2pPr>
              <a:lnSpc>
                <a:spcPct val="100000"/>
              </a:lnSpc>
              <a:defRPr sz="2400"/>
            </a:lvl2pPr>
            <a:lvl3pPr>
              <a:lnSpc>
                <a:spcPct val="100000"/>
              </a:lnSpc>
              <a:defRPr sz="2400"/>
            </a:lvl3pPr>
            <a:lvl4pPr>
              <a:lnSpc>
                <a:spcPct val="100000"/>
              </a:lnSpc>
              <a:defRPr sz="2400"/>
            </a:lvl4pPr>
            <a:lvl5pPr>
              <a:lnSpc>
                <a:spcPct val="100000"/>
              </a:lnSpc>
              <a:defRPr sz="2400"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547F2C9-46DC-B902-E883-CE0360E6D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431691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8682" y="1666652"/>
            <a:ext cx="9509118" cy="1714500"/>
          </a:xfrm>
        </p:spPr>
        <p:txBody>
          <a:bodyPr anchor="t"/>
          <a:lstStyle/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FB7CB50-241E-E6B6-1C0E-1B5466B1477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8289" y="0"/>
            <a:ext cx="6759878" cy="10287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A1C94DDD-A7D7-1407-F63C-F296AB45422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7178681" y="3604331"/>
            <a:ext cx="9509121" cy="5825421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2400"/>
            </a:lvl1pPr>
            <a:lvl2pPr>
              <a:lnSpc>
                <a:spcPct val="100000"/>
              </a:lnSpc>
              <a:defRPr sz="2400"/>
            </a:lvl2pPr>
            <a:lvl3pPr>
              <a:lnSpc>
                <a:spcPct val="100000"/>
              </a:lnSpc>
              <a:defRPr sz="2400"/>
            </a:lvl3pPr>
            <a:lvl4pPr>
              <a:lnSpc>
                <a:spcPct val="100000"/>
              </a:lnSpc>
              <a:defRPr sz="2400"/>
            </a:lvl4pPr>
            <a:lvl5pPr>
              <a:lnSpc>
                <a:spcPct val="100000"/>
              </a:lnSpc>
              <a:defRPr sz="2400"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63871FB-7459-8C2E-BA80-AD31AE855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7063420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04282-04A3-1CE1-50A4-AF83D0D40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178682" y="9658350"/>
            <a:ext cx="7162353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4">
            <a:extLst>
              <a:ext uri="{FF2B5EF4-FFF2-40B4-BE49-F238E27FC236}">
                <a16:creationId xmlns:a16="http://schemas.microsoft.com/office/drawing/2014/main" id="{CA12AEFE-D7DE-804A-807C-704D5B34E130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4476344" y="9658350"/>
            <a:ext cx="1297056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9C293909-C7AB-A707-F48B-6007FE725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785646" y="9658350"/>
            <a:ext cx="902154" cy="628650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76329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5487" y="1668156"/>
            <a:ext cx="10982423" cy="1399032"/>
          </a:xfrm>
        </p:spPr>
        <p:txBody>
          <a:bodyPr anchor="t"/>
          <a:lstStyle/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5189CF27-6D02-DB0D-F5D1-1535F1479166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1" y="0"/>
            <a:ext cx="5289659" cy="10287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6373ED08-D584-FD0F-C5B0-EF4E07A0D89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664113" y="3280887"/>
            <a:ext cx="11023689" cy="6148863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2400"/>
            </a:lvl1pPr>
            <a:lvl2pPr>
              <a:lnSpc>
                <a:spcPct val="100000"/>
              </a:lnSpc>
              <a:defRPr sz="2400"/>
            </a:lvl2pPr>
            <a:lvl3pPr>
              <a:lnSpc>
                <a:spcPct val="100000"/>
              </a:lnSpc>
              <a:defRPr sz="2400"/>
            </a:lvl3pPr>
            <a:lvl4pPr>
              <a:lnSpc>
                <a:spcPct val="100000"/>
              </a:lnSpc>
              <a:defRPr sz="2400"/>
            </a:lvl4pPr>
            <a:lvl5pPr>
              <a:lnSpc>
                <a:spcPct val="100000"/>
              </a:lnSpc>
              <a:defRPr sz="2400"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906524-8E7E-05A8-4F9E-A2C39750A3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7063420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56971-28FA-FA33-0A85-0B851EA7A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664114" y="9658350"/>
            <a:ext cx="8676921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4">
            <a:extLst>
              <a:ext uri="{FF2B5EF4-FFF2-40B4-BE49-F238E27FC236}">
                <a16:creationId xmlns:a16="http://schemas.microsoft.com/office/drawing/2014/main" id="{F04B437D-29C2-D3ED-BEFA-E1F868B0FB5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4476344" y="9658350"/>
            <a:ext cx="1297056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70EB108D-6128-5356-6097-7D1D10551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785646" y="9658350"/>
            <a:ext cx="902154" cy="628650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744516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0091" y="1668156"/>
            <a:ext cx="11015346" cy="1399032"/>
          </a:xfrm>
        </p:spPr>
        <p:txBody>
          <a:bodyPr anchor="t"/>
          <a:lstStyle/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640090" y="3280887"/>
            <a:ext cx="11015348" cy="6148863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2400"/>
            </a:lvl1pPr>
            <a:lvl2pPr>
              <a:lnSpc>
                <a:spcPct val="100000"/>
              </a:lnSpc>
              <a:defRPr sz="2400"/>
            </a:lvl2pPr>
            <a:lvl3pPr>
              <a:lnSpc>
                <a:spcPct val="100000"/>
              </a:lnSpc>
              <a:defRPr sz="2400"/>
            </a:lvl3pPr>
            <a:lvl4pPr>
              <a:lnSpc>
                <a:spcPct val="100000"/>
              </a:lnSpc>
              <a:defRPr sz="2400"/>
            </a:lvl4pPr>
            <a:lvl5pPr>
              <a:lnSpc>
                <a:spcPct val="100000"/>
              </a:lnSpc>
              <a:defRPr sz="2400"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D039FC6-F740-7D02-FD07-5B1B076DCE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666571-786A-B2D2-4FC3-C22E71C24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40091" y="9658350"/>
            <a:ext cx="8668581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A324A0C0-9CB0-6208-0780-67E3C7F2C02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443981" y="9658350"/>
            <a:ext cx="1297056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F7421E2-5EEC-7791-DBEE-600FF5170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53283" y="9658350"/>
            <a:ext cx="902154" cy="628650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61964118-5CFA-FFA8-E19F-A107D63DDC0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998339" y="0"/>
            <a:ext cx="5289659" cy="10287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48394879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2100" y="1673605"/>
            <a:ext cx="7107875" cy="1932254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632288" y="3828186"/>
            <a:ext cx="7107675" cy="5601564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84581EB-7A5A-925D-6E20-5C04A0EAA2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84EA123-AEAB-8F33-C22D-31F9F11A9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32100" y="9658350"/>
            <a:ext cx="4761098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Date Placeholder 4">
            <a:extLst>
              <a:ext uri="{FF2B5EF4-FFF2-40B4-BE49-F238E27FC236}">
                <a16:creationId xmlns:a16="http://schemas.microsoft.com/office/drawing/2014/main" id="{AA2FCA56-AA13-81B1-1707-7A5D7557B5F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528507" y="9658350"/>
            <a:ext cx="1297056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358A8E3-C7AA-9216-35FD-FE8205982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37809" y="9658350"/>
            <a:ext cx="902154" cy="628650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144000" y="0"/>
            <a:ext cx="9144000" cy="10287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4108778632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7595" y="1666652"/>
            <a:ext cx="5720768" cy="2240795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647596" y="4051007"/>
            <a:ext cx="5720769" cy="5378745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6A796DD-1556-39E2-B5E4-90C1C2459D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713B13-BCC2-B853-769C-4BC6A57D7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47593" y="9658350"/>
            <a:ext cx="3374003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A9915D6C-CE56-12D3-C15C-C56B3EFEAFE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156906" y="9658350"/>
            <a:ext cx="1297056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C3F576B-887C-7B84-0990-9143EA6C6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66208" y="9658350"/>
            <a:ext cx="902154" cy="628650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88348" y="0"/>
            <a:ext cx="10499652" cy="10287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355677178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175ACA1F-D859-596B-9F50-F1E9A2654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1841311" y="1668647"/>
            <a:ext cx="4846490" cy="2788412"/>
          </a:xfrm>
        </p:spPr>
        <p:txBody>
          <a:bodyPr anchor="t"/>
          <a:lstStyle/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2A43D9F3-C10E-5B48-BB59-16A8600BD36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8289" y="0"/>
            <a:ext cx="11222666" cy="10287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2E10F120-2F5B-B2FD-DB40-683E6176C3D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1851920" y="4699883"/>
            <a:ext cx="4835880" cy="398437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  <a:lvl2pPr marL="342900" indent="0">
              <a:lnSpc>
                <a:spcPct val="100000"/>
              </a:lnSpc>
              <a:buNone/>
              <a:defRPr lang="en-US" dirty="0"/>
            </a:lvl2pPr>
            <a:lvl3pPr marL="685800" indent="0">
              <a:lnSpc>
                <a:spcPct val="100000"/>
              </a:lnSpc>
              <a:buNone/>
              <a:defRPr lang="en-US" dirty="0"/>
            </a:lvl3pPr>
            <a:lvl4pPr marL="1028700" indent="0">
              <a:lnSpc>
                <a:spcPct val="100000"/>
              </a:lnSpc>
              <a:buNone/>
              <a:defRPr lang="en-US" dirty="0"/>
            </a:lvl4pPr>
            <a:lvl5pPr marL="1371600" indent="0">
              <a:lnSpc>
                <a:spcPct val="100000"/>
              </a:lnSpc>
              <a:buNone/>
              <a:defRPr lang="en-US" dirty="0"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9A12B08-97E1-66BD-9B69-377E285127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7063420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EACEEC7-E0DC-ABF5-188B-5636A17BD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841311" y="9658350"/>
            <a:ext cx="2499723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8" name="Date Placeholder 4">
            <a:extLst>
              <a:ext uri="{FF2B5EF4-FFF2-40B4-BE49-F238E27FC236}">
                <a16:creationId xmlns:a16="http://schemas.microsoft.com/office/drawing/2014/main" id="{D0A24C6D-468E-EAE9-2363-772EA5E51DD0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4476344" y="9658350"/>
            <a:ext cx="1297056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4C85811-EF51-7552-5F12-17748D280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785646" y="9658350"/>
            <a:ext cx="902154" cy="628650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596113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2986" y="5981704"/>
            <a:ext cx="4567431" cy="3464678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2" y="1"/>
            <a:ext cx="18288000" cy="516499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83903" y="5981704"/>
            <a:ext cx="11190044" cy="3464678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  <a:lvl2pPr marL="342900" indent="0">
              <a:lnSpc>
                <a:spcPct val="100000"/>
              </a:lnSpc>
              <a:buNone/>
              <a:defRPr lang="en-US" dirty="0"/>
            </a:lvl2pPr>
            <a:lvl3pPr marL="685800" indent="0">
              <a:lnSpc>
                <a:spcPct val="100000"/>
              </a:lnSpc>
              <a:buNone/>
              <a:defRPr lang="en-US" dirty="0"/>
            </a:lvl3pPr>
            <a:lvl4pPr marL="1028700" indent="0">
              <a:lnSpc>
                <a:spcPct val="100000"/>
              </a:lnSpc>
              <a:buNone/>
              <a:defRPr lang="en-US" dirty="0"/>
            </a:lvl4pPr>
            <a:lvl5pPr marL="1371600" indent="0">
              <a:lnSpc>
                <a:spcPct val="100000"/>
              </a:lnSpc>
              <a:buNone/>
              <a:defRPr lang="en-US" dirty="0"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C699AE1-DA01-C4DA-C5BE-8DD9BE13F6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6172638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73F0BC-3C5E-8E58-AFDC-804E1C1C761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6E5C888-EE74-5D59-47AA-40A53F60011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794CA46-7ABA-FF39-20BD-C83B4F6D957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23958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85BA164-9326-7934-95DF-A6AAB3F42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6410" y="1681485"/>
            <a:ext cx="15715980" cy="1453896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" y="3429012"/>
            <a:ext cx="9144000" cy="6857988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037618" y="3429012"/>
            <a:ext cx="7314773" cy="6000738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B0BF8A-7D94-1C82-F661-F1B7A93A43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88C72B-1D4E-3882-C750-7F965F6E7BC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0037617" y="9658350"/>
            <a:ext cx="4438727" cy="628650"/>
          </a:xfrm>
        </p:spPr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14FA71-0863-B2C8-8E42-C0A1F133DC69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D6C2E8-E8FC-5DC8-863C-CF7823CD4AE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27980"/>
      </p:ext>
    </p:extLst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243CE06-05E5-2B64-1E1C-8F81B788D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6411" y="1683301"/>
            <a:ext cx="5545289" cy="2257736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9ADE1102-BF4C-FC7C-22F6-B8453DE3B19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771651" y="4260272"/>
            <a:ext cx="5410049" cy="516947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6C8ACD7F-7B34-5741-6323-6829CFDA10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70510" y="1683302"/>
            <a:ext cx="9903437" cy="77464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1322A97-1C32-A52E-951B-60B114B307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570212"/>
      </p:ext>
    </p:extLst>
  </p:cSld>
  <p:clrMapOvr>
    <a:masterClrMapping/>
  </p:clrMapOvr>
  <p:hf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99AD5248-C0E5-8356-EB8F-904EDDA5F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70956" y="7135790"/>
            <a:ext cx="9716844" cy="1689831"/>
          </a:xfrm>
        </p:spPr>
        <p:txBody>
          <a:bodyPr anchor="b">
            <a:normAutofit/>
          </a:bodyPr>
          <a:lstStyle>
            <a:lvl1pPr algn="r">
              <a:defRPr sz="3000" b="0" cap="none" baseline="0">
                <a:solidFill>
                  <a:schemeClr val="bg1"/>
                </a:solidFill>
              </a:defRPr>
            </a:lvl1pPr>
          </a:lstStyle>
          <a:p>
            <a:r>
              <a:rPr lang="et-EE"/>
              <a:t>Klõpsake juhteksemplari pealkirja laadi redigeerimiseks</a:t>
            </a:r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A5F5F1C4-3BA4-0163-6A5F-9D95D58C7EA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3444" y="96012"/>
            <a:ext cx="18041112" cy="6900888"/>
          </a:xfrm>
        </p:spPr>
        <p:txBody>
          <a:bodyPr>
            <a:noAutofit/>
          </a:bodyPr>
          <a:lstStyle>
            <a:lvl1pPr>
              <a:lnSpc>
                <a:spcPct val="85000"/>
              </a:lnSpc>
              <a:defRPr sz="465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A84DB20-94E7-1E79-B65B-67C6158DB1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7081708" y="8572500"/>
            <a:ext cx="1206293" cy="0"/>
          </a:xfrm>
          <a:prstGeom prst="line">
            <a:avLst/>
          </a:prstGeom>
          <a:ln w="1206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744451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8972" y="-1929392"/>
            <a:ext cx="15979140" cy="170078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t-EE"/>
              <a:t>Klõpsake juhteksemplari pealkirja laadi redigeerimiseks</a:t>
            </a:r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32204" y="1558643"/>
            <a:ext cx="14127480" cy="7605102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9000" b="1"/>
            </a:lvl1pPr>
            <a:lvl2pPr marL="342900" indent="0">
              <a:lnSpc>
                <a:spcPct val="90000"/>
              </a:lnSpc>
              <a:buNone/>
              <a:defRPr sz="9000" b="1"/>
            </a:lvl2pPr>
            <a:lvl3pPr marL="685800" indent="0">
              <a:lnSpc>
                <a:spcPct val="90000"/>
              </a:lnSpc>
              <a:buNone/>
              <a:defRPr sz="9000" b="1"/>
            </a:lvl3pPr>
            <a:lvl4pPr marL="1028700" indent="0">
              <a:lnSpc>
                <a:spcPct val="90000"/>
              </a:lnSpc>
              <a:buNone/>
              <a:defRPr sz="9000" b="1"/>
            </a:lvl4pPr>
            <a:lvl5pPr marL="1371600" indent="0">
              <a:lnSpc>
                <a:spcPct val="90000"/>
              </a:lnSpc>
              <a:buNone/>
              <a:defRPr sz="90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7F2505C-CAED-34DC-7CD1-C57ADBBF98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8011593"/>
      </p:ext>
    </p:extLst>
  </p:cSld>
  <p:clrMapOvr>
    <a:masterClrMapping/>
  </p:clrMapOvr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9">
            <a:extLst>
              <a:ext uri="{FF2B5EF4-FFF2-40B4-BE49-F238E27FC236}">
                <a16:creationId xmlns:a16="http://schemas.microsoft.com/office/drawing/2014/main" id="{873E5EF9-EDC5-CB2D-000A-85BB4DB582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00200" y="8127541"/>
            <a:ext cx="15087600" cy="699518"/>
          </a:xfrm>
        </p:spPr>
        <p:txBody>
          <a:bodyPr anchor="b">
            <a:normAutofit/>
          </a:bodyPr>
          <a:lstStyle>
            <a:lvl1pPr algn="r">
              <a:lnSpc>
                <a:spcPct val="100000"/>
              </a:lnSpc>
              <a:defRPr sz="3000" b="0" cap="none" baseline="0"/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5D1FFC6-C597-BE81-1790-A08954F44C4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2875" y="95250"/>
            <a:ext cx="17966532" cy="7620000"/>
          </a:xfrm>
        </p:spPr>
        <p:txBody>
          <a:bodyPr>
            <a:normAutofit/>
          </a:bodyPr>
          <a:lstStyle>
            <a:lvl1pPr>
              <a:lnSpc>
                <a:spcPct val="85000"/>
              </a:lnSpc>
              <a:defRPr sz="12000" b="1" cap="all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2949BEA-90AC-BE5F-28A7-80D65BD19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7081708" y="8572938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137442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Kaks sis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BF7AE-3892-4896-8C15-7A35A41EF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2204" y="1678698"/>
            <a:ext cx="14835099" cy="1806890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D9A26-86F1-4817-B243-4DE63B4F18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23278" y="3660852"/>
            <a:ext cx="7262258" cy="5701926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54BF9B-EA16-48C8-96B9-7A66051BE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58300" y="3660853"/>
            <a:ext cx="7209003" cy="5701925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29E05-3F6C-40BF-9324-118588B6C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6E2D9F-1FCE-4A1C-996E-DB05777A8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9BE013-C5C0-4CBD-982E-36F037F73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B20CA7A-449A-6AC2-BFC5-17AF5007E7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5658863"/>
      </p:ext>
    </p:extLst>
  </p:cSld>
  <p:clrMapOvr>
    <a:masterClrMapping/>
  </p:clrMapOvr>
  <p:hf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õrdl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ED885-5FE5-4407-BE4D-FAD01C40A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6411" y="1672994"/>
            <a:ext cx="14924183" cy="1258284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322A77-C134-4857-83E5-51217D3C29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38133" y="2884785"/>
            <a:ext cx="7224713" cy="1258284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700" b="1" cap="all" spc="150" baseline="0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t-EE"/>
              <a:t>Klõpsake juhteksemplari tekstilaadide redigeerimiseks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10AFC6-F407-4F35-BD37-B32F9B4036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323224" y="2884785"/>
            <a:ext cx="7237370" cy="1258284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700" b="1" cap="all" spc="150" baseline="0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t-EE"/>
              <a:t>Klõpsake juhteksemplari tekstilaadide redigeerimiseks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4ECBFE-C62C-471B-BFE4-1272EAC347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638133" y="4238687"/>
            <a:ext cx="7224713" cy="504580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8D60D5-0F83-46CB-92F3-849FC08E6E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323224" y="4238687"/>
            <a:ext cx="7237370" cy="504580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40A80D-4CCB-4899-9E1D-A5967F4E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5AE694-5CA0-48DA-90D3-EC42BD1D8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753A9D-469A-4ED9-99A1-7E4B115F8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DA35A86-E7F6-6593-119D-A6DC85581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5633373"/>
      </p:ext>
    </p:extLst>
  </p:cSld>
  <p:clrMapOvr>
    <a:masterClrMapping/>
  </p:clrMapOvr>
  <p:hf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inult pealkir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7C91E-0A11-4E5D-9B8D-5316E73A2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2204" y="1656150"/>
            <a:ext cx="14884146" cy="1941342"/>
          </a:xfrm>
        </p:spPr>
        <p:txBody>
          <a:bodyPr>
            <a:normAutofit/>
          </a:bodyPr>
          <a:lstStyle>
            <a:lvl1pPr>
              <a:defRPr sz="5400" cap="none" baseline="0"/>
            </a:lvl1pPr>
          </a:lstStyle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E36922-9A4C-453D-9B70-0C3A70281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B8A8D1-71AD-4F9F-B393-9EED83FEF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5AAEF2-65DC-4E28-9AA4-5115ACB07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8CF7AFD-0570-B046-A2C2-3EFA87354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883412"/>
      </p:ext>
    </p:extLst>
  </p:cSld>
  <p:clrMapOvr>
    <a:masterClrMapping/>
  </p:clrMapOvr>
  <p:hf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459378-C430-49DB-B2D6-E32FBBCD4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F5A02-0FC4-41C8-A13C-4C929B288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B9D57D-CB8E-4E67-AE2D-2790E2AA6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457559"/>
      </p:ext>
    </p:extLst>
  </p:cSld>
  <p:clrMapOvr>
    <a:masterClrMapping/>
  </p:clrMapOvr>
  <p:hf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2204" y="1632203"/>
            <a:ext cx="15941742" cy="3126827"/>
          </a:xfrm>
        </p:spPr>
        <p:txBody>
          <a:bodyPr anchor="t" anchorCtr="0">
            <a:noAutofit/>
          </a:bodyPr>
          <a:lstStyle>
            <a:lvl1pPr>
              <a:defRPr sz="9000" cap="all" baseline="0">
                <a:solidFill>
                  <a:schemeClr val="tx1"/>
                </a:solidFill>
              </a:defRPr>
            </a:lvl1pPr>
          </a:lstStyle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419A5DD2-B3B3-D9BF-1A71-B20742D142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632202" y="4914900"/>
            <a:ext cx="15941744" cy="474345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1pPr>
            <a:lvl2pPr marL="3429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2pPr>
            <a:lvl3pPr marL="6858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3pPr>
            <a:lvl4pPr marL="10287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4pPr>
            <a:lvl5pPr marL="13716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DCA1022-3377-EB7D-8261-EDD841636B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7796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2205" y="1632204"/>
            <a:ext cx="12646151" cy="2763030"/>
          </a:xfrm>
        </p:spPr>
        <p:txBody>
          <a:bodyPr anchor="t" anchorCtr="0">
            <a:noAutofit/>
          </a:bodyPr>
          <a:lstStyle>
            <a:lvl1pPr>
              <a:defRPr sz="9000" cap="all" baseline="0">
                <a:solidFill>
                  <a:schemeClr val="tx1"/>
                </a:solidFill>
              </a:defRPr>
            </a:lvl1pPr>
          </a:lstStyle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C06F55DC-E754-4B2B-C0AE-962C82565D0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615820" y="6370038"/>
            <a:ext cx="12645959" cy="241201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3000">
                <a:solidFill>
                  <a:schemeClr val="tx1"/>
                </a:solidFill>
              </a:defRPr>
            </a:lvl1pPr>
            <a:lvl2pPr marL="342900" indent="0">
              <a:lnSpc>
                <a:spcPct val="100000"/>
              </a:lnSpc>
              <a:buNone/>
              <a:defRPr sz="3000">
                <a:solidFill>
                  <a:schemeClr val="tx1"/>
                </a:solidFill>
              </a:defRPr>
            </a:lvl2pPr>
            <a:lvl3pPr marL="685800" indent="0">
              <a:lnSpc>
                <a:spcPct val="100000"/>
              </a:lnSpc>
              <a:buNone/>
              <a:defRPr sz="3000">
                <a:solidFill>
                  <a:schemeClr val="tx1"/>
                </a:solidFill>
              </a:defRPr>
            </a:lvl3pPr>
            <a:lvl4pPr marL="1028700" indent="0">
              <a:lnSpc>
                <a:spcPct val="100000"/>
              </a:lnSpc>
              <a:buNone/>
              <a:defRPr sz="3000">
                <a:solidFill>
                  <a:schemeClr val="tx1"/>
                </a:solidFill>
              </a:defRPr>
            </a:lvl4pPr>
            <a:lvl5pPr marL="1371600" indent="0">
              <a:lnSpc>
                <a:spcPct val="100000"/>
              </a:lnSpc>
              <a:buNone/>
              <a:defRPr sz="3000">
                <a:solidFill>
                  <a:schemeClr val="tx1"/>
                </a:solidFill>
              </a:defRPr>
            </a:lvl5pPr>
          </a:lstStyle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C829929-F774-AF4E-F1BE-2DA3C43D0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" y="1809192"/>
            <a:ext cx="1206293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33036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UM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596360" y="9601200"/>
            <a:ext cx="822960" cy="4114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500">
                <a:solidFill>
                  <a:srgbClr val="6B64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7892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SISU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596360" y="9601200"/>
            <a:ext cx="822960" cy="4114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500">
                <a:solidFill>
                  <a:srgbClr val="6B64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48970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handatud paigu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alkiri 1">
            <a:extLst>
              <a:ext uri="{FF2B5EF4-FFF2-40B4-BE49-F238E27FC236}">
                <a16:creationId xmlns:a16="http://schemas.microsoft.com/office/drawing/2014/main" id="{6BD68F48-0569-CB67-607E-044A82266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t-EE"/>
              <a:t>Klõpsake juhteksemplari pealkirja laadi redigeerimiseks</a:t>
            </a:r>
          </a:p>
        </p:txBody>
      </p:sp>
      <p:sp>
        <p:nvSpPr>
          <p:cNvPr id="3" name="Kuupäeva kohatäide 2">
            <a:extLst>
              <a:ext uri="{FF2B5EF4-FFF2-40B4-BE49-F238E27FC236}">
                <a16:creationId xmlns:a16="http://schemas.microsoft.com/office/drawing/2014/main" id="{6231F5FB-31C4-A33B-982D-A21DB4EFC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Jaluse kohatäide 3">
            <a:extLst>
              <a:ext uri="{FF2B5EF4-FFF2-40B4-BE49-F238E27FC236}">
                <a16:creationId xmlns:a16="http://schemas.microsoft.com/office/drawing/2014/main" id="{B2DFFB76-5E67-F5FF-36E9-C39149A1A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aidinumbri kohatäide 4">
            <a:extLst>
              <a:ext uri="{FF2B5EF4-FFF2-40B4-BE49-F238E27FC236}">
                <a16:creationId xmlns:a16="http://schemas.microsoft.com/office/drawing/2014/main" id="{FB159357-E11F-A211-6212-0B6B3E6D9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Pildi kohatäide 6">
            <a:extLst>
              <a:ext uri="{FF2B5EF4-FFF2-40B4-BE49-F238E27FC236}">
                <a16:creationId xmlns:a16="http://schemas.microsoft.com/office/drawing/2014/main" id="{1F5AB400-A7E7-7D29-AD92-FA9CA3AE7F3B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914400" y="3009900"/>
            <a:ext cx="3276600" cy="2743200"/>
          </a:xfr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/>
          <a:lstStyle/>
          <a:p>
            <a:endParaRPr lang="et-EE"/>
          </a:p>
        </p:txBody>
      </p:sp>
      <p:sp>
        <p:nvSpPr>
          <p:cNvPr id="8" name="Ristkülik: ümarnurkne 7">
            <a:extLst>
              <a:ext uri="{FF2B5EF4-FFF2-40B4-BE49-F238E27FC236}">
                <a16:creationId xmlns:a16="http://schemas.microsoft.com/office/drawing/2014/main" id="{074EEE8F-FE2C-C063-0729-E507448B3DF5}"/>
              </a:ext>
            </a:extLst>
          </p:cNvPr>
          <p:cNvSpPr/>
          <p:nvPr userDrawn="1"/>
        </p:nvSpPr>
        <p:spPr>
          <a:xfrm>
            <a:off x="6400800" y="384810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t-EE"/>
          </a:p>
        </p:txBody>
      </p:sp>
      <p:sp>
        <p:nvSpPr>
          <p:cNvPr id="9" name="Ristkülik: ümarnurkne 8">
            <a:extLst>
              <a:ext uri="{FF2B5EF4-FFF2-40B4-BE49-F238E27FC236}">
                <a16:creationId xmlns:a16="http://schemas.microsoft.com/office/drawing/2014/main" id="{D60C775E-E05D-D097-6117-853DB1B5AEA3}"/>
              </a:ext>
            </a:extLst>
          </p:cNvPr>
          <p:cNvSpPr/>
          <p:nvPr userDrawn="1"/>
        </p:nvSpPr>
        <p:spPr>
          <a:xfrm>
            <a:off x="2514600" y="339090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t-EE"/>
          </a:p>
        </p:txBody>
      </p:sp>
      <p:sp>
        <p:nvSpPr>
          <p:cNvPr id="10" name="Ovaal 9">
            <a:extLst>
              <a:ext uri="{FF2B5EF4-FFF2-40B4-BE49-F238E27FC236}">
                <a16:creationId xmlns:a16="http://schemas.microsoft.com/office/drawing/2014/main" id="{1387E86F-6C62-63A5-351C-D24208F58010}"/>
              </a:ext>
            </a:extLst>
          </p:cNvPr>
          <p:cNvSpPr/>
          <p:nvPr userDrawn="1"/>
        </p:nvSpPr>
        <p:spPr>
          <a:xfrm>
            <a:off x="9144000" y="2476500"/>
            <a:ext cx="3505200" cy="48006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t-EE"/>
          </a:p>
        </p:txBody>
      </p:sp>
      <p:sp>
        <p:nvSpPr>
          <p:cNvPr id="11" name="Ristkülik 10">
            <a:extLst>
              <a:ext uri="{FF2B5EF4-FFF2-40B4-BE49-F238E27FC236}">
                <a16:creationId xmlns:a16="http://schemas.microsoft.com/office/drawing/2014/main" id="{B2009516-2078-244F-DBB8-F9444064C80C}"/>
              </a:ext>
            </a:extLst>
          </p:cNvPr>
          <p:cNvSpPr/>
          <p:nvPr userDrawn="1"/>
        </p:nvSpPr>
        <p:spPr>
          <a:xfrm>
            <a:off x="15925800" y="3009900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7708174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4438DC-3CEE-4170-9B1C-BAC05CD8C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2204" y="1635368"/>
            <a:ext cx="14884146" cy="140397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t-EE"/>
              <a:t>Klõpsake juhteksemplari pealkirja laadi redigeerimiseks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C19D24-DCBE-47F9-8B85-8A118B02B3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32204" y="3179618"/>
            <a:ext cx="14884146" cy="62501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D5844-8163-4D82-BEFC-BC2D8D511B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632204" y="9658350"/>
            <a:ext cx="12844140" cy="628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13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F5788-BDCE-49E2-80AE-31C739C6A0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476344" y="9658350"/>
            <a:ext cx="1297056" cy="628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13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698A50-C435-4220-82C6-C8D62A7C9E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785646" y="9658350"/>
            <a:ext cx="902154" cy="628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1350"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782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706" r:id="rId13"/>
    <p:sldLayoutId id="2147483707" r:id="rId14"/>
    <p:sldLayoutId id="2147483708" r:id="rId15"/>
    <p:sldLayoutId id="2147483709" r:id="rId16"/>
    <p:sldLayoutId id="2147483710" r:id="rId17"/>
    <p:sldLayoutId id="2147483711" r:id="rId18"/>
    <p:sldLayoutId id="2147483712" r:id="rId19"/>
    <p:sldLayoutId id="2147483713" r:id="rId20"/>
    <p:sldLayoutId id="2147483714" r:id="rId21"/>
    <p:sldLayoutId id="2147483715" r:id="rId22"/>
    <p:sldLayoutId id="2147483716" r:id="rId23"/>
    <p:sldLayoutId id="2147483717" r:id="rId24"/>
    <p:sldLayoutId id="2147483718" r:id="rId25"/>
    <p:sldLayoutId id="2147483719" r:id="rId26"/>
    <p:sldLayoutId id="2147483720" r:id="rId27"/>
    <p:sldLayoutId id="2147483721" r:id="rId28"/>
    <p:sldLayoutId id="2147483722" r:id="rId29"/>
    <p:sldLayoutId id="2147483662" r:id="rId30"/>
  </p:sldLayoutIdLst>
  <p:hf hdr="0" ftr="0" dt="0"/>
  <p:txStyles>
    <p:titleStyle>
      <a:lvl1pPr algn="l" defTabSz="1371600" rtl="0" eaLnBrk="1" latinLnBrk="0" hangingPunct="1">
        <a:lnSpc>
          <a:spcPct val="85000"/>
        </a:lnSpc>
        <a:spcBef>
          <a:spcPct val="0"/>
        </a:spcBef>
        <a:buNone/>
        <a:defRPr sz="540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13716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54380" indent="-342900" algn="l" defTabSz="13716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indent="-342900" algn="l" defTabSz="13716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508760" indent="-342900" algn="l" defTabSz="13716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1920240" indent="-342900" algn="l" defTabSz="13716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pos="744">
          <p15:clr>
            <a:srgbClr val="F26B43"/>
          </p15:clr>
        </p15:guide>
        <p15:guide id="6">
          <p15:clr>
            <a:srgbClr val="F26B43"/>
          </p15:clr>
        </p15:guide>
        <p15:guide id="8" pos="6936">
          <p15:clr>
            <a:srgbClr val="F26B43"/>
          </p15:clr>
        </p15:guide>
        <p15:guide id="10" orient="horz" pos="720">
          <p15:clr>
            <a:srgbClr val="F26B43"/>
          </p15:clr>
        </p15:guide>
        <p15:guide id="14" pos="6624">
          <p15:clr>
            <a:srgbClr val="F26B43"/>
          </p15:clr>
        </p15:guide>
        <p15:guide id="22" orient="horz" pos="360">
          <p15:clr>
            <a:srgbClr val="F26B43"/>
          </p15:clr>
        </p15:guide>
        <p15:guide id="23" orient="horz" pos="3960">
          <p15:clr>
            <a:srgbClr val="F26B43"/>
          </p15:clr>
        </p15:guide>
        <p15:guide id="24" orient="horz" pos="2160">
          <p15:clr>
            <a:srgbClr val="F26B43"/>
          </p15:clr>
        </p15:guide>
        <p15:guide id="25" pos="7680">
          <p15:clr>
            <a:srgbClr val="F26B43"/>
          </p15:clr>
        </p15:guide>
        <p15:guide id="26" pos="3840">
          <p15:clr>
            <a:srgbClr val="F26B43"/>
          </p15:clr>
        </p15:guide>
        <p15:guide id="27" pos="6168">
          <p15:clr>
            <a:srgbClr val="F26B43"/>
          </p15:clr>
        </p15:guide>
        <p15:guide id="28" pos="672">
          <p15:clr>
            <a:srgbClr val="F26B43"/>
          </p15:clr>
        </p15:guide>
        <p15:guide id="29" pos="7008">
          <p15:clr>
            <a:srgbClr val="F26B43"/>
          </p15:clr>
        </p15:guide>
        <p15:guide id="30" orient="horz" pos="4056">
          <p15:clr>
            <a:srgbClr val="F26B43"/>
          </p15:clr>
        </p15:guide>
        <p15:guide id="31" orient="horz" pos="364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g"/><Relationship Id="rId3" Type="http://schemas.openxmlformats.org/officeDocument/2006/relationships/image" Target="../media/image7.jpg"/><Relationship Id="rId7" Type="http://schemas.openxmlformats.org/officeDocument/2006/relationships/hyperlink" Target="https://www.linkedin.com/in/siret-laaneoks-4b10b21a3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9.jpg"/><Relationship Id="rId11" Type="http://schemas.openxmlformats.org/officeDocument/2006/relationships/image" Target="../media/image11.png"/><Relationship Id="rId5" Type="http://schemas.openxmlformats.org/officeDocument/2006/relationships/hyperlink" Target="https://www.linkedin.com/in/kaidi-soiela-a32782159/" TargetMode="External"/><Relationship Id="rId10" Type="http://schemas.openxmlformats.org/officeDocument/2006/relationships/hyperlink" Target="https://www.linkedin.com/in/merje-n%C3%B5mmik-362948210/" TargetMode="External"/><Relationship Id="rId4" Type="http://schemas.openxmlformats.org/officeDocument/2006/relationships/image" Target="../media/image8.png"/><Relationship Id="rId9" Type="http://schemas.openxmlformats.org/officeDocument/2006/relationships/hyperlink" Target="https://www.linkedin.com/in/kristel-kuusik-474a8514b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aidisoiela/Grupitoo_kinnisvara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9.xml"/><Relationship Id="rId5" Type="http://schemas.openxmlformats.org/officeDocument/2006/relationships/image" Target="../media/image26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koratsioon 1"/>
          <p:cNvSpPr/>
          <p:nvPr/>
        </p:nvSpPr>
        <p:spPr>
          <a:xfrm>
            <a:off x="11795760" y="822960"/>
            <a:ext cx="6141720" cy="6309360"/>
          </a:xfrm>
          <a:prstGeom prst="ellipse">
            <a:avLst/>
          </a:prstGeom>
          <a:solidFill>
            <a:srgbClr val="F3EADA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3" name="Dekoratsioon 2"/>
          <p:cNvSpPr/>
          <p:nvPr/>
        </p:nvSpPr>
        <p:spPr>
          <a:xfrm>
            <a:off x="9783387" y="4023360"/>
            <a:ext cx="6005253" cy="5760720"/>
          </a:xfrm>
          <a:prstGeom prst="ellipse">
            <a:avLst/>
          </a:prstGeom>
          <a:solidFill>
            <a:srgbClr val="EFE4CE"/>
          </a:solidFill>
          <a:ln w="12700">
            <a:solidFill>
              <a:srgbClr val="F3EADA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4" name="Text 2"/>
          <p:cNvSpPr txBox="1"/>
          <p:nvPr/>
        </p:nvSpPr>
        <p:spPr>
          <a:xfrm>
            <a:off x="1097280" y="2057400"/>
            <a:ext cx="1234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100" b="1" kern="0" spc="45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ANDMEANALÜÜSI KURSUSE LÕPUTÖÖ · GRUPIPROJEKT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743200"/>
            <a:ext cx="164287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t-EE" sz="66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r>
              <a:rPr lang="en-US" sz="66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alga ja kinnisvara</a:t>
            </a:r>
            <a:r>
              <a:rPr lang="et-EE" sz="66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66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hindade </a:t>
            </a:r>
            <a:r>
              <a:rPr lang="et-EE" sz="66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suhte </a:t>
            </a:r>
            <a:r>
              <a:rPr lang="en-US" sz="66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analüüs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5760720"/>
            <a:ext cx="1234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3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2005–2026 · Eesti korteriturg maakonniti</a:t>
            </a:r>
            <a:endParaRPr lang="en-US" sz="3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596360" y="9601200"/>
            <a:ext cx="822960" cy="4114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500">
                <a:solidFill>
                  <a:srgbClr val="6B64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8E25A47E-18FE-9D21-1474-D581652D050A}"/>
              </a:ext>
            </a:extLst>
          </p:cNvPr>
          <p:cNvSpPr/>
          <p:nvPr/>
        </p:nvSpPr>
        <p:spPr>
          <a:xfrm>
            <a:off x="10549331" y="5411289"/>
            <a:ext cx="4344503" cy="3073736"/>
          </a:xfrm>
          <a:custGeom>
            <a:avLst/>
            <a:gdLst/>
            <a:ahLst/>
            <a:cxnLst/>
            <a:rect l="l" t="t" r="r" b="b"/>
            <a:pathLst>
              <a:path w="4344503" h="3073736">
                <a:moveTo>
                  <a:pt x="0" y="0"/>
                </a:moveTo>
                <a:lnTo>
                  <a:pt x="4344503" y="0"/>
                </a:lnTo>
                <a:lnTo>
                  <a:pt x="4344503" y="3073736"/>
                </a:lnTo>
                <a:lnTo>
                  <a:pt x="0" y="30737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t-EE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alkiri"/>
          <p:cNvSpPr txBox="1"/>
          <p:nvPr/>
        </p:nvSpPr>
        <p:spPr>
          <a:xfrm>
            <a:off x="822960" y="548640"/>
            <a:ext cx="16596360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1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Meie tiim</a:t>
            </a:r>
            <a:endParaRPr lang="en-US" sz="5100" dirty="0"/>
          </a:p>
        </p:txBody>
      </p:sp>
      <p:sp>
        <p:nvSpPr>
          <p:cNvPr id="4" name="Text 1"/>
          <p:cNvSpPr txBox="1"/>
          <p:nvPr/>
        </p:nvSpPr>
        <p:spPr>
          <a:xfrm>
            <a:off x="868680" y="2034540"/>
            <a:ext cx="384048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t-EE" sz="27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Kaidi Soiela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811780"/>
            <a:ext cx="38404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ts val="2421"/>
              </a:lnSpc>
              <a:spcBef>
                <a:spcPct val="0"/>
              </a:spcBef>
            </a:pPr>
            <a:r>
              <a:rPr lang="en-US" sz="2000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Maragsa"/>
                <a:sym typeface="Maragsa"/>
              </a:rPr>
              <a:t>Data Analyst | Power BI &amp; Alteryx Developer | SQL &amp; Python | Ex-PwC</a:t>
            </a:r>
          </a:p>
        </p:txBody>
      </p:sp>
      <p:sp>
        <p:nvSpPr>
          <p:cNvPr id="6" name="Foto raam 1"/>
          <p:cNvSpPr/>
          <p:nvPr/>
        </p:nvSpPr>
        <p:spPr>
          <a:xfrm>
            <a:off x="822960" y="3497580"/>
            <a:ext cx="3840480" cy="3779520"/>
          </a:xfrm>
          <a:prstGeom prst="roundRect">
            <a:avLst>
              <a:gd name="adj" fmla="val 4286"/>
            </a:avLst>
          </a:prstGeom>
          <a:solidFill>
            <a:srgbClr val="F7F1E6"/>
          </a:solidFill>
          <a:ln w="19050">
            <a:solidFill>
              <a:srgbClr val="D2BC94"/>
            </a:solidFill>
            <a:prstDash val="dash"/>
          </a:ln>
        </p:spPr>
        <p:txBody>
          <a:bodyPr/>
          <a:lstStyle/>
          <a:p>
            <a:endParaRPr lang="et-EE" sz="2700"/>
          </a:p>
        </p:txBody>
      </p:sp>
      <p:sp>
        <p:nvSpPr>
          <p:cNvPr id="7" name="Ikooni taust"/>
          <p:cNvSpPr/>
          <p:nvPr/>
        </p:nvSpPr>
        <p:spPr>
          <a:xfrm>
            <a:off x="2057400" y="4732020"/>
            <a:ext cx="1371600" cy="137160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8" name="Image 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8680" y="3497580"/>
            <a:ext cx="3794760" cy="3779520"/>
          </a:xfrm>
          <a:prstGeom prst="rect">
            <a:avLst/>
          </a:prstGeom>
          <a:effectLst/>
        </p:spPr>
      </p:pic>
      <p:sp>
        <p:nvSpPr>
          <p:cNvPr id="9" name="Text 5"/>
          <p:cNvSpPr txBox="1"/>
          <p:nvPr/>
        </p:nvSpPr>
        <p:spPr>
          <a:xfrm>
            <a:off x="587829" y="61036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Lisa foto</a:t>
            </a:r>
            <a:endParaRPr lang="en-US" sz="2100" dirty="0"/>
          </a:p>
        </p:txBody>
      </p:sp>
      <p:sp>
        <p:nvSpPr>
          <p:cNvPr id="10" name="LinkedIn väli 1"/>
          <p:cNvSpPr/>
          <p:nvPr/>
        </p:nvSpPr>
        <p:spPr>
          <a:xfrm>
            <a:off x="822960" y="8092440"/>
            <a:ext cx="3840480" cy="891540"/>
          </a:xfrm>
          <a:prstGeom prst="roundRect">
            <a:avLst>
              <a:gd name="adj" fmla="val 15385"/>
            </a:avLst>
          </a:prstGeom>
          <a:solidFill>
            <a:srgbClr val="EFE4CE"/>
          </a:solidFill>
          <a:ln w="12700">
            <a:solidFill>
              <a:srgbClr val="EFE4CE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11" name="Image 1" descr="LinkedI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8298180"/>
            <a:ext cx="480060" cy="4800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783080" y="8092440"/>
            <a:ext cx="27432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t-EE" sz="2000" dirty="0">
                <a:hlinkClick r:id="rId5"/>
              </a:rPr>
              <a:t>Kaidi Soiela | LinkedIn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5074920" y="2057400"/>
            <a:ext cx="384048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t-EE" sz="27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Siret Laaneoks</a:t>
            </a:r>
            <a:endParaRPr lang="en-US" sz="2700" dirty="0"/>
          </a:p>
        </p:txBody>
      </p:sp>
      <p:sp>
        <p:nvSpPr>
          <p:cNvPr id="14" name="Text 9"/>
          <p:cNvSpPr txBox="1"/>
          <p:nvPr/>
        </p:nvSpPr>
        <p:spPr>
          <a:xfrm>
            <a:off x="5074920" y="2811780"/>
            <a:ext cx="38404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ts val="2421"/>
              </a:lnSpc>
              <a:spcBef>
                <a:spcPct val="0"/>
              </a:spcBef>
            </a:pPr>
            <a:r>
              <a:rPr lang="en-US" sz="2000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Maragsa"/>
                <a:sym typeface="Maragsa"/>
              </a:rPr>
              <a:t>Banking and Product Management Professional</a:t>
            </a:r>
          </a:p>
        </p:txBody>
      </p:sp>
      <p:sp>
        <p:nvSpPr>
          <p:cNvPr id="15" name="Foto raam 2"/>
          <p:cNvSpPr/>
          <p:nvPr/>
        </p:nvSpPr>
        <p:spPr>
          <a:xfrm>
            <a:off x="5074920" y="3497580"/>
            <a:ext cx="3840480" cy="3840480"/>
          </a:xfrm>
          <a:prstGeom prst="roundRect">
            <a:avLst>
              <a:gd name="adj" fmla="val 4286"/>
            </a:avLst>
          </a:prstGeom>
          <a:solidFill>
            <a:srgbClr val="F7F1E6"/>
          </a:solidFill>
          <a:ln w="19050">
            <a:solidFill>
              <a:srgbClr val="D2BC94"/>
            </a:solidFill>
            <a:prstDash val="dash"/>
          </a:ln>
        </p:spPr>
        <p:txBody>
          <a:bodyPr/>
          <a:lstStyle/>
          <a:p>
            <a:endParaRPr lang="et-EE" sz="2700"/>
          </a:p>
        </p:txBody>
      </p:sp>
      <p:sp>
        <p:nvSpPr>
          <p:cNvPr id="16" name="Ikooni taust"/>
          <p:cNvSpPr/>
          <p:nvPr/>
        </p:nvSpPr>
        <p:spPr>
          <a:xfrm>
            <a:off x="6309360" y="4732020"/>
            <a:ext cx="1371600" cy="137160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17" name="Image 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74920" y="3497580"/>
            <a:ext cx="3840480" cy="3840480"/>
          </a:xfrm>
          <a:prstGeom prst="rect">
            <a:avLst/>
          </a:prstGeom>
          <a:effectLst/>
        </p:spPr>
      </p:pic>
      <p:sp>
        <p:nvSpPr>
          <p:cNvPr id="18" name="Text 12"/>
          <p:cNvSpPr txBox="1"/>
          <p:nvPr/>
        </p:nvSpPr>
        <p:spPr>
          <a:xfrm>
            <a:off x="5074920" y="6309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Lisa foto</a:t>
            </a:r>
            <a:endParaRPr lang="en-US" sz="2100" dirty="0"/>
          </a:p>
        </p:txBody>
      </p:sp>
      <p:sp>
        <p:nvSpPr>
          <p:cNvPr id="19" name="LinkedIn väli 2"/>
          <p:cNvSpPr/>
          <p:nvPr/>
        </p:nvSpPr>
        <p:spPr>
          <a:xfrm>
            <a:off x="5074920" y="8092440"/>
            <a:ext cx="3840480" cy="891540"/>
          </a:xfrm>
          <a:prstGeom prst="roundRect">
            <a:avLst>
              <a:gd name="adj" fmla="val 15385"/>
            </a:avLst>
          </a:prstGeom>
          <a:solidFill>
            <a:srgbClr val="EFE4CE"/>
          </a:solidFill>
          <a:ln w="12700">
            <a:solidFill>
              <a:srgbClr val="EFE4CE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20" name="Image 3" descr="LinkedI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8298180"/>
            <a:ext cx="480060" cy="48006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035040" y="8092440"/>
            <a:ext cx="272796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t-EE" sz="2000" dirty="0">
                <a:hlinkClick r:id="rId7"/>
              </a:rPr>
              <a:t>Siret Laaneoks | LinkedIn</a:t>
            </a:r>
            <a:endParaRPr lang="en-US" sz="2000" dirty="0"/>
          </a:p>
        </p:txBody>
      </p:sp>
      <p:sp>
        <p:nvSpPr>
          <p:cNvPr id="22" name="Text 15"/>
          <p:cNvSpPr txBox="1"/>
          <p:nvPr/>
        </p:nvSpPr>
        <p:spPr>
          <a:xfrm>
            <a:off x="9281160" y="2034540"/>
            <a:ext cx="384048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t-EE" sz="27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Kristel Kuusik</a:t>
            </a:r>
            <a:endParaRPr lang="en-US" sz="2700" dirty="0"/>
          </a:p>
        </p:txBody>
      </p:sp>
      <p:sp>
        <p:nvSpPr>
          <p:cNvPr id="23" name="Text 16"/>
          <p:cNvSpPr txBox="1"/>
          <p:nvPr/>
        </p:nvSpPr>
        <p:spPr>
          <a:xfrm>
            <a:off x="9326880" y="2811780"/>
            <a:ext cx="38404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ts val="2421"/>
              </a:lnSpc>
              <a:spcBef>
                <a:spcPct val="0"/>
              </a:spcBef>
            </a:pPr>
            <a:r>
              <a:rPr lang="en-US" sz="2000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Maragsa"/>
                <a:sym typeface="Maragsa"/>
              </a:rPr>
              <a:t>Aspiring Data Analyst | SQL, Power BI, Excel, SAP | Turning 5+ Years of Operations Data </a:t>
            </a:r>
            <a:r>
              <a:rPr lang="en-US" sz="2000" dirty="0">
                <a:solidFill>
                  <a:srgbClr val="000000"/>
                </a:solidFill>
                <a:ea typeface="Maragsa"/>
                <a:cs typeface="Maragsa"/>
                <a:sym typeface="Maragsa"/>
              </a:rPr>
              <a:t>into Insights</a:t>
            </a:r>
          </a:p>
        </p:txBody>
      </p:sp>
      <p:sp>
        <p:nvSpPr>
          <p:cNvPr id="24" name="Foto raam 3"/>
          <p:cNvSpPr/>
          <p:nvPr/>
        </p:nvSpPr>
        <p:spPr>
          <a:xfrm>
            <a:off x="9326880" y="3497580"/>
            <a:ext cx="3840480" cy="3840480"/>
          </a:xfrm>
          <a:prstGeom prst="roundRect">
            <a:avLst>
              <a:gd name="adj" fmla="val 4286"/>
            </a:avLst>
          </a:prstGeom>
          <a:solidFill>
            <a:srgbClr val="F7F1E6"/>
          </a:solidFill>
          <a:ln w="19050">
            <a:solidFill>
              <a:srgbClr val="D2BC94"/>
            </a:solidFill>
            <a:prstDash val="dash"/>
          </a:ln>
        </p:spPr>
        <p:txBody>
          <a:bodyPr/>
          <a:lstStyle/>
          <a:p>
            <a:endParaRPr lang="et-EE" sz="2700"/>
          </a:p>
        </p:txBody>
      </p:sp>
      <p:sp>
        <p:nvSpPr>
          <p:cNvPr id="25" name="Ikooni taust"/>
          <p:cNvSpPr/>
          <p:nvPr/>
        </p:nvSpPr>
        <p:spPr>
          <a:xfrm>
            <a:off x="10561320" y="4732020"/>
            <a:ext cx="1371600" cy="137160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26" name="Image 4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372602" y="3513909"/>
            <a:ext cx="3779520" cy="3840480"/>
          </a:xfrm>
          <a:prstGeom prst="rect">
            <a:avLst/>
          </a:prstGeom>
          <a:effectLst/>
        </p:spPr>
      </p:pic>
      <p:sp>
        <p:nvSpPr>
          <p:cNvPr id="27" name="Text 19"/>
          <p:cNvSpPr txBox="1"/>
          <p:nvPr/>
        </p:nvSpPr>
        <p:spPr>
          <a:xfrm>
            <a:off x="9326880" y="6309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Lisa foto</a:t>
            </a:r>
            <a:endParaRPr lang="en-US" sz="2100" dirty="0"/>
          </a:p>
        </p:txBody>
      </p:sp>
      <p:sp>
        <p:nvSpPr>
          <p:cNvPr id="28" name="LinkedIn väli 3"/>
          <p:cNvSpPr/>
          <p:nvPr/>
        </p:nvSpPr>
        <p:spPr>
          <a:xfrm>
            <a:off x="9326880" y="8092440"/>
            <a:ext cx="3840480" cy="891540"/>
          </a:xfrm>
          <a:prstGeom prst="roundRect">
            <a:avLst>
              <a:gd name="adj" fmla="val 15385"/>
            </a:avLst>
          </a:prstGeom>
          <a:solidFill>
            <a:srgbClr val="EFE4CE"/>
          </a:solidFill>
          <a:ln w="12700">
            <a:solidFill>
              <a:srgbClr val="EFE4CE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29" name="Image 5" descr="LinkedI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8298180"/>
            <a:ext cx="480060" cy="48006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0287000" y="8092440"/>
            <a:ext cx="27432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t-EE" sz="2000" dirty="0">
                <a:hlinkClick r:id="rId9"/>
              </a:rPr>
              <a:t>Kristel Kuusik | LinkedIn</a:t>
            </a:r>
            <a:endParaRPr lang="en-US" sz="2000" dirty="0"/>
          </a:p>
        </p:txBody>
      </p:sp>
      <p:sp>
        <p:nvSpPr>
          <p:cNvPr id="31" name="Text 22"/>
          <p:cNvSpPr txBox="1"/>
          <p:nvPr/>
        </p:nvSpPr>
        <p:spPr>
          <a:xfrm>
            <a:off x="13578840" y="2057400"/>
            <a:ext cx="384048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t-EE" sz="27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Merje Nõmmik</a:t>
            </a:r>
            <a:endParaRPr lang="en-US" sz="2700" dirty="0"/>
          </a:p>
        </p:txBody>
      </p:sp>
      <p:sp>
        <p:nvSpPr>
          <p:cNvPr id="32" name="Text 23"/>
          <p:cNvSpPr txBox="1"/>
          <p:nvPr/>
        </p:nvSpPr>
        <p:spPr>
          <a:xfrm>
            <a:off x="13578840" y="2811780"/>
            <a:ext cx="3886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ts val="2421"/>
              </a:lnSpc>
              <a:spcBef>
                <a:spcPct val="0"/>
              </a:spcBef>
            </a:pPr>
            <a:r>
              <a:rPr lang="en-US" sz="2000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Maragsa"/>
                <a:sym typeface="Maragsa"/>
              </a:rPr>
              <a:t>Data &amp; Business Intelligence Analyst  Customer Experience &amp; Operations </a:t>
            </a:r>
          </a:p>
        </p:txBody>
      </p:sp>
      <p:sp>
        <p:nvSpPr>
          <p:cNvPr id="33" name="Foto raam 4"/>
          <p:cNvSpPr/>
          <p:nvPr/>
        </p:nvSpPr>
        <p:spPr>
          <a:xfrm>
            <a:off x="13652366" y="3497580"/>
            <a:ext cx="3492633" cy="3779520"/>
          </a:xfrm>
          <a:prstGeom prst="roundRect">
            <a:avLst>
              <a:gd name="adj" fmla="val 4286"/>
            </a:avLst>
          </a:prstGeom>
          <a:solidFill>
            <a:srgbClr val="F7F1E6"/>
          </a:solidFill>
          <a:ln w="19050">
            <a:solidFill>
              <a:srgbClr val="D2BC94"/>
            </a:solidFill>
            <a:prstDash val="dash"/>
          </a:ln>
        </p:spPr>
        <p:txBody>
          <a:bodyPr/>
          <a:lstStyle/>
          <a:p>
            <a:endParaRPr lang="et-EE" sz="2700"/>
          </a:p>
        </p:txBody>
      </p:sp>
      <p:sp>
        <p:nvSpPr>
          <p:cNvPr id="34" name="Ikooni taust"/>
          <p:cNvSpPr/>
          <p:nvPr/>
        </p:nvSpPr>
        <p:spPr>
          <a:xfrm>
            <a:off x="14813280" y="4732020"/>
            <a:ext cx="1371600" cy="137160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36" name="Text 26"/>
          <p:cNvSpPr txBox="1"/>
          <p:nvPr/>
        </p:nvSpPr>
        <p:spPr>
          <a:xfrm>
            <a:off x="13578840" y="6309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Lisa foto</a:t>
            </a:r>
            <a:endParaRPr lang="en-US" sz="2100" dirty="0"/>
          </a:p>
        </p:txBody>
      </p:sp>
      <p:sp>
        <p:nvSpPr>
          <p:cNvPr id="37" name="LinkedIn väli 4"/>
          <p:cNvSpPr/>
          <p:nvPr/>
        </p:nvSpPr>
        <p:spPr>
          <a:xfrm>
            <a:off x="13578840" y="8092440"/>
            <a:ext cx="3840480" cy="891540"/>
          </a:xfrm>
          <a:prstGeom prst="roundRect">
            <a:avLst>
              <a:gd name="adj" fmla="val 15385"/>
            </a:avLst>
          </a:prstGeom>
          <a:solidFill>
            <a:srgbClr val="EFE4CE"/>
          </a:solidFill>
          <a:ln w="12700">
            <a:solidFill>
              <a:srgbClr val="EFE4CE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38" name="Image 7" descr="LinkedI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3160" y="8298180"/>
            <a:ext cx="480060" cy="480060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14538960" y="8092440"/>
            <a:ext cx="27432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t-EE" sz="2000" dirty="0">
                <a:hlinkClick r:id="rId10"/>
              </a:rPr>
              <a:t>Merje Nõmmik | LinkedIn</a:t>
            </a:r>
            <a:endParaRPr lang="en-US" sz="20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596360" y="9601200"/>
            <a:ext cx="822960" cy="4114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500">
                <a:solidFill>
                  <a:srgbClr val="6B64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pic>
        <p:nvPicPr>
          <p:cNvPr id="53" name="Pilt 52">
            <a:extLst>
              <a:ext uri="{FF2B5EF4-FFF2-40B4-BE49-F238E27FC236}">
                <a16:creationId xmlns:a16="http://schemas.microsoft.com/office/drawing/2014/main" id="{B4724FF4-A2DD-7543-761C-F7DF5E6CC72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652367" y="3459407"/>
            <a:ext cx="3492633" cy="381952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7688C1-21A8-FA15-F8BB-41D09F8EF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alkiri">
            <a:extLst>
              <a:ext uri="{FF2B5EF4-FFF2-40B4-BE49-F238E27FC236}">
                <a16:creationId xmlns:a16="http://schemas.microsoft.com/office/drawing/2014/main" id="{C03458AE-0C0A-9F05-6239-EB40F626CFAE}"/>
              </a:ext>
            </a:extLst>
          </p:cNvPr>
          <p:cNvSpPr txBox="1"/>
          <p:nvPr/>
        </p:nvSpPr>
        <p:spPr>
          <a:xfrm>
            <a:off x="822960" y="548640"/>
            <a:ext cx="16596360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1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Projekti eesmärk ja fookus</a:t>
            </a:r>
            <a:endParaRPr lang="en-US" sz="5100" dirty="0"/>
          </a:p>
        </p:txBody>
      </p:sp>
      <p:sp>
        <p:nvSpPr>
          <p:cNvPr id="4" name="Kaart">
            <a:extLst>
              <a:ext uri="{FF2B5EF4-FFF2-40B4-BE49-F238E27FC236}">
                <a16:creationId xmlns:a16="http://schemas.microsoft.com/office/drawing/2014/main" id="{2AEC947F-494F-16F2-9C6A-EBD60B141545}"/>
              </a:ext>
            </a:extLst>
          </p:cNvPr>
          <p:cNvSpPr/>
          <p:nvPr/>
        </p:nvSpPr>
        <p:spPr>
          <a:xfrm>
            <a:off x="822960" y="2400300"/>
            <a:ext cx="5212080" cy="4862620"/>
          </a:xfrm>
          <a:prstGeom prst="roundRect">
            <a:avLst>
              <a:gd name="adj" fmla="val 3158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5" name="Ikooni taust">
            <a:extLst>
              <a:ext uri="{FF2B5EF4-FFF2-40B4-BE49-F238E27FC236}">
                <a16:creationId xmlns:a16="http://schemas.microsoft.com/office/drawing/2014/main" id="{8BABF7D4-5F5E-01FB-9714-98C053C12CAD}"/>
              </a:ext>
            </a:extLst>
          </p:cNvPr>
          <p:cNvSpPr/>
          <p:nvPr/>
        </p:nvSpPr>
        <p:spPr>
          <a:xfrm>
            <a:off x="1303020" y="2880360"/>
            <a:ext cx="1097280" cy="109728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6" name="Image 0" descr="FaBullseye">
            <a:extLst>
              <a:ext uri="{FF2B5EF4-FFF2-40B4-BE49-F238E27FC236}">
                <a16:creationId xmlns:a16="http://schemas.microsoft.com/office/drawing/2014/main" id="{3AE84931-9B3B-CA1C-2007-68910FE29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8313" y="3165653"/>
            <a:ext cx="526695" cy="526695"/>
          </a:xfrm>
          <a:prstGeom prst="rect">
            <a:avLst/>
          </a:prstGeom>
        </p:spPr>
      </p:pic>
      <p:sp>
        <p:nvSpPr>
          <p:cNvPr id="7" name="Text 3">
            <a:extLst>
              <a:ext uri="{FF2B5EF4-FFF2-40B4-BE49-F238E27FC236}">
                <a16:creationId xmlns:a16="http://schemas.microsoft.com/office/drawing/2014/main" id="{5BC1795B-1B1D-B340-9FFC-B0387E383E6C}"/>
              </a:ext>
            </a:extLst>
          </p:cNvPr>
          <p:cNvSpPr txBox="1"/>
          <p:nvPr/>
        </p:nvSpPr>
        <p:spPr>
          <a:xfrm>
            <a:off x="1303020" y="432054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6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Eesmärk</a:t>
            </a:r>
            <a:endParaRPr lang="en-US" sz="3600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EF4CA0C-9510-6545-2C29-CC403CE7906B}"/>
              </a:ext>
            </a:extLst>
          </p:cNvPr>
          <p:cNvSpPr txBox="1"/>
          <p:nvPr/>
        </p:nvSpPr>
        <p:spPr>
          <a:xfrm>
            <a:off x="1303020" y="5212080"/>
            <a:ext cx="425196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t-EE" sz="2400" noProof="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Analüüsime brutopalkade muutust, pikaajalist inflatsiooni ja finantstingimuste mõju elanike ostujõule Eesti kinnisvaraturul.</a:t>
            </a:r>
          </a:p>
          <a:p>
            <a:endParaRPr lang="et-EE" sz="2400" dirty="0">
              <a:solidFill>
                <a:srgbClr val="2F2B2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sz="2400" dirty="0"/>
          </a:p>
        </p:txBody>
      </p:sp>
      <p:sp>
        <p:nvSpPr>
          <p:cNvPr id="9" name="Kaart">
            <a:extLst>
              <a:ext uri="{FF2B5EF4-FFF2-40B4-BE49-F238E27FC236}">
                <a16:creationId xmlns:a16="http://schemas.microsoft.com/office/drawing/2014/main" id="{EB4AC4A9-029E-5D9E-E3F5-3CFDC6E2E1C2}"/>
              </a:ext>
            </a:extLst>
          </p:cNvPr>
          <p:cNvSpPr/>
          <p:nvPr/>
        </p:nvSpPr>
        <p:spPr>
          <a:xfrm>
            <a:off x="6515100" y="2400300"/>
            <a:ext cx="5212080" cy="4911090"/>
          </a:xfrm>
          <a:prstGeom prst="roundRect">
            <a:avLst>
              <a:gd name="adj" fmla="val 3158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10" name="Ikooni taust">
            <a:extLst>
              <a:ext uri="{FF2B5EF4-FFF2-40B4-BE49-F238E27FC236}">
                <a16:creationId xmlns:a16="http://schemas.microsoft.com/office/drawing/2014/main" id="{35A628CE-6FC7-1B18-9CEB-2135080B712D}"/>
              </a:ext>
            </a:extLst>
          </p:cNvPr>
          <p:cNvSpPr/>
          <p:nvPr/>
        </p:nvSpPr>
        <p:spPr>
          <a:xfrm>
            <a:off x="6995160" y="2880360"/>
            <a:ext cx="1097280" cy="109728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14" name="Kaart">
            <a:extLst>
              <a:ext uri="{FF2B5EF4-FFF2-40B4-BE49-F238E27FC236}">
                <a16:creationId xmlns:a16="http://schemas.microsoft.com/office/drawing/2014/main" id="{873D2262-268B-0BEE-6946-9224713ED28A}"/>
              </a:ext>
            </a:extLst>
          </p:cNvPr>
          <p:cNvSpPr/>
          <p:nvPr/>
        </p:nvSpPr>
        <p:spPr>
          <a:xfrm>
            <a:off x="12207240" y="2400300"/>
            <a:ext cx="5212080" cy="4911090"/>
          </a:xfrm>
          <a:prstGeom prst="roundRect">
            <a:avLst>
              <a:gd name="adj" fmla="val 3158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15" name="Ikooni taust">
            <a:extLst>
              <a:ext uri="{FF2B5EF4-FFF2-40B4-BE49-F238E27FC236}">
                <a16:creationId xmlns:a16="http://schemas.microsoft.com/office/drawing/2014/main" id="{FE4EF709-E05F-D42E-C875-C623ED8AFE43}"/>
              </a:ext>
            </a:extLst>
          </p:cNvPr>
          <p:cNvSpPr/>
          <p:nvPr/>
        </p:nvSpPr>
        <p:spPr>
          <a:xfrm>
            <a:off x="12687300" y="2880360"/>
            <a:ext cx="1097280" cy="109728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8D6AD596-8474-3C1C-5CFE-2159DD8B28DA}"/>
              </a:ext>
            </a:extLst>
          </p:cNvPr>
          <p:cNvSpPr txBox="1"/>
          <p:nvPr/>
        </p:nvSpPr>
        <p:spPr>
          <a:xfrm>
            <a:off x="7022374" y="4349932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t-EE" sz="36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</a:rPr>
              <a:t>Sihtrühm</a:t>
            </a:r>
            <a:endParaRPr lang="en-US" sz="3600" dirty="0"/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77FD4BD9-81F4-6DD0-065D-4DD4651A76A6}"/>
              </a:ext>
            </a:extLst>
          </p:cNvPr>
          <p:cNvSpPr txBox="1"/>
          <p:nvPr/>
        </p:nvSpPr>
        <p:spPr>
          <a:xfrm>
            <a:off x="6978227" y="5270259"/>
            <a:ext cx="4251960" cy="173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t-EE" sz="2400" noProof="0" dirty="0">
                <a:solidFill>
                  <a:srgbClr val="2F2B2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Eraisikud ja koduostjad</a:t>
            </a:r>
          </a:p>
          <a:p>
            <a:endParaRPr lang="et-EE" sz="2400" noProof="0" dirty="0">
              <a:solidFill>
                <a:srgbClr val="2F2B26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t-EE" sz="2400" noProof="0" dirty="0">
                <a:solidFill>
                  <a:srgbClr val="2F2B2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Väärtus: </a:t>
            </a:r>
            <a:r>
              <a:rPr lang="et-EE" sz="2400" dirty="0">
                <a:solidFill>
                  <a:srgbClr val="2F2B2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Aitab teha kaalutletud otsuseid kinnisvara ostu osas</a:t>
            </a:r>
            <a:endParaRPr lang="et-EE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t-EE" sz="2400" noProof="0" dirty="0">
              <a:solidFill>
                <a:srgbClr val="2F2B26"/>
              </a:solidFill>
              <a:ea typeface="Calibri" pitchFamily="34" charset="-122"/>
              <a:cs typeface="Calibri" pitchFamily="34" charset="-120"/>
            </a:endParaRPr>
          </a:p>
          <a:p>
            <a:endParaRPr lang="et-EE" sz="3600" b="1" noProof="0" dirty="0">
              <a:solidFill>
                <a:srgbClr val="2F2B26"/>
              </a:solidFill>
              <a:ea typeface="Calibri" pitchFamily="34" charset="-122"/>
              <a:cs typeface="Calibri" pitchFamily="34" charset="-120"/>
            </a:endParaRPr>
          </a:p>
          <a:p>
            <a:endParaRPr lang="et-EE" sz="3000" noProof="0" dirty="0">
              <a:solidFill>
                <a:srgbClr val="2F2B26"/>
              </a:solidFill>
              <a:ea typeface="Calibri" pitchFamily="34" charset="-122"/>
              <a:cs typeface="Calibri" pitchFamily="34" charset="-120"/>
            </a:endParaRPr>
          </a:p>
          <a:p>
            <a:endParaRPr lang="en-US" sz="28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5BC3729B-36BA-DF05-3E43-FC183FC69E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6596360" y="9601200"/>
            <a:ext cx="822960" cy="4114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500">
                <a:solidFill>
                  <a:srgbClr val="6B64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pic>
        <p:nvPicPr>
          <p:cNvPr id="19" name="Image 0" descr="FaUsers">
            <a:extLst>
              <a:ext uri="{FF2B5EF4-FFF2-40B4-BE49-F238E27FC236}">
                <a16:creationId xmlns:a16="http://schemas.microsoft.com/office/drawing/2014/main" id="{E44C6502-68FC-64AC-8E5F-2F1CF3F29F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5226" y="3134935"/>
            <a:ext cx="613257" cy="613257"/>
          </a:xfrm>
          <a:prstGeom prst="rect">
            <a:avLst/>
          </a:prstGeom>
        </p:spPr>
      </p:pic>
      <p:sp>
        <p:nvSpPr>
          <p:cNvPr id="12" name="Text 7">
            <a:extLst>
              <a:ext uri="{FF2B5EF4-FFF2-40B4-BE49-F238E27FC236}">
                <a16:creationId xmlns:a16="http://schemas.microsoft.com/office/drawing/2014/main" id="{A34DC16A-BDAB-9E5A-1A66-A5D90B6C124F}"/>
              </a:ext>
            </a:extLst>
          </p:cNvPr>
          <p:cNvSpPr txBox="1"/>
          <p:nvPr/>
        </p:nvSpPr>
        <p:spPr>
          <a:xfrm>
            <a:off x="12687300" y="4381772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6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Fookus</a:t>
            </a:r>
            <a:endParaRPr lang="en-US" sz="3600" dirty="0"/>
          </a:p>
        </p:txBody>
      </p:sp>
      <p:pic>
        <p:nvPicPr>
          <p:cNvPr id="11" name="Image 1" descr="FaSearch">
            <a:extLst>
              <a:ext uri="{FF2B5EF4-FFF2-40B4-BE49-F238E27FC236}">
                <a16:creationId xmlns:a16="http://schemas.microsoft.com/office/drawing/2014/main" id="{F13A5AF1-0CEA-F2D3-4D38-6A0EB42844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17854" y="3201575"/>
            <a:ext cx="526695" cy="526695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C0671651-35E2-FEB6-9D5A-2B2B5D66112E}"/>
              </a:ext>
            </a:extLst>
          </p:cNvPr>
          <p:cNvSpPr txBox="1"/>
          <p:nvPr/>
        </p:nvSpPr>
        <p:spPr>
          <a:xfrm>
            <a:off x="12573000" y="5150031"/>
            <a:ext cx="425196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t-EE" sz="24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et-EE" sz="2400" noProof="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keskmise palgaga töötaja suudab kinnisvara hindadega sammu pidada?</a:t>
            </a:r>
          </a:p>
          <a:p>
            <a:endParaRPr lang="et-EE" sz="3000" dirty="0">
              <a:solidFill>
                <a:srgbClr val="2F2B2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t-EE" sz="3000" dirty="0">
              <a:solidFill>
                <a:srgbClr val="2F2B2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t-EE" sz="3000" dirty="0">
              <a:solidFill>
                <a:srgbClr val="2F2B2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sz="3200" dirty="0"/>
          </a:p>
        </p:txBody>
      </p:sp>
      <p:sp>
        <p:nvSpPr>
          <p:cNvPr id="36" name="Kaart">
            <a:extLst>
              <a:ext uri="{FF2B5EF4-FFF2-40B4-BE49-F238E27FC236}">
                <a16:creationId xmlns:a16="http://schemas.microsoft.com/office/drawing/2014/main" id="{E3637397-5C95-3727-0B58-F4B50FBFDB85}"/>
              </a:ext>
            </a:extLst>
          </p:cNvPr>
          <p:cNvSpPr/>
          <p:nvPr/>
        </p:nvSpPr>
        <p:spPr>
          <a:xfrm>
            <a:off x="4685937" y="7800674"/>
            <a:ext cx="8916126" cy="1687830"/>
          </a:xfrm>
          <a:prstGeom prst="roundRect">
            <a:avLst>
              <a:gd name="adj" fmla="val 3158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772B937E-95B7-7883-86F2-C802784897B3}"/>
              </a:ext>
            </a:extLst>
          </p:cNvPr>
          <p:cNvSpPr txBox="1"/>
          <p:nvPr/>
        </p:nvSpPr>
        <p:spPr>
          <a:xfrm>
            <a:off x="5395874" y="8321678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t-EE" sz="36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</a:rPr>
              <a:t>Hüpotees</a:t>
            </a:r>
            <a:endParaRPr lang="en-US" sz="3600" dirty="0"/>
          </a:p>
        </p:txBody>
      </p:sp>
      <p:sp>
        <p:nvSpPr>
          <p:cNvPr id="34" name="Text 4">
            <a:extLst>
              <a:ext uri="{FF2B5EF4-FFF2-40B4-BE49-F238E27FC236}">
                <a16:creationId xmlns:a16="http://schemas.microsoft.com/office/drawing/2014/main" id="{8FAA6304-53D9-92CC-8717-F5D6F089E8DA}"/>
              </a:ext>
            </a:extLst>
          </p:cNvPr>
          <p:cNvSpPr txBox="1"/>
          <p:nvPr/>
        </p:nvSpPr>
        <p:spPr>
          <a:xfrm>
            <a:off x="8435340" y="8266340"/>
            <a:ext cx="4251960" cy="99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t-EE" sz="24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Ostuvõime on inflatsiooni tõttu madalam kui eelmisel kümnendil</a:t>
            </a:r>
          </a:p>
          <a:p>
            <a:endParaRPr lang="et-EE" sz="2400" dirty="0">
              <a:solidFill>
                <a:srgbClr val="2F2B2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808170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Kaart">
            <a:extLst>
              <a:ext uri="{FF2B5EF4-FFF2-40B4-BE49-F238E27FC236}">
                <a16:creationId xmlns:a16="http://schemas.microsoft.com/office/drawing/2014/main" id="{CE0D82F9-21FB-E56E-6F36-953B72FA24AB}"/>
              </a:ext>
            </a:extLst>
          </p:cNvPr>
          <p:cNvSpPr/>
          <p:nvPr/>
        </p:nvSpPr>
        <p:spPr>
          <a:xfrm>
            <a:off x="9755236" y="5995850"/>
            <a:ext cx="5516878" cy="3076304"/>
          </a:xfrm>
          <a:prstGeom prst="roundRect">
            <a:avLst>
              <a:gd name="adj" fmla="val 5000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pPr algn="just"/>
            <a:endParaRPr lang="et-EE" sz="2700" dirty="0"/>
          </a:p>
        </p:txBody>
      </p:sp>
      <p:sp>
        <p:nvSpPr>
          <p:cNvPr id="41" name="Kaart">
            <a:extLst>
              <a:ext uri="{FF2B5EF4-FFF2-40B4-BE49-F238E27FC236}">
                <a16:creationId xmlns:a16="http://schemas.microsoft.com/office/drawing/2014/main" id="{72CE275C-EA55-627A-C17C-B4408AC7A363}"/>
              </a:ext>
            </a:extLst>
          </p:cNvPr>
          <p:cNvSpPr/>
          <p:nvPr/>
        </p:nvSpPr>
        <p:spPr>
          <a:xfrm>
            <a:off x="9755235" y="2184765"/>
            <a:ext cx="5516879" cy="3233058"/>
          </a:xfrm>
          <a:prstGeom prst="roundRect">
            <a:avLst>
              <a:gd name="adj" fmla="val 5000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pPr algn="just"/>
            <a:endParaRPr lang="et-EE" sz="2700" dirty="0"/>
          </a:p>
        </p:txBody>
      </p:sp>
      <p:sp>
        <p:nvSpPr>
          <p:cNvPr id="2" name="Pealkiri"/>
          <p:cNvSpPr txBox="1"/>
          <p:nvPr/>
        </p:nvSpPr>
        <p:spPr>
          <a:xfrm>
            <a:off x="822960" y="548640"/>
            <a:ext cx="16596360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1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Ärimõisted</a:t>
            </a:r>
            <a:endParaRPr lang="en-US" sz="5100" dirty="0"/>
          </a:p>
        </p:txBody>
      </p:sp>
      <p:sp>
        <p:nvSpPr>
          <p:cNvPr id="4" name="Kaart"/>
          <p:cNvSpPr/>
          <p:nvPr/>
        </p:nvSpPr>
        <p:spPr>
          <a:xfrm>
            <a:off x="3015886" y="2171700"/>
            <a:ext cx="5747113" cy="3233058"/>
          </a:xfrm>
          <a:prstGeom prst="roundRect">
            <a:avLst>
              <a:gd name="adj" fmla="val 5000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pPr algn="ctr"/>
            <a:endParaRPr lang="et-EE" sz="2700" dirty="0"/>
          </a:p>
        </p:txBody>
      </p:sp>
      <p:sp>
        <p:nvSpPr>
          <p:cNvPr id="5" name="Ikooni taust"/>
          <p:cNvSpPr/>
          <p:nvPr/>
        </p:nvSpPr>
        <p:spPr>
          <a:xfrm>
            <a:off x="3588891" y="2661557"/>
            <a:ext cx="822960" cy="82296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6" name="Image 0" descr="FaHom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3183" y="2893423"/>
            <a:ext cx="395021" cy="39502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758146" y="2661557"/>
            <a:ext cx="34975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5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Kinnisvara hind</a:t>
            </a:r>
            <a:endParaRPr lang="en-US" sz="2850" dirty="0"/>
          </a:p>
        </p:txBody>
      </p:sp>
      <p:sp>
        <p:nvSpPr>
          <p:cNvPr id="8" name="Text 4"/>
          <p:cNvSpPr txBox="1"/>
          <p:nvPr/>
        </p:nvSpPr>
        <p:spPr>
          <a:xfrm>
            <a:off x="3806190" y="3758837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4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Korteriomandite tehingute keskmine ühe m² hind eurodes valitud maakonnas.</a:t>
            </a:r>
            <a:endParaRPr lang="en-US" sz="2400" dirty="0"/>
          </a:p>
        </p:txBody>
      </p:sp>
      <p:sp>
        <p:nvSpPr>
          <p:cNvPr id="10" name="Ikooni taust"/>
          <p:cNvSpPr/>
          <p:nvPr/>
        </p:nvSpPr>
        <p:spPr>
          <a:xfrm>
            <a:off x="10218420" y="2495007"/>
            <a:ext cx="822960" cy="82296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11" name="Image 1" descr="FaMoneyBillWav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0" y="2695913"/>
            <a:ext cx="395021" cy="395021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315700" y="2517866"/>
            <a:ext cx="34975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5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Palk (nominaalne)</a:t>
            </a:r>
            <a:endParaRPr lang="en-US" sz="2850" dirty="0"/>
          </a:p>
        </p:txBody>
      </p:sp>
      <p:sp>
        <p:nvSpPr>
          <p:cNvPr id="13" name="Text 8"/>
          <p:cNvSpPr txBox="1"/>
          <p:nvPr/>
        </p:nvSpPr>
        <p:spPr>
          <a:xfrm>
            <a:off x="10595610" y="3523707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4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Täisajaga töötaja keskmine brutotasu kuus enne maksude mahaarvamist.</a:t>
            </a:r>
            <a:endParaRPr lang="en-US" sz="2400" dirty="0"/>
          </a:p>
        </p:txBody>
      </p:sp>
      <p:sp>
        <p:nvSpPr>
          <p:cNvPr id="17" name="Text 11"/>
          <p:cNvSpPr txBox="1"/>
          <p:nvPr/>
        </p:nvSpPr>
        <p:spPr>
          <a:xfrm>
            <a:off x="13647420" y="2743200"/>
            <a:ext cx="34975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2850" dirty="0"/>
          </a:p>
        </p:txBody>
      </p:sp>
      <p:sp>
        <p:nvSpPr>
          <p:cNvPr id="18" name="Text 12"/>
          <p:cNvSpPr txBox="1"/>
          <p:nvPr/>
        </p:nvSpPr>
        <p:spPr>
          <a:xfrm>
            <a:off x="12618720" y="384048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n-US" sz="2400" dirty="0"/>
          </a:p>
        </p:txBody>
      </p:sp>
      <p:sp>
        <p:nvSpPr>
          <p:cNvPr id="19" name="Kaart"/>
          <p:cNvSpPr/>
          <p:nvPr/>
        </p:nvSpPr>
        <p:spPr>
          <a:xfrm>
            <a:off x="3015887" y="6044837"/>
            <a:ext cx="5747112" cy="3027317"/>
          </a:xfrm>
          <a:prstGeom prst="roundRect">
            <a:avLst>
              <a:gd name="adj" fmla="val 5000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20" name="Ikooni taust"/>
          <p:cNvSpPr/>
          <p:nvPr/>
        </p:nvSpPr>
        <p:spPr>
          <a:xfrm>
            <a:off x="3372394" y="6364877"/>
            <a:ext cx="822960" cy="82296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21" name="Image 3" descr="FaShoppingC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9413" y="6611502"/>
            <a:ext cx="395021" cy="395021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375799" y="6446520"/>
            <a:ext cx="34975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5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Inflatsioon (THI)</a:t>
            </a:r>
            <a:endParaRPr lang="en-US" sz="2850" dirty="0"/>
          </a:p>
        </p:txBody>
      </p:sp>
      <p:sp>
        <p:nvSpPr>
          <p:cNvPr id="23" name="Text 16"/>
          <p:cNvSpPr txBox="1"/>
          <p:nvPr/>
        </p:nvSpPr>
        <p:spPr>
          <a:xfrm>
            <a:off x="3621548" y="754380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4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Tarbija ostukorvi maksumuse muutus ajas ehk elukalliduse muutus.</a:t>
            </a:r>
            <a:endParaRPr lang="en-US" sz="2400" dirty="0"/>
          </a:p>
        </p:txBody>
      </p:sp>
      <p:sp>
        <p:nvSpPr>
          <p:cNvPr id="25" name="Ikooni taust"/>
          <p:cNvSpPr/>
          <p:nvPr/>
        </p:nvSpPr>
        <p:spPr>
          <a:xfrm>
            <a:off x="10424160" y="6328954"/>
            <a:ext cx="822960" cy="82296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26" name="Image 4" descr="FaPercen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8527" y="6611502"/>
            <a:ext cx="395021" cy="3950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431089" y="6397533"/>
            <a:ext cx="34975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5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Intressimäär</a:t>
            </a:r>
            <a:endParaRPr lang="en-US" sz="2850" dirty="0"/>
          </a:p>
        </p:txBody>
      </p:sp>
      <p:sp>
        <p:nvSpPr>
          <p:cNvPr id="28" name="Text 20"/>
          <p:cNvSpPr txBox="1"/>
          <p:nvPr/>
        </p:nvSpPr>
        <p:spPr>
          <a:xfrm>
            <a:off x="10568527" y="7426234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4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Eesti kodumajapidamiste EUR-laenude lepingulised intressimäärad.</a:t>
            </a:r>
            <a:endParaRPr lang="en-US" sz="2400" dirty="0"/>
          </a:p>
        </p:txBody>
      </p:sp>
      <p:sp>
        <p:nvSpPr>
          <p:cNvPr id="33" name="Text 24"/>
          <p:cNvSpPr txBox="1"/>
          <p:nvPr/>
        </p:nvSpPr>
        <p:spPr>
          <a:xfrm>
            <a:off x="12618720" y="754380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n-US" sz="24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596360" y="9601200"/>
            <a:ext cx="822960" cy="4114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500">
                <a:solidFill>
                  <a:srgbClr val="6B64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alkiri"/>
          <p:cNvSpPr txBox="1"/>
          <p:nvPr/>
        </p:nvSpPr>
        <p:spPr>
          <a:xfrm>
            <a:off x="822960" y="548640"/>
            <a:ext cx="16596360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1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Andmeallikad</a:t>
            </a:r>
            <a:endParaRPr lang="en-US" sz="5100" dirty="0"/>
          </a:p>
        </p:txBody>
      </p:sp>
      <p:sp>
        <p:nvSpPr>
          <p:cNvPr id="4" name="Kaart"/>
          <p:cNvSpPr/>
          <p:nvPr/>
        </p:nvSpPr>
        <p:spPr>
          <a:xfrm>
            <a:off x="822960" y="2400300"/>
            <a:ext cx="3909060" cy="3497580"/>
          </a:xfrm>
          <a:prstGeom prst="roundRect">
            <a:avLst>
              <a:gd name="adj" fmla="val 4706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5" name="Ikooni taust"/>
          <p:cNvSpPr/>
          <p:nvPr/>
        </p:nvSpPr>
        <p:spPr>
          <a:xfrm>
            <a:off x="1234440" y="2743200"/>
            <a:ext cx="891540" cy="89154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6" name="Image 0" descr="FaBui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242" y="2975002"/>
            <a:ext cx="427940" cy="4279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34440" y="3909060"/>
            <a:ext cx="308610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0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Maa-amet</a:t>
            </a:r>
            <a:endParaRPr lang="en-US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1234440" y="4526280"/>
            <a:ext cx="30861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4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Korterite m² hind ja tehingute arv (tehingute andmebaas)</a:t>
            </a:r>
            <a:endParaRPr lang="en-US" sz="2400" dirty="0"/>
          </a:p>
        </p:txBody>
      </p:sp>
      <p:sp>
        <p:nvSpPr>
          <p:cNvPr id="9" name="Kaart"/>
          <p:cNvSpPr/>
          <p:nvPr/>
        </p:nvSpPr>
        <p:spPr>
          <a:xfrm>
            <a:off x="5052015" y="2400300"/>
            <a:ext cx="3909060" cy="3497580"/>
          </a:xfrm>
          <a:prstGeom prst="roundRect">
            <a:avLst>
              <a:gd name="adj" fmla="val 4706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10" name="Ikooni taust"/>
          <p:cNvSpPr/>
          <p:nvPr/>
        </p:nvSpPr>
        <p:spPr>
          <a:xfrm>
            <a:off x="5463495" y="2743200"/>
            <a:ext cx="891540" cy="89154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11" name="Image 1" descr="FaUser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5295" y="2975002"/>
            <a:ext cx="427940" cy="4279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63495" y="3909060"/>
            <a:ext cx="308610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0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Statistikaamet</a:t>
            </a:r>
            <a:endParaRPr lang="en-US" sz="3000" dirty="0"/>
          </a:p>
        </p:txBody>
      </p:sp>
      <p:sp>
        <p:nvSpPr>
          <p:cNvPr id="13" name="Text 8"/>
          <p:cNvSpPr txBox="1"/>
          <p:nvPr/>
        </p:nvSpPr>
        <p:spPr>
          <a:xfrm>
            <a:off x="5463495" y="4526280"/>
            <a:ext cx="30861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4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Palgastatistika (PA21, PA004, PA117)</a:t>
            </a:r>
            <a:endParaRPr lang="en-US" sz="2400" dirty="0"/>
          </a:p>
        </p:txBody>
      </p:sp>
      <p:sp>
        <p:nvSpPr>
          <p:cNvPr id="14" name="Kaart"/>
          <p:cNvSpPr/>
          <p:nvPr/>
        </p:nvSpPr>
        <p:spPr>
          <a:xfrm>
            <a:off x="9281069" y="2400300"/>
            <a:ext cx="3909060" cy="3497580"/>
          </a:xfrm>
          <a:prstGeom prst="roundRect">
            <a:avLst>
              <a:gd name="adj" fmla="val 4706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15" name="Ikooni taust"/>
          <p:cNvSpPr/>
          <p:nvPr/>
        </p:nvSpPr>
        <p:spPr>
          <a:xfrm>
            <a:off x="9692549" y="2743200"/>
            <a:ext cx="891540" cy="89154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16" name="Image 2" descr="FaUniversit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4350" y="2975002"/>
            <a:ext cx="427940" cy="42794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692549" y="3909060"/>
            <a:ext cx="308610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0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Eesti Pank</a:t>
            </a:r>
            <a:endParaRPr lang="en-US" sz="3000" dirty="0"/>
          </a:p>
        </p:txBody>
      </p:sp>
      <p:sp>
        <p:nvSpPr>
          <p:cNvPr id="18" name="Text 12"/>
          <p:cNvSpPr txBox="1"/>
          <p:nvPr/>
        </p:nvSpPr>
        <p:spPr>
          <a:xfrm>
            <a:off x="9616440" y="4457700"/>
            <a:ext cx="30861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t-EE" sz="24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Eluasemelaenude intressimäärad laenusummalt</a:t>
            </a:r>
            <a:endParaRPr lang="et-EE" sz="2400" dirty="0"/>
          </a:p>
        </p:txBody>
      </p:sp>
      <p:sp>
        <p:nvSpPr>
          <p:cNvPr id="19" name="Kaart"/>
          <p:cNvSpPr/>
          <p:nvPr/>
        </p:nvSpPr>
        <p:spPr>
          <a:xfrm>
            <a:off x="13510124" y="2400300"/>
            <a:ext cx="3909060" cy="3497580"/>
          </a:xfrm>
          <a:prstGeom prst="roundRect">
            <a:avLst>
              <a:gd name="adj" fmla="val 4706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20" name="Ikooni taust"/>
          <p:cNvSpPr/>
          <p:nvPr/>
        </p:nvSpPr>
        <p:spPr>
          <a:xfrm>
            <a:off x="13921604" y="2743200"/>
            <a:ext cx="891540" cy="89154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21" name="Image 3" descr="FaChartL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53404" y="2975002"/>
            <a:ext cx="427940" cy="4279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3921604" y="3909060"/>
            <a:ext cx="308610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0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Statistikaamet</a:t>
            </a:r>
            <a:endParaRPr lang="en-US" sz="3000" dirty="0"/>
          </a:p>
        </p:txBody>
      </p:sp>
      <p:sp>
        <p:nvSpPr>
          <p:cNvPr id="23" name="Text 16"/>
          <p:cNvSpPr txBox="1"/>
          <p:nvPr/>
        </p:nvSpPr>
        <p:spPr>
          <a:xfrm>
            <a:off x="13921604" y="4526280"/>
            <a:ext cx="30861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4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Tarbijahinnaindeks THI (tabel IA002)</a:t>
            </a:r>
            <a:endParaRPr lang="en-US" sz="24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596360" y="9601200"/>
            <a:ext cx="822960" cy="4114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500">
                <a:solidFill>
                  <a:srgbClr val="6B64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38" name="Kaart">
            <a:extLst>
              <a:ext uri="{FF2B5EF4-FFF2-40B4-BE49-F238E27FC236}">
                <a16:creationId xmlns:a16="http://schemas.microsoft.com/office/drawing/2014/main" id="{BC2604D1-F601-B03F-0241-43B8286DB096}"/>
              </a:ext>
            </a:extLst>
          </p:cNvPr>
          <p:cNvSpPr/>
          <p:nvPr/>
        </p:nvSpPr>
        <p:spPr>
          <a:xfrm>
            <a:off x="1425551" y="6547757"/>
            <a:ext cx="3581400" cy="2006547"/>
          </a:xfrm>
          <a:prstGeom prst="roundRect">
            <a:avLst>
              <a:gd name="adj" fmla="val 4706"/>
            </a:avLst>
          </a:prstGeom>
          <a:noFill/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pPr algn="ctr"/>
            <a:endParaRPr lang="et-EE" sz="2700" dirty="0"/>
          </a:p>
          <a:p>
            <a:pPr algn="ctr"/>
            <a:r>
              <a:rPr lang="et-EE" sz="3000" b="1" dirty="0">
                <a:latin typeface="Cambria" panose="02040503050406030204" pitchFamily="18" charset="0"/>
                <a:ea typeface="Cambria" panose="02040503050406030204" pitchFamily="18" charset="0"/>
              </a:rPr>
              <a:t>15 </a:t>
            </a:r>
          </a:p>
          <a:p>
            <a:pPr algn="ctr"/>
            <a:r>
              <a:rPr lang="et-EE" sz="3000" b="1" dirty="0">
                <a:latin typeface="Cambria" panose="02040503050406030204" pitchFamily="18" charset="0"/>
                <a:ea typeface="Cambria" panose="02040503050406030204" pitchFamily="18" charset="0"/>
              </a:rPr>
              <a:t>maakonda</a:t>
            </a:r>
          </a:p>
        </p:txBody>
      </p:sp>
      <p:sp>
        <p:nvSpPr>
          <p:cNvPr id="40" name="Kaart">
            <a:extLst>
              <a:ext uri="{FF2B5EF4-FFF2-40B4-BE49-F238E27FC236}">
                <a16:creationId xmlns:a16="http://schemas.microsoft.com/office/drawing/2014/main" id="{6226989A-FE54-45E6-E06F-677E366DBB54}"/>
              </a:ext>
            </a:extLst>
          </p:cNvPr>
          <p:cNvSpPr/>
          <p:nvPr/>
        </p:nvSpPr>
        <p:spPr>
          <a:xfrm>
            <a:off x="13022444" y="6520543"/>
            <a:ext cx="3581400" cy="2006547"/>
          </a:xfrm>
          <a:prstGeom prst="roundRect">
            <a:avLst>
              <a:gd name="adj" fmla="val 4706"/>
            </a:avLst>
          </a:prstGeom>
          <a:noFill/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pPr algn="ctr"/>
            <a:endParaRPr lang="et-EE" sz="2700" dirty="0"/>
          </a:p>
          <a:p>
            <a:pPr algn="ctr"/>
            <a:r>
              <a:rPr lang="et-EE" sz="3000" b="1" dirty="0">
                <a:latin typeface="Cambria" panose="02040503050406030204" pitchFamily="18" charset="0"/>
                <a:ea typeface="Cambria" panose="02040503050406030204" pitchFamily="18" charset="0"/>
              </a:rPr>
              <a:t>3 kasutajarakendust</a:t>
            </a:r>
          </a:p>
        </p:txBody>
      </p:sp>
      <p:sp>
        <p:nvSpPr>
          <p:cNvPr id="42" name="Kaart">
            <a:extLst>
              <a:ext uri="{FF2B5EF4-FFF2-40B4-BE49-F238E27FC236}">
                <a16:creationId xmlns:a16="http://schemas.microsoft.com/office/drawing/2014/main" id="{3DE2DB34-E208-A717-DA23-649DFF912261}"/>
              </a:ext>
            </a:extLst>
          </p:cNvPr>
          <p:cNvSpPr/>
          <p:nvPr/>
        </p:nvSpPr>
        <p:spPr>
          <a:xfrm>
            <a:off x="5220381" y="6547757"/>
            <a:ext cx="3581400" cy="2006547"/>
          </a:xfrm>
          <a:prstGeom prst="roundRect">
            <a:avLst>
              <a:gd name="adj" fmla="val 4706"/>
            </a:avLst>
          </a:prstGeom>
          <a:noFill/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pPr algn="ctr"/>
            <a:endParaRPr lang="et-EE" sz="2700" dirty="0"/>
          </a:p>
          <a:p>
            <a:pPr algn="ctr"/>
            <a:r>
              <a:rPr lang="et-EE" sz="3000" b="1" dirty="0">
                <a:latin typeface="Cambria" panose="02040503050406030204" pitchFamily="18" charset="0"/>
                <a:ea typeface="Cambria" panose="02040503050406030204" pitchFamily="18" charset="0"/>
              </a:rPr>
              <a:t>2005-2026 vaatlusperiood</a:t>
            </a:r>
          </a:p>
        </p:txBody>
      </p:sp>
      <p:sp>
        <p:nvSpPr>
          <p:cNvPr id="44" name="Kaart">
            <a:extLst>
              <a:ext uri="{FF2B5EF4-FFF2-40B4-BE49-F238E27FC236}">
                <a16:creationId xmlns:a16="http://schemas.microsoft.com/office/drawing/2014/main" id="{59810C2E-DDC8-C6F9-453E-5490CACE6EB6}"/>
              </a:ext>
            </a:extLst>
          </p:cNvPr>
          <p:cNvSpPr/>
          <p:nvPr/>
        </p:nvSpPr>
        <p:spPr>
          <a:xfrm>
            <a:off x="9121140" y="6547757"/>
            <a:ext cx="3581400" cy="2006547"/>
          </a:xfrm>
          <a:prstGeom prst="roundRect">
            <a:avLst>
              <a:gd name="adj" fmla="val 4706"/>
            </a:avLst>
          </a:prstGeom>
          <a:noFill/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pPr algn="ctr"/>
            <a:endParaRPr lang="et-EE" sz="2700" dirty="0"/>
          </a:p>
          <a:p>
            <a:pPr algn="ctr"/>
            <a:r>
              <a:rPr lang="et-EE" sz="3000" b="1" dirty="0">
                <a:latin typeface="Cambria" panose="02040503050406030204" pitchFamily="18" charset="0"/>
                <a:ea typeface="Cambria" panose="02040503050406030204" pitchFamily="18" charset="0"/>
              </a:rPr>
              <a:t>3 </a:t>
            </a:r>
          </a:p>
          <a:p>
            <a:pPr algn="ctr"/>
            <a:r>
              <a:rPr lang="et-EE" sz="3000" b="1" dirty="0">
                <a:latin typeface="Cambria" panose="02040503050406030204" pitchFamily="18" charset="0"/>
                <a:ea typeface="Cambria" panose="02040503050406030204" pitchFamily="18" charset="0"/>
              </a:rPr>
              <a:t>andmeallikat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alkiri"/>
          <p:cNvSpPr txBox="1"/>
          <p:nvPr/>
        </p:nvSpPr>
        <p:spPr>
          <a:xfrm>
            <a:off x="822960" y="548640"/>
            <a:ext cx="16596360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1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Andmevoog allikatest raportini</a:t>
            </a:r>
            <a:endParaRPr lang="en-US" sz="5100" dirty="0"/>
          </a:p>
        </p:txBody>
      </p:sp>
      <p:sp>
        <p:nvSpPr>
          <p:cNvPr id="4" name="Skeemi raam"/>
          <p:cNvSpPr/>
          <p:nvPr/>
        </p:nvSpPr>
        <p:spPr>
          <a:xfrm>
            <a:off x="868680" y="2386584"/>
            <a:ext cx="10698480" cy="5239512"/>
          </a:xfrm>
          <a:prstGeom prst="roundRect">
            <a:avLst>
              <a:gd name="adj" fmla="val 3141"/>
            </a:avLst>
          </a:prstGeom>
          <a:solidFill>
            <a:srgbClr val="FFFFFF"/>
          </a:solidFill>
          <a:ln w="12700">
            <a:solidFill>
              <a:srgbClr val="E5D8C0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5" name="Allikate grupp"/>
          <p:cNvSpPr/>
          <p:nvPr/>
        </p:nvSpPr>
        <p:spPr>
          <a:xfrm>
            <a:off x="1165860" y="2674620"/>
            <a:ext cx="3017520" cy="4732020"/>
          </a:xfrm>
          <a:prstGeom prst="roundRect">
            <a:avLst>
              <a:gd name="adj" fmla="val 4545"/>
            </a:avLst>
          </a:prstGeom>
          <a:solidFill>
            <a:srgbClr val="EFE4CE"/>
          </a:solidFill>
          <a:ln w="15875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6" name="Text 3"/>
          <p:cNvSpPr txBox="1"/>
          <p:nvPr/>
        </p:nvSpPr>
        <p:spPr>
          <a:xfrm>
            <a:off x="1165860" y="2743200"/>
            <a:ext cx="30175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2100" b="1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Allikad</a:t>
            </a:r>
            <a:endParaRPr lang="en-US" sz="2100" dirty="0"/>
          </a:p>
        </p:txBody>
      </p:sp>
      <p:sp>
        <p:nvSpPr>
          <p:cNvPr id="7" name="Allikas"/>
          <p:cNvSpPr/>
          <p:nvPr/>
        </p:nvSpPr>
        <p:spPr>
          <a:xfrm>
            <a:off x="1371600" y="3360420"/>
            <a:ext cx="26060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8" name="Text 5"/>
          <p:cNvSpPr txBox="1"/>
          <p:nvPr/>
        </p:nvSpPr>
        <p:spPr>
          <a:xfrm>
            <a:off x="1371600" y="336042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Statistikaamet</a:t>
            </a:r>
            <a:endParaRPr lang="en-US" sz="2400" dirty="0"/>
          </a:p>
          <a:p>
            <a:pPr algn="ctr"/>
            <a:r>
              <a:rPr lang="en-US" sz="24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Palk &amp; THI</a:t>
            </a:r>
            <a:endParaRPr lang="en-US" sz="2400" dirty="0"/>
          </a:p>
        </p:txBody>
      </p:sp>
      <p:sp>
        <p:nvSpPr>
          <p:cNvPr id="9" name="Allikas"/>
          <p:cNvSpPr/>
          <p:nvPr/>
        </p:nvSpPr>
        <p:spPr>
          <a:xfrm>
            <a:off x="1371600" y="4732020"/>
            <a:ext cx="26060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10" name="Text 7"/>
          <p:cNvSpPr txBox="1"/>
          <p:nvPr/>
        </p:nvSpPr>
        <p:spPr>
          <a:xfrm>
            <a:off x="1371600" y="473202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Eesti Pank</a:t>
            </a:r>
            <a:endParaRPr lang="en-US" sz="2400" dirty="0"/>
          </a:p>
          <a:p>
            <a:pPr algn="ctr"/>
            <a:r>
              <a:rPr lang="en-US" sz="24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Intressid</a:t>
            </a:r>
            <a:endParaRPr lang="en-US" sz="2400" dirty="0"/>
          </a:p>
        </p:txBody>
      </p:sp>
      <p:sp>
        <p:nvSpPr>
          <p:cNvPr id="11" name="Allikas"/>
          <p:cNvSpPr/>
          <p:nvPr/>
        </p:nvSpPr>
        <p:spPr>
          <a:xfrm>
            <a:off x="1371600" y="6103620"/>
            <a:ext cx="26060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12" name="Text 9"/>
          <p:cNvSpPr txBox="1"/>
          <p:nvPr/>
        </p:nvSpPr>
        <p:spPr>
          <a:xfrm>
            <a:off x="1371600" y="610362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0" b="1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Maa-amet</a:t>
            </a:r>
            <a:endParaRPr lang="en-US" sz="2100" dirty="0"/>
          </a:p>
          <a:p>
            <a:pPr algn="ctr"/>
            <a:r>
              <a:rPr lang="en-US" sz="24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m² hind &amp; tehingute arv</a:t>
            </a:r>
            <a:endParaRPr lang="en-US" sz="2400" dirty="0"/>
          </a:p>
        </p:txBody>
      </p:sp>
      <p:sp>
        <p:nvSpPr>
          <p:cNvPr id="13" name="Nool"/>
          <p:cNvSpPr/>
          <p:nvPr/>
        </p:nvSpPr>
        <p:spPr>
          <a:xfrm>
            <a:off x="3977640" y="3909060"/>
            <a:ext cx="754380" cy="1097280"/>
          </a:xfrm>
          <a:prstGeom prst="line">
            <a:avLst/>
          </a:prstGeom>
          <a:noFill/>
          <a:ln w="22225">
            <a:solidFill>
              <a:srgbClr val="5C5346"/>
            </a:solidFill>
            <a:prstDash val="solid"/>
            <a:tailEnd type="triangle"/>
          </a:ln>
        </p:spPr>
        <p:txBody>
          <a:bodyPr/>
          <a:lstStyle/>
          <a:p>
            <a:endParaRPr lang="et-EE" sz="2700"/>
          </a:p>
        </p:txBody>
      </p:sp>
      <p:sp>
        <p:nvSpPr>
          <p:cNvPr id="14" name="Nool"/>
          <p:cNvSpPr/>
          <p:nvPr/>
        </p:nvSpPr>
        <p:spPr>
          <a:xfrm>
            <a:off x="3977640" y="5280660"/>
            <a:ext cx="754380" cy="0"/>
          </a:xfrm>
          <a:prstGeom prst="line">
            <a:avLst/>
          </a:prstGeom>
          <a:noFill/>
          <a:ln w="22225">
            <a:solidFill>
              <a:srgbClr val="5C5346"/>
            </a:solidFill>
            <a:prstDash val="solid"/>
            <a:tailEnd type="triangle"/>
          </a:ln>
        </p:spPr>
        <p:txBody>
          <a:bodyPr/>
          <a:lstStyle/>
          <a:p>
            <a:endParaRPr lang="et-EE" sz="2700"/>
          </a:p>
        </p:txBody>
      </p:sp>
      <p:sp>
        <p:nvSpPr>
          <p:cNvPr id="15" name="Nool"/>
          <p:cNvSpPr/>
          <p:nvPr/>
        </p:nvSpPr>
        <p:spPr>
          <a:xfrm flipV="1">
            <a:off x="3977640" y="5554980"/>
            <a:ext cx="754380" cy="1097280"/>
          </a:xfrm>
          <a:prstGeom prst="line">
            <a:avLst/>
          </a:prstGeom>
          <a:noFill/>
          <a:ln w="22225">
            <a:solidFill>
              <a:srgbClr val="5C5346"/>
            </a:solidFill>
            <a:prstDash val="solid"/>
            <a:tailEnd type="triangle"/>
          </a:ln>
        </p:spPr>
        <p:txBody>
          <a:bodyPr/>
          <a:lstStyle/>
          <a:p>
            <a:endParaRPr lang="et-EE" sz="2700"/>
          </a:p>
        </p:txBody>
      </p:sp>
      <p:sp>
        <p:nvSpPr>
          <p:cNvPr id="16" name="Etapp"/>
          <p:cNvSpPr/>
          <p:nvPr/>
        </p:nvSpPr>
        <p:spPr>
          <a:xfrm>
            <a:off x="4800600" y="4389120"/>
            <a:ext cx="2057400" cy="1783080"/>
          </a:xfrm>
          <a:prstGeom prst="roundRect">
            <a:avLst>
              <a:gd name="adj" fmla="val 7692"/>
            </a:avLst>
          </a:prstGeom>
          <a:solidFill>
            <a:srgbClr val="EADBC2"/>
          </a:solidFill>
          <a:ln w="12700">
            <a:solidFill>
              <a:srgbClr val="E0D0B0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17" name="Text 14"/>
          <p:cNvSpPr txBox="1"/>
          <p:nvPr/>
        </p:nvSpPr>
        <p:spPr>
          <a:xfrm>
            <a:off x="4869180" y="4389120"/>
            <a:ext cx="1920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spcAft>
                <a:spcPts val="600"/>
              </a:spcAft>
            </a:pPr>
            <a:r>
              <a:rPr lang="en-US" sz="24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Laadimine &amp; Rikastamine</a:t>
            </a:r>
            <a:endParaRPr lang="en-US" sz="2400" dirty="0"/>
          </a:p>
          <a:p>
            <a:pPr algn="ctr"/>
            <a:r>
              <a:rPr lang="en-US" sz="2400" b="1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2400" dirty="0"/>
          </a:p>
        </p:txBody>
      </p:sp>
      <p:sp>
        <p:nvSpPr>
          <p:cNvPr id="18" name="Nool"/>
          <p:cNvSpPr/>
          <p:nvPr/>
        </p:nvSpPr>
        <p:spPr>
          <a:xfrm>
            <a:off x="6858000" y="5280660"/>
            <a:ext cx="137160" cy="0"/>
          </a:xfrm>
          <a:prstGeom prst="line">
            <a:avLst/>
          </a:prstGeom>
          <a:noFill/>
          <a:ln w="22225">
            <a:solidFill>
              <a:srgbClr val="5C5346"/>
            </a:solidFill>
            <a:prstDash val="solid"/>
            <a:tailEnd type="triangle"/>
          </a:ln>
        </p:spPr>
        <p:txBody>
          <a:bodyPr/>
          <a:lstStyle/>
          <a:p>
            <a:endParaRPr lang="et-EE" sz="2700"/>
          </a:p>
        </p:txBody>
      </p:sp>
      <p:sp>
        <p:nvSpPr>
          <p:cNvPr id="19" name="Etapp"/>
          <p:cNvSpPr/>
          <p:nvPr/>
        </p:nvSpPr>
        <p:spPr>
          <a:xfrm>
            <a:off x="6995160" y="4389120"/>
            <a:ext cx="2057400" cy="1783080"/>
          </a:xfrm>
          <a:prstGeom prst="roundRect">
            <a:avLst>
              <a:gd name="adj" fmla="val 7692"/>
            </a:avLst>
          </a:prstGeom>
          <a:solidFill>
            <a:srgbClr val="F3EADA"/>
          </a:solidFill>
          <a:ln w="12700">
            <a:solidFill>
              <a:srgbClr val="E0D0B0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20" name="Text 17"/>
          <p:cNvSpPr txBox="1"/>
          <p:nvPr/>
        </p:nvSpPr>
        <p:spPr>
          <a:xfrm>
            <a:off x="7018020" y="4389120"/>
            <a:ext cx="1920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spcAft>
                <a:spcPts val="600"/>
              </a:spcAft>
            </a:pPr>
            <a:r>
              <a:rPr lang="en-US" sz="24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Töötlus &amp; Tähtskeem</a:t>
            </a:r>
            <a:endParaRPr lang="en-US" sz="2400" dirty="0"/>
          </a:p>
          <a:p>
            <a:pPr algn="ctr"/>
            <a:r>
              <a:rPr lang="en-US" sz="2400" b="1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2400" dirty="0"/>
          </a:p>
        </p:txBody>
      </p:sp>
      <p:sp>
        <p:nvSpPr>
          <p:cNvPr id="21" name="Nool"/>
          <p:cNvSpPr/>
          <p:nvPr/>
        </p:nvSpPr>
        <p:spPr>
          <a:xfrm>
            <a:off x="9052560" y="5280660"/>
            <a:ext cx="137160" cy="0"/>
          </a:xfrm>
          <a:prstGeom prst="line">
            <a:avLst/>
          </a:prstGeom>
          <a:noFill/>
          <a:ln w="22225">
            <a:solidFill>
              <a:srgbClr val="5C5346"/>
            </a:solidFill>
            <a:prstDash val="solid"/>
            <a:tailEnd type="triangle"/>
          </a:ln>
        </p:spPr>
        <p:txBody>
          <a:bodyPr/>
          <a:lstStyle/>
          <a:p>
            <a:endParaRPr lang="et-EE" sz="2700"/>
          </a:p>
        </p:txBody>
      </p:sp>
      <p:sp>
        <p:nvSpPr>
          <p:cNvPr id="22" name="Etapp"/>
          <p:cNvSpPr/>
          <p:nvPr/>
        </p:nvSpPr>
        <p:spPr>
          <a:xfrm>
            <a:off x="9189720" y="4389120"/>
            <a:ext cx="2057400" cy="1783080"/>
          </a:xfrm>
          <a:prstGeom prst="roundRect">
            <a:avLst>
              <a:gd name="adj" fmla="val 7692"/>
            </a:avLst>
          </a:prstGeom>
          <a:solidFill>
            <a:srgbClr val="FAF6EE"/>
          </a:solidFill>
          <a:ln w="12700">
            <a:solidFill>
              <a:srgbClr val="E0D0B0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23" name="Text 20"/>
          <p:cNvSpPr txBox="1"/>
          <p:nvPr/>
        </p:nvSpPr>
        <p:spPr>
          <a:xfrm>
            <a:off x="9258300" y="4389120"/>
            <a:ext cx="1920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spcAft>
                <a:spcPts val="600"/>
              </a:spcAft>
            </a:pPr>
            <a:r>
              <a:rPr lang="en-US" sz="24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Analüüs &amp; Raport</a:t>
            </a:r>
            <a:endParaRPr lang="en-US" sz="2400" dirty="0"/>
          </a:p>
          <a:p>
            <a:pPr algn="ctr"/>
            <a:r>
              <a:rPr lang="en-US" sz="2400" b="1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Desktop</a:t>
            </a:r>
            <a:endParaRPr lang="en-US" sz="2400" b="1" dirty="0"/>
          </a:p>
        </p:txBody>
      </p:sp>
      <p:sp>
        <p:nvSpPr>
          <p:cNvPr id="24" name="Text 21"/>
          <p:cNvSpPr txBox="1"/>
          <p:nvPr/>
        </p:nvSpPr>
        <p:spPr>
          <a:xfrm>
            <a:off x="12070080" y="2626994"/>
            <a:ext cx="5349240" cy="4999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t-EE" sz="2400" b="1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Failid</a:t>
            </a:r>
            <a:r>
              <a:rPr lang="et-EE" sz="2400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 kolmest avalikust allikast (</a:t>
            </a:r>
            <a:r>
              <a:rPr lang="et-EE" sz="240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cs</a:t>
            </a:r>
            <a:r>
              <a:rPr lang="et-EE" sz="2400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v)</a:t>
            </a:r>
          </a:p>
          <a:p>
            <a:endParaRPr lang="et-EE" sz="2400" noProof="0" dirty="0">
              <a:solidFill>
                <a:srgbClr val="2F2B26"/>
              </a:solidFill>
              <a:latin typeface="Cambria" panose="02040503050406030204" pitchFamily="18" charset="0"/>
              <a:ea typeface="Cambria" panose="02040503050406030204" pitchFamily="18" charset="0"/>
              <a:cs typeface="Calibri" pitchFamily="34" charset="-120"/>
            </a:endParaRPr>
          </a:p>
          <a:p>
            <a:r>
              <a:rPr lang="et-EE" sz="2400" b="1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Python</a:t>
            </a:r>
            <a:r>
              <a:rPr lang="et-EE" sz="2400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 – andmete laadimine, puhastamine ja rikastamine</a:t>
            </a:r>
          </a:p>
          <a:p>
            <a:endParaRPr lang="et-EE" sz="2400" noProof="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t-EE" sz="2400" b="1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PostgreSQL</a:t>
            </a:r>
            <a:r>
              <a:rPr lang="et-EE" sz="2400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 – töötlus ja tähtskeem </a:t>
            </a:r>
          </a:p>
          <a:p>
            <a:r>
              <a:rPr lang="et-EE" sz="2400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(skeem grupitoo_kv)</a:t>
            </a:r>
          </a:p>
          <a:p>
            <a:endParaRPr lang="et-EE" sz="2400" noProof="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t-EE" sz="2400" b="1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Power BI Desktop</a:t>
            </a:r>
            <a:r>
              <a:rPr lang="et-EE" sz="2400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 – analüüs ja raport</a:t>
            </a:r>
          </a:p>
          <a:p>
            <a:endParaRPr lang="et-EE" sz="2400" dirty="0">
              <a:solidFill>
                <a:srgbClr val="2F2B26"/>
              </a:solidFill>
              <a:latin typeface="Cambria" panose="02040503050406030204" pitchFamily="18" charset="0"/>
              <a:ea typeface="Cambria" panose="02040503050406030204" pitchFamily="18" charset="0"/>
              <a:cs typeface="Calibri" pitchFamily="34" charset="-120"/>
            </a:endParaRPr>
          </a:p>
          <a:p>
            <a:r>
              <a:rPr lang="et-EE" sz="2400" b="1" noProof="0" dirty="0">
                <a:latin typeface="Cambria" panose="02040503050406030204" pitchFamily="18" charset="0"/>
                <a:ea typeface="Cambria" panose="02040503050406030204" pitchFamily="18" charset="0"/>
              </a:rPr>
              <a:t>Streamlit</a:t>
            </a:r>
            <a:r>
              <a:rPr lang="et-EE" sz="2400" noProof="0" dirty="0">
                <a:latin typeface="Cambria" panose="02040503050406030204" pitchFamily="18" charset="0"/>
                <a:ea typeface="Cambria" panose="02040503050406030204" pitchFamily="18" charset="0"/>
              </a:rPr>
              <a:t> – interaktiivsed veebirakendused</a:t>
            </a:r>
          </a:p>
          <a:p>
            <a:endParaRPr lang="et-EE" sz="24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t-EE" sz="2400" b="1" noProof="0" dirty="0">
                <a:latin typeface="Cambria" panose="02040503050406030204" pitchFamily="18" charset="0"/>
                <a:ea typeface="Cambria" panose="02040503050406030204" pitchFamily="18" charset="0"/>
              </a:rPr>
              <a:t>Github</a:t>
            </a:r>
            <a:r>
              <a:rPr lang="et-EE" sz="2400" dirty="0">
                <a:latin typeface="Cambria" panose="02040503050406030204" pitchFamily="18" charset="0"/>
                <a:ea typeface="Cambria" panose="02040503050406030204" pitchFamily="18" charset="0"/>
              </a:rPr>
              <a:t> - projektihaldus</a:t>
            </a:r>
            <a:endParaRPr lang="et-EE" sz="2400" noProof="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endParaRPr lang="et-EE" sz="2400" noProof="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596360" y="9601200"/>
            <a:ext cx="822960" cy="4114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500">
                <a:solidFill>
                  <a:srgbClr val="6B64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alkiri"/>
          <p:cNvSpPr txBox="1"/>
          <p:nvPr/>
        </p:nvSpPr>
        <p:spPr>
          <a:xfrm>
            <a:off x="845820" y="883312"/>
            <a:ext cx="16596360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t-EE" sz="5100" b="1" noProof="0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Andmetöötlus  ja väljakutsed</a:t>
            </a:r>
          </a:p>
          <a:p>
            <a:pPr algn="ctr">
              <a:buSzPct val="100000"/>
            </a:pPr>
            <a:r>
              <a:rPr lang="et-EE" sz="2400" noProof="0" dirty="0">
                <a:solidFill>
                  <a:srgbClr val="2F2B26"/>
                </a:solidFill>
                <a:ea typeface="Calibri" pitchFamily="34" charset="-122"/>
                <a:cs typeface="Calibri" pitchFamily="34" charset="-120"/>
              </a:rPr>
              <a:t>Andmed seisuga september 2026</a:t>
            </a:r>
            <a:endParaRPr lang="et-EE" sz="2400" noProof="0" dirty="0"/>
          </a:p>
          <a:p>
            <a:pPr algn="ctr"/>
            <a:endParaRPr lang="en-US" sz="5100" dirty="0"/>
          </a:p>
        </p:txBody>
      </p:sp>
      <p:sp>
        <p:nvSpPr>
          <p:cNvPr id="4" name="Kaart"/>
          <p:cNvSpPr/>
          <p:nvPr/>
        </p:nvSpPr>
        <p:spPr>
          <a:xfrm>
            <a:off x="822960" y="2400300"/>
            <a:ext cx="5212080" cy="6652260"/>
          </a:xfrm>
          <a:prstGeom prst="roundRect">
            <a:avLst>
              <a:gd name="adj" fmla="val 3158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5" name="Ikooni taust"/>
          <p:cNvSpPr/>
          <p:nvPr/>
        </p:nvSpPr>
        <p:spPr>
          <a:xfrm>
            <a:off x="1234440" y="2743200"/>
            <a:ext cx="891540" cy="89154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6" name="Image 0" descr="FaCheckCirc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242" y="2975002"/>
            <a:ext cx="427940" cy="4279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263140" y="2743200"/>
            <a:ext cx="349758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Andmekvaliteet</a:t>
            </a:r>
            <a:endParaRPr lang="en-US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1234440" y="3977640"/>
            <a:ext cx="4389120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spcAft>
                <a:spcPts val="900"/>
              </a:spcAft>
              <a:buSzPct val="100000"/>
              <a:buChar char="•"/>
            </a:pPr>
            <a:r>
              <a:rPr lang="et-EE" sz="2400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Avalikud andmed, kvaliteet väga hea</a:t>
            </a:r>
          </a:p>
          <a:p>
            <a:pPr>
              <a:spcAft>
                <a:spcPts val="900"/>
              </a:spcAft>
              <a:buSzPct val="100000"/>
            </a:pPr>
            <a:endParaRPr lang="et-EE" sz="2400" noProof="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66700" indent="-266700">
              <a:spcAft>
                <a:spcPts val="900"/>
              </a:spcAft>
              <a:buSzPct val="100000"/>
              <a:buFontTx/>
              <a:buChar char="•"/>
            </a:pPr>
            <a:r>
              <a:rPr lang="et-EE" sz="2400" noProof="0" dirty="0">
                <a:solidFill>
                  <a:srgbClr val="424242"/>
                </a:solidFill>
                <a:latin typeface="Cambria" panose="02040503050406030204" pitchFamily="18" charset="0"/>
                <a:ea typeface="Cambria" panose="02040503050406030204" pitchFamily="18" charset="0"/>
                <a:cs typeface="Agrandir"/>
                <a:sym typeface="Agrandir"/>
              </a:rPr>
              <a:t>Puuduvad väärtused: </a:t>
            </a:r>
            <a:r>
              <a:rPr lang="et-EE" sz="2400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Hiiu maakonnal puudub kolm kvartalit (tehinguid alla 5): rida 2009 IV puudub, hinnad puuduvad 2010 ja 2014 I – jäetud null-väärtusega</a:t>
            </a:r>
            <a:endParaRPr lang="et-EE" sz="2400" noProof="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Kaart"/>
          <p:cNvSpPr/>
          <p:nvPr/>
        </p:nvSpPr>
        <p:spPr>
          <a:xfrm>
            <a:off x="6515100" y="2400300"/>
            <a:ext cx="5212080" cy="6652260"/>
          </a:xfrm>
          <a:prstGeom prst="roundRect">
            <a:avLst>
              <a:gd name="adj" fmla="val 3158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10" name="Ikooni taust"/>
          <p:cNvSpPr/>
          <p:nvPr/>
        </p:nvSpPr>
        <p:spPr>
          <a:xfrm>
            <a:off x="6926580" y="2743200"/>
            <a:ext cx="891540" cy="89154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11" name="Image 1" descr="FaSync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8382" y="2975002"/>
            <a:ext cx="427940" cy="4279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955280" y="2743200"/>
            <a:ext cx="349758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Transformeerimine</a:t>
            </a:r>
            <a:endParaRPr lang="en-US" sz="3000" dirty="0"/>
          </a:p>
        </p:txBody>
      </p:sp>
      <p:sp>
        <p:nvSpPr>
          <p:cNvPr id="13" name="Text 8"/>
          <p:cNvSpPr txBox="1"/>
          <p:nvPr/>
        </p:nvSpPr>
        <p:spPr>
          <a:xfrm>
            <a:off x="6926580" y="3977640"/>
            <a:ext cx="4389120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spcAft>
                <a:spcPts val="900"/>
              </a:spcAft>
              <a:buSzPct val="100000"/>
              <a:buChar char="•"/>
            </a:pPr>
            <a:r>
              <a:rPr lang="et-EE" sz="2400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Laiaformaadilised tabelid Pythonis pikaformaadi­liseks – vajalik JOIN-</a:t>
            </a:r>
            <a:r>
              <a:rPr lang="et-EE" sz="2400" noProof="0" dirty="0" err="1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ideks</a:t>
            </a:r>
            <a:r>
              <a:rPr lang="et-EE" sz="2400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 ja Power BI tähtskeemi jaoks.</a:t>
            </a:r>
          </a:p>
          <a:p>
            <a:pPr>
              <a:spcAft>
                <a:spcPts val="900"/>
              </a:spcAft>
              <a:buSzPct val="100000"/>
            </a:pPr>
            <a:endParaRPr lang="et-EE" sz="2400" noProof="0" dirty="0">
              <a:solidFill>
                <a:srgbClr val="424242"/>
              </a:solidFill>
              <a:latin typeface="Cambria" panose="02040503050406030204" pitchFamily="18" charset="0"/>
              <a:ea typeface="Cambria" panose="02040503050406030204" pitchFamily="18" charset="0"/>
              <a:cs typeface="Calibri" pitchFamily="34" charset="-120"/>
              <a:sym typeface="Agrandir Bold"/>
            </a:endParaRPr>
          </a:p>
          <a:p>
            <a:pPr marL="266700" indent="-266700">
              <a:spcAft>
                <a:spcPts val="900"/>
              </a:spcAft>
              <a:buSzPct val="100000"/>
              <a:buFontTx/>
              <a:buChar char="•"/>
            </a:pPr>
            <a:r>
              <a:rPr lang="et-EE" sz="2400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Kolme palgatabeli ühendamine ja duplikaatide eemaldamine. </a:t>
            </a:r>
            <a:endParaRPr lang="et-EE" sz="2400" noProof="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Kaart"/>
          <p:cNvSpPr/>
          <p:nvPr/>
        </p:nvSpPr>
        <p:spPr>
          <a:xfrm>
            <a:off x="12207240" y="2400300"/>
            <a:ext cx="5212080" cy="6652260"/>
          </a:xfrm>
          <a:prstGeom prst="roundRect">
            <a:avLst>
              <a:gd name="adj" fmla="val 3158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15" name="Ikooni taust"/>
          <p:cNvSpPr/>
          <p:nvPr/>
        </p:nvSpPr>
        <p:spPr>
          <a:xfrm>
            <a:off x="12618720" y="2743200"/>
            <a:ext cx="891540" cy="891540"/>
          </a:xfrm>
          <a:prstGeom prst="ellipse">
            <a:avLst/>
          </a:prstGeom>
          <a:solidFill>
            <a:srgbClr val="D2BC94"/>
          </a:solidFill>
          <a:ln w="12700">
            <a:solidFill>
              <a:srgbClr val="D2BC94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pic>
        <p:nvPicPr>
          <p:cNvPr id="16" name="Image 2" descr="FaPlusCircl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50522" y="2975002"/>
            <a:ext cx="427940" cy="42794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647420" y="2743200"/>
            <a:ext cx="349758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Rikastamine</a:t>
            </a:r>
            <a:endParaRPr lang="en-US" sz="3000" dirty="0"/>
          </a:p>
        </p:txBody>
      </p:sp>
      <p:sp>
        <p:nvSpPr>
          <p:cNvPr id="18" name="Text 12"/>
          <p:cNvSpPr txBox="1"/>
          <p:nvPr/>
        </p:nvSpPr>
        <p:spPr>
          <a:xfrm>
            <a:off x="12618720" y="3977640"/>
            <a:ext cx="4389120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spcAft>
                <a:spcPts val="900"/>
              </a:spcAft>
              <a:buSzPct val="100000"/>
              <a:buChar char="•"/>
            </a:pPr>
            <a:r>
              <a:rPr lang="et-EE" sz="2400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THI ja intressi kuised väärtused → kvartali keskmine</a:t>
            </a:r>
          </a:p>
          <a:p>
            <a:pPr>
              <a:spcAft>
                <a:spcPts val="900"/>
              </a:spcAft>
              <a:buSzPct val="100000"/>
            </a:pPr>
            <a:endParaRPr lang="et-EE" sz="2400" noProof="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66700" indent="-266700">
              <a:spcAft>
                <a:spcPts val="900"/>
              </a:spcAft>
              <a:buSzPct val="100000"/>
              <a:buChar char="•"/>
            </a:pPr>
            <a:r>
              <a:rPr lang="et-EE" sz="2400" noProof="0" dirty="0">
                <a:solidFill>
                  <a:srgbClr val="2F2B26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Igale faktitabelile quarter_id veerg (aasta + kvartali alguse kuu ja päev), et ühendada SQL-is tabeliga dim_time</a:t>
            </a:r>
            <a:endParaRPr lang="et-EE" sz="2400" noProof="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596360" y="9601200"/>
            <a:ext cx="822960" cy="4114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500">
                <a:solidFill>
                  <a:srgbClr val="6B64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alkiri"/>
          <p:cNvSpPr txBox="1"/>
          <p:nvPr/>
        </p:nvSpPr>
        <p:spPr>
          <a:xfrm>
            <a:off x="822960" y="548640"/>
            <a:ext cx="16596360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1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Andmemudel: SQL tähtskeem</a:t>
            </a:r>
            <a:endParaRPr lang="en-US" sz="5100" dirty="0"/>
          </a:p>
        </p:txBody>
      </p:sp>
      <p:sp>
        <p:nvSpPr>
          <p:cNvPr id="4" name="Tabel Palk"/>
          <p:cNvSpPr/>
          <p:nvPr/>
        </p:nvSpPr>
        <p:spPr>
          <a:xfrm>
            <a:off x="6816852" y="2057400"/>
            <a:ext cx="4663440" cy="2249424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5875">
            <a:solidFill>
              <a:srgbClr val="D8C3A0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5" name="Päis Palk"/>
          <p:cNvSpPr/>
          <p:nvPr/>
        </p:nvSpPr>
        <p:spPr>
          <a:xfrm>
            <a:off x="6816852" y="2057400"/>
            <a:ext cx="4663440" cy="685800"/>
          </a:xfrm>
          <a:prstGeom prst="roundRect">
            <a:avLst>
              <a:gd name="adj" fmla="val 16000"/>
            </a:avLst>
          </a:prstGeom>
          <a:solidFill>
            <a:srgbClr val="EADBC2"/>
          </a:solidFill>
          <a:ln w="12700">
            <a:solidFill>
              <a:srgbClr val="EADBC2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6" name="Text 3"/>
          <p:cNvSpPr txBox="1"/>
          <p:nvPr/>
        </p:nvSpPr>
        <p:spPr>
          <a:xfrm>
            <a:off x="7063740" y="2057400"/>
            <a:ext cx="3086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Palk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9834372" y="2057400"/>
            <a:ext cx="14401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50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FAKT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063740" y="2811780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7667244" y="2811780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Keskmine_palk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063740" y="3278124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1650" dirty="0"/>
          </a:p>
        </p:txBody>
      </p:sp>
      <p:sp>
        <p:nvSpPr>
          <p:cNvPr id="11" name="Text 8"/>
          <p:cNvSpPr txBox="1"/>
          <p:nvPr/>
        </p:nvSpPr>
        <p:spPr>
          <a:xfrm>
            <a:off x="7667244" y="3278124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Võõrvõti_kvartali_id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7063740" y="3744468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1650" dirty="0"/>
          </a:p>
        </p:txBody>
      </p:sp>
      <p:sp>
        <p:nvSpPr>
          <p:cNvPr id="13" name="Text 10"/>
          <p:cNvSpPr txBox="1"/>
          <p:nvPr/>
        </p:nvSpPr>
        <p:spPr>
          <a:xfrm>
            <a:off x="7667244" y="3744468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Võõrvõti_maakonna_id</a:t>
            </a:r>
            <a:endParaRPr lang="en-US" sz="2100" dirty="0"/>
          </a:p>
        </p:txBody>
      </p:sp>
      <p:sp>
        <p:nvSpPr>
          <p:cNvPr id="14" name="Tabel Maakond"/>
          <p:cNvSpPr/>
          <p:nvPr/>
        </p:nvSpPr>
        <p:spPr>
          <a:xfrm>
            <a:off x="822960" y="2331720"/>
            <a:ext cx="4663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875">
            <a:solidFill>
              <a:srgbClr val="D8C3A0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15" name="Päis Maakond"/>
          <p:cNvSpPr/>
          <p:nvPr/>
        </p:nvSpPr>
        <p:spPr>
          <a:xfrm>
            <a:off x="822960" y="2331720"/>
            <a:ext cx="4663440" cy="685800"/>
          </a:xfrm>
          <a:prstGeom prst="roundRect">
            <a:avLst>
              <a:gd name="adj" fmla="val 16000"/>
            </a:avLst>
          </a:prstGeom>
          <a:solidFill>
            <a:srgbClr val="F3EADA"/>
          </a:solidFill>
          <a:ln w="12700">
            <a:solidFill>
              <a:srgbClr val="F3EADA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16" name="Text 13"/>
          <p:cNvSpPr txBox="1"/>
          <p:nvPr/>
        </p:nvSpPr>
        <p:spPr>
          <a:xfrm>
            <a:off x="1069848" y="2331720"/>
            <a:ext cx="3086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Maakond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331720"/>
            <a:ext cx="14401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50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DIMENSIOON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069848" y="3086100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50" dirty="0"/>
          </a:p>
        </p:txBody>
      </p:sp>
      <p:sp>
        <p:nvSpPr>
          <p:cNvPr id="19" name="Text 16"/>
          <p:cNvSpPr txBox="1"/>
          <p:nvPr/>
        </p:nvSpPr>
        <p:spPr>
          <a:xfrm>
            <a:off x="1673352" y="3086100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Maakonna_nimi</a:t>
            </a:r>
            <a:endParaRPr lang="en-US" sz="2100" dirty="0"/>
          </a:p>
        </p:txBody>
      </p:sp>
      <p:sp>
        <p:nvSpPr>
          <p:cNvPr id="20" name="Text 17"/>
          <p:cNvSpPr txBox="1"/>
          <p:nvPr/>
        </p:nvSpPr>
        <p:spPr>
          <a:xfrm>
            <a:off x="1069848" y="3552444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1673352" y="3552444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Põhivõti_maakonna_id</a:t>
            </a:r>
            <a:endParaRPr lang="en-US" sz="2100" dirty="0"/>
          </a:p>
        </p:txBody>
      </p:sp>
      <p:sp>
        <p:nvSpPr>
          <p:cNvPr id="22" name="Tabel Aeg"/>
          <p:cNvSpPr/>
          <p:nvPr/>
        </p:nvSpPr>
        <p:spPr>
          <a:xfrm>
            <a:off x="6816852" y="5143500"/>
            <a:ext cx="4663440" cy="318211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5875">
            <a:solidFill>
              <a:srgbClr val="D8C3A0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23" name="Päis Aeg"/>
          <p:cNvSpPr/>
          <p:nvPr/>
        </p:nvSpPr>
        <p:spPr>
          <a:xfrm>
            <a:off x="6816852" y="5143500"/>
            <a:ext cx="4663440" cy="685800"/>
          </a:xfrm>
          <a:prstGeom prst="roundRect">
            <a:avLst>
              <a:gd name="adj" fmla="val 16000"/>
            </a:avLst>
          </a:prstGeom>
          <a:solidFill>
            <a:srgbClr val="F3EADA"/>
          </a:solidFill>
          <a:ln w="12700">
            <a:solidFill>
              <a:srgbClr val="F3EADA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24" name="Text 21"/>
          <p:cNvSpPr txBox="1"/>
          <p:nvPr/>
        </p:nvSpPr>
        <p:spPr>
          <a:xfrm>
            <a:off x="7063740" y="5143500"/>
            <a:ext cx="3086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Aeg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9834372" y="5143500"/>
            <a:ext cx="14401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50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DIMENSIOON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7063740" y="5897880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50" dirty="0"/>
          </a:p>
        </p:txBody>
      </p:sp>
      <p:sp>
        <p:nvSpPr>
          <p:cNvPr id="27" name="Text 24"/>
          <p:cNvSpPr txBox="1"/>
          <p:nvPr/>
        </p:nvSpPr>
        <p:spPr>
          <a:xfrm>
            <a:off x="7667244" y="5897880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Aasta</a:t>
            </a:r>
            <a:endParaRPr lang="en-US" sz="2100" dirty="0"/>
          </a:p>
        </p:txBody>
      </p:sp>
      <p:sp>
        <p:nvSpPr>
          <p:cNvPr id="28" name="Text 25"/>
          <p:cNvSpPr txBox="1"/>
          <p:nvPr/>
        </p:nvSpPr>
        <p:spPr>
          <a:xfrm>
            <a:off x="7063740" y="6364224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50" dirty="0"/>
          </a:p>
        </p:txBody>
      </p:sp>
      <p:sp>
        <p:nvSpPr>
          <p:cNvPr id="29" name="Text 26"/>
          <p:cNvSpPr txBox="1"/>
          <p:nvPr/>
        </p:nvSpPr>
        <p:spPr>
          <a:xfrm>
            <a:off x="7667244" y="6364224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Kvartali_aasta_lõikes</a:t>
            </a:r>
            <a:endParaRPr lang="en-US" sz="2100" dirty="0"/>
          </a:p>
        </p:txBody>
      </p:sp>
      <p:sp>
        <p:nvSpPr>
          <p:cNvPr id="30" name="Text 27"/>
          <p:cNvSpPr txBox="1"/>
          <p:nvPr/>
        </p:nvSpPr>
        <p:spPr>
          <a:xfrm>
            <a:off x="7063740" y="6830568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50" dirty="0"/>
          </a:p>
        </p:txBody>
      </p:sp>
      <p:sp>
        <p:nvSpPr>
          <p:cNvPr id="31" name="Text 28"/>
          <p:cNvSpPr txBox="1"/>
          <p:nvPr/>
        </p:nvSpPr>
        <p:spPr>
          <a:xfrm>
            <a:off x="7667244" y="6830568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Kvartali_number</a:t>
            </a:r>
            <a:endParaRPr lang="en-US" sz="2100" dirty="0"/>
          </a:p>
        </p:txBody>
      </p:sp>
      <p:sp>
        <p:nvSpPr>
          <p:cNvPr id="32" name="Text 29"/>
          <p:cNvSpPr txBox="1"/>
          <p:nvPr/>
        </p:nvSpPr>
        <p:spPr>
          <a:xfrm>
            <a:off x="7063740" y="7296912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1650" dirty="0"/>
          </a:p>
        </p:txBody>
      </p:sp>
      <p:sp>
        <p:nvSpPr>
          <p:cNvPr id="33" name="Text 30"/>
          <p:cNvSpPr txBox="1"/>
          <p:nvPr/>
        </p:nvSpPr>
        <p:spPr>
          <a:xfrm>
            <a:off x="7667244" y="7296912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Põhivõti_kvartali_id</a:t>
            </a:r>
            <a:endParaRPr lang="en-US" sz="2100" dirty="0"/>
          </a:p>
        </p:txBody>
      </p:sp>
      <p:sp>
        <p:nvSpPr>
          <p:cNvPr id="34" name="Text 31"/>
          <p:cNvSpPr txBox="1"/>
          <p:nvPr/>
        </p:nvSpPr>
        <p:spPr>
          <a:xfrm>
            <a:off x="7063740" y="7763256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50" dirty="0"/>
          </a:p>
        </p:txBody>
      </p:sp>
      <p:sp>
        <p:nvSpPr>
          <p:cNvPr id="35" name="Text 32"/>
          <p:cNvSpPr txBox="1"/>
          <p:nvPr/>
        </p:nvSpPr>
        <p:spPr>
          <a:xfrm>
            <a:off x="7667244" y="7763256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Poolaasta</a:t>
            </a:r>
            <a:endParaRPr lang="en-US" sz="2100" dirty="0"/>
          </a:p>
        </p:txBody>
      </p:sp>
      <p:sp>
        <p:nvSpPr>
          <p:cNvPr id="36" name="Tabel Intressid"/>
          <p:cNvSpPr/>
          <p:nvPr/>
        </p:nvSpPr>
        <p:spPr>
          <a:xfrm>
            <a:off x="12797028" y="4114800"/>
            <a:ext cx="4663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875">
            <a:solidFill>
              <a:srgbClr val="D8C3A0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37" name="Päis Intressid"/>
          <p:cNvSpPr/>
          <p:nvPr/>
        </p:nvSpPr>
        <p:spPr>
          <a:xfrm>
            <a:off x="12797028" y="4114800"/>
            <a:ext cx="4663440" cy="685800"/>
          </a:xfrm>
          <a:prstGeom prst="roundRect">
            <a:avLst>
              <a:gd name="adj" fmla="val 16000"/>
            </a:avLst>
          </a:prstGeom>
          <a:solidFill>
            <a:srgbClr val="EADBC2"/>
          </a:solidFill>
          <a:ln w="12700">
            <a:solidFill>
              <a:srgbClr val="EADBC2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38" name="Text 35"/>
          <p:cNvSpPr txBox="1"/>
          <p:nvPr/>
        </p:nvSpPr>
        <p:spPr>
          <a:xfrm>
            <a:off x="13043916" y="4114800"/>
            <a:ext cx="3086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Intressid</a:t>
            </a:r>
            <a:endParaRPr lang="en-US" sz="2400" dirty="0"/>
          </a:p>
        </p:txBody>
      </p:sp>
      <p:sp>
        <p:nvSpPr>
          <p:cNvPr id="39" name="Text 36"/>
          <p:cNvSpPr txBox="1"/>
          <p:nvPr/>
        </p:nvSpPr>
        <p:spPr>
          <a:xfrm>
            <a:off x="15814548" y="4114800"/>
            <a:ext cx="14401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50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FAKT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13043916" y="4869180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13647420" y="4869180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Intress</a:t>
            </a:r>
            <a:endParaRPr lang="en-US" sz="2100" dirty="0"/>
          </a:p>
        </p:txBody>
      </p:sp>
      <p:sp>
        <p:nvSpPr>
          <p:cNvPr id="42" name="Text 39"/>
          <p:cNvSpPr txBox="1"/>
          <p:nvPr/>
        </p:nvSpPr>
        <p:spPr>
          <a:xfrm>
            <a:off x="13043916" y="5335524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1650" dirty="0"/>
          </a:p>
        </p:txBody>
      </p:sp>
      <p:sp>
        <p:nvSpPr>
          <p:cNvPr id="43" name="Text 40"/>
          <p:cNvSpPr txBox="1"/>
          <p:nvPr/>
        </p:nvSpPr>
        <p:spPr>
          <a:xfrm>
            <a:off x="13647420" y="5335524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Võõrvõti_kvartali_id</a:t>
            </a:r>
            <a:endParaRPr lang="en-US" sz="2100" dirty="0"/>
          </a:p>
        </p:txBody>
      </p:sp>
      <p:sp>
        <p:nvSpPr>
          <p:cNvPr id="44" name="Tabel Kinnisvara"/>
          <p:cNvSpPr/>
          <p:nvPr/>
        </p:nvSpPr>
        <p:spPr>
          <a:xfrm>
            <a:off x="822960" y="6515100"/>
            <a:ext cx="4663440" cy="2715768"/>
          </a:xfrm>
          <a:prstGeom prst="roundRect">
            <a:avLst>
              <a:gd name="adj" fmla="val 4040"/>
            </a:avLst>
          </a:prstGeom>
          <a:solidFill>
            <a:srgbClr val="FFFFFF"/>
          </a:solidFill>
          <a:ln w="15875">
            <a:solidFill>
              <a:srgbClr val="D8C3A0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45" name="Päis Kinnisvara"/>
          <p:cNvSpPr/>
          <p:nvPr/>
        </p:nvSpPr>
        <p:spPr>
          <a:xfrm>
            <a:off x="822960" y="6515100"/>
            <a:ext cx="4663440" cy="685800"/>
          </a:xfrm>
          <a:prstGeom prst="roundRect">
            <a:avLst>
              <a:gd name="adj" fmla="val 16000"/>
            </a:avLst>
          </a:prstGeom>
          <a:solidFill>
            <a:srgbClr val="EADBC2"/>
          </a:solidFill>
          <a:ln w="12700">
            <a:solidFill>
              <a:srgbClr val="EADBC2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46" name="Text 43"/>
          <p:cNvSpPr txBox="1"/>
          <p:nvPr/>
        </p:nvSpPr>
        <p:spPr>
          <a:xfrm>
            <a:off x="1069848" y="6515100"/>
            <a:ext cx="3086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Kinnisvara</a:t>
            </a:r>
            <a:endParaRPr lang="en-US" sz="2400" dirty="0"/>
          </a:p>
        </p:txBody>
      </p:sp>
      <p:sp>
        <p:nvSpPr>
          <p:cNvPr id="47" name="Text 44"/>
          <p:cNvSpPr txBox="1"/>
          <p:nvPr/>
        </p:nvSpPr>
        <p:spPr>
          <a:xfrm>
            <a:off x="3840480" y="6515100"/>
            <a:ext cx="14401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50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FAKT</a:t>
            </a:r>
            <a:endParaRPr lang="en-US" sz="1500" dirty="0"/>
          </a:p>
        </p:txBody>
      </p:sp>
      <p:sp>
        <p:nvSpPr>
          <p:cNvPr id="48" name="Text 45"/>
          <p:cNvSpPr txBox="1"/>
          <p:nvPr/>
        </p:nvSpPr>
        <p:spPr>
          <a:xfrm>
            <a:off x="1069848" y="7269480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50" dirty="0"/>
          </a:p>
        </p:txBody>
      </p:sp>
      <p:sp>
        <p:nvSpPr>
          <p:cNvPr id="49" name="Text 46"/>
          <p:cNvSpPr txBox="1"/>
          <p:nvPr/>
        </p:nvSpPr>
        <p:spPr>
          <a:xfrm>
            <a:off x="1673352" y="7269480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Keskmine_m2_hind</a:t>
            </a:r>
            <a:endParaRPr lang="en-US" sz="2100" dirty="0"/>
          </a:p>
        </p:txBody>
      </p:sp>
      <p:sp>
        <p:nvSpPr>
          <p:cNvPr id="50" name="Text 47"/>
          <p:cNvSpPr txBox="1"/>
          <p:nvPr/>
        </p:nvSpPr>
        <p:spPr>
          <a:xfrm>
            <a:off x="1069848" y="7735824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50" dirty="0"/>
          </a:p>
        </p:txBody>
      </p:sp>
      <p:sp>
        <p:nvSpPr>
          <p:cNvPr id="51" name="Text 48"/>
          <p:cNvSpPr txBox="1"/>
          <p:nvPr/>
        </p:nvSpPr>
        <p:spPr>
          <a:xfrm>
            <a:off x="1673352" y="7735824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Tehingute_arv</a:t>
            </a:r>
            <a:endParaRPr lang="en-US" sz="2100" dirty="0"/>
          </a:p>
        </p:txBody>
      </p:sp>
      <p:sp>
        <p:nvSpPr>
          <p:cNvPr id="52" name="Text 49"/>
          <p:cNvSpPr txBox="1"/>
          <p:nvPr/>
        </p:nvSpPr>
        <p:spPr>
          <a:xfrm>
            <a:off x="1069848" y="8202168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1650" dirty="0"/>
          </a:p>
        </p:txBody>
      </p:sp>
      <p:sp>
        <p:nvSpPr>
          <p:cNvPr id="53" name="Text 50"/>
          <p:cNvSpPr txBox="1"/>
          <p:nvPr/>
        </p:nvSpPr>
        <p:spPr>
          <a:xfrm>
            <a:off x="1673352" y="8202168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Võõrvõti_kvartali_id</a:t>
            </a:r>
            <a:endParaRPr lang="en-US" sz="2100" dirty="0"/>
          </a:p>
        </p:txBody>
      </p:sp>
      <p:sp>
        <p:nvSpPr>
          <p:cNvPr id="54" name="Text 51"/>
          <p:cNvSpPr txBox="1"/>
          <p:nvPr/>
        </p:nvSpPr>
        <p:spPr>
          <a:xfrm>
            <a:off x="1069848" y="8668512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1650" dirty="0"/>
          </a:p>
        </p:txBody>
      </p:sp>
      <p:sp>
        <p:nvSpPr>
          <p:cNvPr id="55" name="Text 52"/>
          <p:cNvSpPr txBox="1"/>
          <p:nvPr/>
        </p:nvSpPr>
        <p:spPr>
          <a:xfrm>
            <a:off x="1673352" y="8668512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Võõrvõti_maakonna_id</a:t>
            </a:r>
            <a:endParaRPr lang="en-US" sz="2100" dirty="0"/>
          </a:p>
        </p:txBody>
      </p:sp>
      <p:sp>
        <p:nvSpPr>
          <p:cNvPr id="56" name="Tabel Tarbijahinnaindeks"/>
          <p:cNvSpPr/>
          <p:nvPr/>
        </p:nvSpPr>
        <p:spPr>
          <a:xfrm>
            <a:off x="12797028" y="6789420"/>
            <a:ext cx="4663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875">
            <a:solidFill>
              <a:srgbClr val="D8C3A0"/>
            </a:solidFill>
            <a:prstDash val="solid"/>
          </a:ln>
          <a:effectLst>
            <a:outerShdw blurRad="101600" dist="25400" dir="5400000" algn="bl" rotWithShape="0">
              <a:srgbClr val="3A3025">
                <a:alpha val="15000"/>
              </a:srgbClr>
            </a:outerShdw>
          </a:effectLst>
        </p:spPr>
        <p:txBody>
          <a:bodyPr/>
          <a:lstStyle/>
          <a:p>
            <a:endParaRPr lang="et-EE" sz="2700"/>
          </a:p>
        </p:txBody>
      </p:sp>
      <p:sp>
        <p:nvSpPr>
          <p:cNvPr id="57" name="Päis Tarbijahinnaindeks"/>
          <p:cNvSpPr/>
          <p:nvPr/>
        </p:nvSpPr>
        <p:spPr>
          <a:xfrm>
            <a:off x="12797028" y="6789420"/>
            <a:ext cx="4663440" cy="685800"/>
          </a:xfrm>
          <a:prstGeom prst="roundRect">
            <a:avLst>
              <a:gd name="adj" fmla="val 16000"/>
            </a:avLst>
          </a:prstGeom>
          <a:solidFill>
            <a:srgbClr val="EADBC2"/>
          </a:solidFill>
          <a:ln w="12700">
            <a:solidFill>
              <a:srgbClr val="EADBC2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58" name="Text 55"/>
          <p:cNvSpPr txBox="1"/>
          <p:nvPr/>
        </p:nvSpPr>
        <p:spPr>
          <a:xfrm>
            <a:off x="13043916" y="6789420"/>
            <a:ext cx="3086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2F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Tarbijahinnaindeks</a:t>
            </a:r>
            <a:endParaRPr lang="en-US" sz="2400" dirty="0"/>
          </a:p>
        </p:txBody>
      </p:sp>
      <p:sp>
        <p:nvSpPr>
          <p:cNvPr id="59" name="Text 56"/>
          <p:cNvSpPr txBox="1"/>
          <p:nvPr/>
        </p:nvSpPr>
        <p:spPr>
          <a:xfrm>
            <a:off x="15814548" y="6789420"/>
            <a:ext cx="14401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50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FAKT</a:t>
            </a:r>
            <a:endParaRPr lang="en-US" sz="1500" dirty="0"/>
          </a:p>
        </p:txBody>
      </p:sp>
      <p:sp>
        <p:nvSpPr>
          <p:cNvPr id="60" name="Text 57"/>
          <p:cNvSpPr txBox="1"/>
          <p:nvPr/>
        </p:nvSpPr>
        <p:spPr>
          <a:xfrm>
            <a:off x="13043916" y="7543800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50" dirty="0"/>
          </a:p>
        </p:txBody>
      </p:sp>
      <p:sp>
        <p:nvSpPr>
          <p:cNvPr id="61" name="Text 58"/>
          <p:cNvSpPr txBox="1"/>
          <p:nvPr/>
        </p:nvSpPr>
        <p:spPr>
          <a:xfrm>
            <a:off x="13647420" y="7543800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Keskmine_indeks</a:t>
            </a:r>
            <a:endParaRPr lang="en-US" sz="2100" dirty="0"/>
          </a:p>
        </p:txBody>
      </p:sp>
      <p:sp>
        <p:nvSpPr>
          <p:cNvPr id="62" name="Text 59"/>
          <p:cNvSpPr txBox="1"/>
          <p:nvPr/>
        </p:nvSpPr>
        <p:spPr>
          <a:xfrm>
            <a:off x="13043916" y="8010144"/>
            <a:ext cx="5760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1650" dirty="0"/>
          </a:p>
        </p:txBody>
      </p:sp>
      <p:sp>
        <p:nvSpPr>
          <p:cNvPr id="63" name="Text 60"/>
          <p:cNvSpPr txBox="1"/>
          <p:nvPr/>
        </p:nvSpPr>
        <p:spPr>
          <a:xfrm>
            <a:off x="13647420" y="8010144"/>
            <a:ext cx="36347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Võõrvõti_kvartali_id</a:t>
            </a:r>
            <a:endParaRPr lang="en-US" sz="2100" dirty="0"/>
          </a:p>
        </p:txBody>
      </p:sp>
      <p:sp>
        <p:nvSpPr>
          <p:cNvPr id="64" name="Seos"/>
          <p:cNvSpPr/>
          <p:nvPr/>
        </p:nvSpPr>
        <p:spPr>
          <a:xfrm>
            <a:off x="5486400" y="3154680"/>
            <a:ext cx="1330452" cy="0"/>
          </a:xfrm>
          <a:prstGeom prst="line">
            <a:avLst/>
          </a:prstGeom>
          <a:noFill/>
          <a:ln w="25400">
            <a:solidFill>
              <a:srgbClr val="5C5346"/>
            </a:solidFill>
            <a:prstDash val="solid"/>
            <a:tailEnd type="triangle"/>
          </a:ln>
        </p:spPr>
        <p:txBody>
          <a:bodyPr/>
          <a:lstStyle/>
          <a:p>
            <a:endParaRPr lang="et-EE" sz="2700"/>
          </a:p>
        </p:txBody>
      </p:sp>
      <p:sp>
        <p:nvSpPr>
          <p:cNvPr id="65" name="Seos"/>
          <p:cNvSpPr/>
          <p:nvPr/>
        </p:nvSpPr>
        <p:spPr>
          <a:xfrm flipV="1">
            <a:off x="9148572" y="4306824"/>
            <a:ext cx="0" cy="836676"/>
          </a:xfrm>
          <a:prstGeom prst="line">
            <a:avLst/>
          </a:prstGeom>
          <a:noFill/>
          <a:ln w="25400">
            <a:solidFill>
              <a:srgbClr val="5C5346"/>
            </a:solidFill>
            <a:prstDash val="solid"/>
            <a:tailEnd type="triangle"/>
          </a:ln>
        </p:spPr>
        <p:txBody>
          <a:bodyPr/>
          <a:lstStyle/>
          <a:p>
            <a:endParaRPr lang="et-EE" sz="2700"/>
          </a:p>
        </p:txBody>
      </p:sp>
      <p:sp>
        <p:nvSpPr>
          <p:cNvPr id="66" name="Seos"/>
          <p:cNvSpPr/>
          <p:nvPr/>
        </p:nvSpPr>
        <p:spPr>
          <a:xfrm>
            <a:off x="3154680" y="4114800"/>
            <a:ext cx="0" cy="2400300"/>
          </a:xfrm>
          <a:prstGeom prst="line">
            <a:avLst/>
          </a:prstGeom>
          <a:noFill/>
          <a:ln w="25400">
            <a:solidFill>
              <a:srgbClr val="5C5346"/>
            </a:solidFill>
            <a:prstDash val="solid"/>
            <a:tailEnd type="triangle"/>
          </a:ln>
        </p:spPr>
        <p:txBody>
          <a:bodyPr/>
          <a:lstStyle/>
          <a:p>
            <a:endParaRPr lang="et-EE" sz="2700"/>
          </a:p>
        </p:txBody>
      </p:sp>
      <p:sp>
        <p:nvSpPr>
          <p:cNvPr id="67" name="Seos"/>
          <p:cNvSpPr/>
          <p:nvPr/>
        </p:nvSpPr>
        <p:spPr>
          <a:xfrm flipH="1">
            <a:off x="5486400" y="7406640"/>
            <a:ext cx="1330452" cy="0"/>
          </a:xfrm>
          <a:prstGeom prst="line">
            <a:avLst/>
          </a:prstGeom>
          <a:noFill/>
          <a:ln w="25400">
            <a:solidFill>
              <a:srgbClr val="5C5346"/>
            </a:solidFill>
            <a:prstDash val="solid"/>
            <a:tailEnd type="triangle"/>
          </a:ln>
        </p:spPr>
        <p:txBody>
          <a:bodyPr/>
          <a:lstStyle/>
          <a:p>
            <a:endParaRPr lang="et-EE" sz="2700"/>
          </a:p>
        </p:txBody>
      </p:sp>
      <p:sp>
        <p:nvSpPr>
          <p:cNvPr id="68" name="Seos"/>
          <p:cNvSpPr/>
          <p:nvPr/>
        </p:nvSpPr>
        <p:spPr>
          <a:xfrm>
            <a:off x="11480292" y="5486400"/>
            <a:ext cx="1316736" cy="0"/>
          </a:xfrm>
          <a:prstGeom prst="line">
            <a:avLst/>
          </a:prstGeom>
          <a:noFill/>
          <a:ln w="25400">
            <a:solidFill>
              <a:srgbClr val="5C5346"/>
            </a:solidFill>
            <a:prstDash val="solid"/>
            <a:tailEnd type="triangle"/>
          </a:ln>
        </p:spPr>
        <p:txBody>
          <a:bodyPr/>
          <a:lstStyle/>
          <a:p>
            <a:endParaRPr lang="et-EE" sz="2700"/>
          </a:p>
        </p:txBody>
      </p:sp>
      <p:sp>
        <p:nvSpPr>
          <p:cNvPr id="69" name="Seos"/>
          <p:cNvSpPr/>
          <p:nvPr/>
        </p:nvSpPr>
        <p:spPr>
          <a:xfrm>
            <a:off x="11480292" y="7680960"/>
            <a:ext cx="1316736" cy="0"/>
          </a:xfrm>
          <a:prstGeom prst="line">
            <a:avLst/>
          </a:prstGeom>
          <a:noFill/>
          <a:ln w="25400">
            <a:solidFill>
              <a:srgbClr val="5C5346"/>
            </a:solidFill>
            <a:prstDash val="solid"/>
            <a:tailEnd type="triangle"/>
          </a:ln>
        </p:spPr>
        <p:txBody>
          <a:bodyPr/>
          <a:lstStyle/>
          <a:p>
            <a:endParaRPr lang="et-EE" sz="2700"/>
          </a:p>
        </p:txBody>
      </p:sp>
      <p:sp>
        <p:nvSpPr>
          <p:cNvPr id="70" name="Selgitus"/>
          <p:cNvSpPr/>
          <p:nvPr/>
        </p:nvSpPr>
        <p:spPr>
          <a:xfrm>
            <a:off x="5829300" y="8641080"/>
            <a:ext cx="6652260" cy="822960"/>
          </a:xfrm>
          <a:prstGeom prst="roundRect">
            <a:avLst>
              <a:gd name="adj" fmla="val 13333"/>
            </a:avLst>
          </a:prstGeom>
          <a:solidFill>
            <a:srgbClr val="EFE4CE"/>
          </a:solidFill>
          <a:ln w="12700">
            <a:solidFill>
              <a:srgbClr val="EFE4CE"/>
            </a:solidFill>
            <a:prstDash val="solid"/>
          </a:ln>
        </p:spPr>
        <p:txBody>
          <a:bodyPr/>
          <a:lstStyle/>
          <a:p>
            <a:endParaRPr lang="et-EE" sz="2700"/>
          </a:p>
        </p:txBody>
      </p:sp>
      <p:sp>
        <p:nvSpPr>
          <p:cNvPr id="71" name="Text 68"/>
          <p:cNvSpPr txBox="1"/>
          <p:nvPr/>
        </p:nvSpPr>
        <p:spPr>
          <a:xfrm>
            <a:off x="5897880" y="8641080"/>
            <a:ext cx="65151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Nool: üks (dimensioon) → mitu (fakt). </a:t>
            </a:r>
            <a:endParaRPr lang="en-US" sz="1650" dirty="0"/>
          </a:p>
          <a:p>
            <a:pPr algn="ctr"/>
            <a:r>
              <a:rPr lang="en-US" sz="1650" dirty="0">
                <a:solidFill>
                  <a:srgbClr val="2F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Ridu: Kinnisvara 1289, Palk 1290, Intressid / THI / Aeg 86, Maakond 15</a:t>
            </a:r>
            <a:endParaRPr lang="en-US" sz="165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596360" y="9601200"/>
            <a:ext cx="822960" cy="4114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500">
                <a:solidFill>
                  <a:srgbClr val="6B64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73" name="Freeform 5">
            <a:extLst>
              <a:ext uri="{FF2B5EF4-FFF2-40B4-BE49-F238E27FC236}">
                <a16:creationId xmlns:a16="http://schemas.microsoft.com/office/drawing/2014/main" id="{451C6BA3-2612-E3EC-AD20-79854CF999DA}"/>
              </a:ext>
            </a:extLst>
          </p:cNvPr>
          <p:cNvSpPr/>
          <p:nvPr/>
        </p:nvSpPr>
        <p:spPr>
          <a:xfrm>
            <a:off x="657291" y="1635601"/>
            <a:ext cx="7146754" cy="584300"/>
          </a:xfrm>
          <a:custGeom>
            <a:avLst/>
            <a:gdLst/>
            <a:ahLst/>
            <a:cxnLst/>
            <a:rect l="l" t="t" r="r" b="b"/>
            <a:pathLst>
              <a:path w="7146754" h="584300">
                <a:moveTo>
                  <a:pt x="0" y="0"/>
                </a:moveTo>
                <a:lnTo>
                  <a:pt x="7146754" y="0"/>
                </a:lnTo>
                <a:lnTo>
                  <a:pt x="7146754" y="584300"/>
                </a:lnTo>
                <a:lnTo>
                  <a:pt x="0" y="5843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29108"/>
            </a:stretch>
          </a:blipFill>
        </p:spPr>
        <p:txBody>
          <a:bodyPr/>
          <a:lstStyle/>
          <a:p>
            <a:endParaRPr lang="et-EE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33F29F-BFFC-6197-1692-3C23C91EE09A}"/>
              </a:ext>
            </a:extLst>
          </p:cNvPr>
          <p:cNvSpPr txBox="1"/>
          <p:nvPr/>
        </p:nvSpPr>
        <p:spPr>
          <a:xfrm>
            <a:off x="4419600" y="3188203"/>
            <a:ext cx="9144000" cy="523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499"/>
              </a:lnSpc>
            </a:pPr>
            <a:r>
              <a:rPr lang="et-EE" sz="28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Github.com/kaidisoiela/Grupitoo_kinnisvara</a:t>
            </a:r>
            <a:endParaRPr lang="en-US" sz="2499" dirty="0">
              <a:latin typeface="Agrandir"/>
              <a:ea typeface="Agrandir"/>
              <a:cs typeface="Agrandir"/>
              <a:sym typeface="Agrandir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7AECAB-A400-3193-0EB3-464E66024273}"/>
              </a:ext>
            </a:extLst>
          </p:cNvPr>
          <p:cNvSpPr txBox="1"/>
          <p:nvPr/>
        </p:nvSpPr>
        <p:spPr>
          <a:xfrm>
            <a:off x="4391891" y="1926734"/>
            <a:ext cx="9144000" cy="1145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997"/>
              </a:lnSpc>
              <a:spcBef>
                <a:spcPct val="0"/>
              </a:spcBef>
            </a:pPr>
            <a:r>
              <a:rPr lang="en-US" sz="6427" dirty="0">
                <a:latin typeface="Cambria" panose="02040503050406030204" pitchFamily="18" charset="0"/>
                <a:ea typeface="Cambria" panose="02040503050406030204" pitchFamily="18" charset="0"/>
                <a:cs typeface="Maragsa"/>
                <a:sym typeface="Maragsa"/>
              </a:rPr>
              <a:t>KUS TÖÖ ASUB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D9ECDB-ECE5-7BCB-6EF6-05DFC5F3E861}"/>
              </a:ext>
            </a:extLst>
          </p:cNvPr>
          <p:cNvSpPr txBox="1"/>
          <p:nvPr/>
        </p:nvSpPr>
        <p:spPr>
          <a:xfrm>
            <a:off x="4267200" y="4022817"/>
            <a:ext cx="9144000" cy="5956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t-EE" sz="3000" b="1" noProof="0" dirty="0">
                <a:latin typeface="Cambria" panose="02040503050406030204" pitchFamily="18" charset="0"/>
                <a:ea typeface="Cambria" panose="02040503050406030204" pitchFamily="18" charset="0"/>
                <a:cs typeface="Open Sans Bold"/>
                <a:sym typeface="Open Sans Bold"/>
              </a:rPr>
              <a:t>Aitäh! </a:t>
            </a:r>
          </a:p>
        </p:txBody>
      </p:sp>
      <p:sp>
        <p:nvSpPr>
          <p:cNvPr id="12" name="Slaidinumbri kohatäide 11">
            <a:extLst>
              <a:ext uri="{FF2B5EF4-FFF2-40B4-BE49-F238E27FC236}">
                <a16:creationId xmlns:a16="http://schemas.microsoft.com/office/drawing/2014/main" id="{5EA7084C-B80F-26C8-AA4C-0F8246D7269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9</a:t>
            </a:fld>
            <a:endParaRPr lang="en-US"/>
          </a:p>
        </p:txBody>
      </p:sp>
      <p:sp>
        <p:nvSpPr>
          <p:cNvPr id="19" name="Freeform 11">
            <a:extLst>
              <a:ext uri="{FF2B5EF4-FFF2-40B4-BE49-F238E27FC236}">
                <a16:creationId xmlns:a16="http://schemas.microsoft.com/office/drawing/2014/main" id="{AE5C2753-28E5-44E1-CB63-777950D31127}"/>
              </a:ext>
            </a:extLst>
          </p:cNvPr>
          <p:cNvSpPr/>
          <p:nvPr/>
        </p:nvSpPr>
        <p:spPr>
          <a:xfrm>
            <a:off x="13757564" y="376046"/>
            <a:ext cx="4344503" cy="3073736"/>
          </a:xfrm>
          <a:custGeom>
            <a:avLst/>
            <a:gdLst/>
            <a:ahLst/>
            <a:cxnLst/>
            <a:rect l="l" t="t" r="r" b="b"/>
            <a:pathLst>
              <a:path w="4344503" h="3073736">
                <a:moveTo>
                  <a:pt x="0" y="0"/>
                </a:moveTo>
                <a:lnTo>
                  <a:pt x="4344503" y="0"/>
                </a:lnTo>
                <a:lnTo>
                  <a:pt x="4344503" y="3073736"/>
                </a:lnTo>
                <a:lnTo>
                  <a:pt x="0" y="30737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t-EE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835B85-6B3D-6A5E-279A-B885989F084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8500" y="5140036"/>
            <a:ext cx="38862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10132"/>
      </p:ext>
    </p:extLst>
  </p:cSld>
  <p:clrMapOvr>
    <a:masterClrMapping/>
  </p:clrMapOvr>
</p:sld>
</file>

<file path=ppt/theme/theme1.xml><?xml version="1.0" encoding="utf-8"?>
<a:theme xmlns:a="http://schemas.openxmlformats.org/drawingml/2006/main" name="Bjorn">
  <a:themeElements>
    <a:clrScheme name="Bjorn">
      <a:dk1>
        <a:srgbClr val="000000"/>
      </a:dk1>
      <a:lt1>
        <a:srgbClr val="FFFFFF"/>
      </a:lt1>
      <a:dk2>
        <a:srgbClr val="003474"/>
      </a:dk2>
      <a:lt2>
        <a:srgbClr val="EFE6EB"/>
      </a:lt2>
      <a:accent1>
        <a:srgbClr val="28AE70"/>
      </a:accent1>
      <a:accent2>
        <a:srgbClr val="AC9E0C"/>
      </a:accent2>
      <a:accent3>
        <a:srgbClr val="EF3475"/>
      </a:accent3>
      <a:accent4>
        <a:srgbClr val="8961F3"/>
      </a:accent4>
      <a:accent5>
        <a:srgbClr val="11ADD3"/>
      </a:accent5>
      <a:accent6>
        <a:srgbClr val="E78813"/>
      </a:accent6>
      <a:hlink>
        <a:srgbClr val="CD45C3"/>
      </a:hlink>
      <a:folHlink>
        <a:srgbClr val="E34E4E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jorn" id="{121AC9A9-9DF1-410F-980B-228D05632962}" vid="{661A2AC3-DE07-4883-A618-4B52B678F5E5}"/>
    </a:ext>
  </a:extLst>
</a:theme>
</file>

<file path=ppt/theme/theme2.xml><?xml version="1.0" encoding="utf-8"?>
<a:theme xmlns:a="http://schemas.openxmlformats.org/drawingml/2006/main" name="Office'i kujundu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'i kujundu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Bjorn</Template>
  <TotalTime>622</TotalTime>
  <Words>736</Words>
  <Application>Microsoft Office PowerPoint</Application>
  <PresentationFormat>Custom</PresentationFormat>
  <Paragraphs>173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Cambria</vt:lpstr>
      <vt:lpstr>System Font Regular</vt:lpstr>
      <vt:lpstr>Calibri</vt:lpstr>
      <vt:lpstr>Maragsa</vt:lpstr>
      <vt:lpstr>Neue Haas Grotesk Text Pro</vt:lpstr>
      <vt:lpstr>Agrandir</vt:lpstr>
      <vt:lpstr>Arial</vt:lpstr>
      <vt:lpstr>Aptos</vt:lpstr>
      <vt:lpstr>Bjorn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GRUPITÖÖ</dc:title>
  <dc:creator>Administrator</dc:creator>
  <cp:lastModifiedBy>Õpilane</cp:lastModifiedBy>
  <cp:revision>34</cp:revision>
  <dcterms:created xsi:type="dcterms:W3CDTF">2006-08-16T00:00:00Z</dcterms:created>
  <dcterms:modified xsi:type="dcterms:W3CDTF">2026-10-08T08:50:04Z</dcterms:modified>
  <dc:identifier>DAHXPOCYsWw</dc:identifier>
</cp:coreProperties>
</file>