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3" r:id="rId1"/>
  </p:sldMasterIdLst>
  <p:notesMasterIdLst>
    <p:notesMasterId r:id="rId11"/>
  </p:notesMasterIdLst>
  <p:handoutMasterIdLst>
    <p:handoutMasterId r:id="rId12"/>
  </p:handoutMasterIdLst>
  <p:sldIdLst>
    <p:sldId id="266" r:id="rId2"/>
    <p:sldId id="281" r:id="rId3"/>
    <p:sldId id="271" r:id="rId4"/>
    <p:sldId id="274" r:id="rId5"/>
    <p:sldId id="275" r:id="rId6"/>
    <p:sldId id="276" r:id="rId7"/>
    <p:sldId id="277" r:id="rId8"/>
    <p:sldId id="280" r:id="rId9"/>
    <p:sldId id="272" r:id="rId10"/>
  </p:sldIdLst>
  <p:sldSz cx="18288000" cy="10287000"/>
  <p:notesSz cx="6858000" cy="91440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Maragsa" panose="020B0604020202020204" charset="0"/>
      <p:regular r:id="rId17"/>
    </p:embeddedFont>
    <p:embeddedFont>
      <p:font typeface="Neue Haas Grotesk Text Pro" panose="020B0504020202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118F9CB-4A1F-E1EB-94CE-685196558FE1}" name="Merje Nõmmik" initials="MN" userId="1a4da45743c8171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1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se kohatäide 1">
            <a:extLst>
              <a:ext uri="{FF2B5EF4-FFF2-40B4-BE49-F238E27FC236}">
                <a16:creationId xmlns:a16="http://schemas.microsoft.com/office/drawing/2014/main" id="{3D9E5BFD-96AE-77AA-BDA0-556649505A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Kuupäeva kohatäide 2">
            <a:extLst>
              <a:ext uri="{FF2B5EF4-FFF2-40B4-BE49-F238E27FC236}">
                <a16:creationId xmlns:a16="http://schemas.microsoft.com/office/drawing/2014/main" id="{CB3F4A88-6007-7570-7832-8395DF91DA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E3B54-E8B8-4D2F-9093-C38B63E1A623}" type="datetimeFigureOut">
              <a:rPr lang="et-EE" smtClean="0"/>
              <a:t>08.10.2026</a:t>
            </a:fld>
            <a:endParaRPr lang="et-EE"/>
          </a:p>
        </p:txBody>
      </p:sp>
      <p:sp>
        <p:nvSpPr>
          <p:cNvPr id="4" name="Jaluse kohatäide 3">
            <a:extLst>
              <a:ext uri="{FF2B5EF4-FFF2-40B4-BE49-F238E27FC236}">
                <a16:creationId xmlns:a16="http://schemas.microsoft.com/office/drawing/2014/main" id="{2FF6B8C7-B735-CF0D-9289-1F76F78964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aidinumbri kohatäide 4">
            <a:extLst>
              <a:ext uri="{FF2B5EF4-FFF2-40B4-BE49-F238E27FC236}">
                <a16:creationId xmlns:a16="http://schemas.microsoft.com/office/drawing/2014/main" id="{38E1BECA-BAE2-7714-C0B0-C54211EB65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F7207-227E-4C7F-8BB8-68E93838C6D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1148346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se kohatäid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Kuupäeva kohatäid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5B479-238C-4084-A020-7C85E92EBEF7}" type="datetimeFigureOut">
              <a:rPr lang="et-EE" smtClean="0"/>
              <a:t>08.10.2026</a:t>
            </a:fld>
            <a:endParaRPr lang="et-EE"/>
          </a:p>
        </p:txBody>
      </p:sp>
      <p:sp>
        <p:nvSpPr>
          <p:cNvPr id="4" name="Slaidi pildi kohatä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Märkmete kohatäid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</a:p>
        </p:txBody>
      </p:sp>
      <p:sp>
        <p:nvSpPr>
          <p:cNvPr id="6" name="Jaluse kohatäid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aidinumbri kohatä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B6E92-D574-4550-BB5A-57FD519D230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2146776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Tutvustus: projekt uurib, kas kinnisvara põgeneb tavainimese eest kiiremini, kui sissetulekud tõusevad. Periood 2005–2026, 15 maakonda.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Täida nimed, rollid, fotod ja LinkedIni lingid. Foto lisamiseks: paremklõps raamil → Vorminda kuju → Täide → Pilt.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F0C6C-32AF-33FF-36E7-5094ADBED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6E88D-A983-B4B8-1AC2-2EFD43BC2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746D28-08F2-7C76-75EE-BEC62F59E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Kolm põhisõnumit: eesmärk, fookus ja tööriistad.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F36B8-2957-543B-F8D5-3C9654E3E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86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Kuus põhimõistet, mida analüüsis kasutatakse.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Kõik andmed on avalikud, alla laetud csv-failidena; seisuga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Allikad → Python → PostgreSQL →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Kvaliteet, transformeerimine ja </a:t>
            </a:r>
            <a:r>
              <a:rPr lang="en-US" dirty="0" err="1"/>
              <a:t>rikastamine</a:t>
            </a:r>
            <a:r>
              <a:rPr lang="en-US" dirty="0"/>
              <a:t>.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Metoodiline piirang: üleminek 2023. aasta I kvartalis: Statistikaamet läks valimipõhiselt uuringult üle registripõhisele (MTA TÖR ja TSD). Registripõhine süsteem hõlmab ka mikroettevõtteid, mistõttu tekib andmetes kunstlik „hinnahüpe“. Lahendus: Pythonis liidetakse kolm palgatabelit – PA21 (2005–2017), PA004 (2018–2020) ja PA117 (2021–2026).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Galaktika. </a:t>
            </a:r>
            <a:r>
              <a:rPr lang="en-US" dirty="0"/>
              <a:t>Neli faktitabelit/dimensiooni ümber ajadimensiooni: Aeg ja Maakond (dimensioonid), Kinnisvara, Palk, Intressid ja Tarbijahinnaindeks (faktid). PK = põhivõti, FK = võõrvõti.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Vasakul kolm rakendust QR-koodidega, paremal projekti GitHubi hoidla.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" y="96011"/>
            <a:ext cx="18022824" cy="7680959"/>
          </a:xfrm>
        </p:spPr>
        <p:txBody>
          <a:bodyPr>
            <a:normAutofit/>
          </a:bodyPr>
          <a:lstStyle>
            <a:lvl1pPr>
              <a:defRPr sz="16500" cap="all" baseline="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204" y="8041317"/>
            <a:ext cx="15055596" cy="850392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30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t-EE"/>
              <a:t>Klõpsake juhteksemplari alapealkirja laadi redigeerimiseks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81708" y="8624891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62686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35369"/>
            <a:ext cx="16260939" cy="1185765"/>
          </a:xfrm>
        </p:spPr>
        <p:txBody>
          <a:bodyPr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203" y="2821134"/>
            <a:ext cx="16260941" cy="6837216"/>
          </a:xfrm>
        </p:spPr>
        <p:txBody>
          <a:bodyPr/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880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49454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1771" y="7014266"/>
            <a:ext cx="16253459" cy="197926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100" dirty="0"/>
            </a:lvl1pPr>
          </a:lstStyle>
          <a:p>
            <a:pPr lvl="0"/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771" y="9097701"/>
            <a:ext cx="16253459" cy="560649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3000" dirty="0"/>
            </a:lvl1pPr>
          </a:lstStyle>
          <a:p>
            <a:pPr lvl="0"/>
            <a:r>
              <a:rPr lang="et-EE"/>
              <a:t>Klõpsake juhteksemplari alapealkirja laadi redigeerimiseks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"/>
            <a:ext cx="18287999" cy="670174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8572500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9562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9585" y="2117038"/>
            <a:ext cx="5604015" cy="4268351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69583" y="6604559"/>
            <a:ext cx="5594873" cy="168468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400" dirty="0"/>
            </a:lvl1pPr>
          </a:lstStyle>
          <a:p>
            <a:pPr lvl="0"/>
            <a:r>
              <a:rPr lang="et-EE"/>
              <a:t>Klõpsake juhteksemplari alapealkirja laadi redigeerimiseks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1426678" cy="10287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769583" y="9658350"/>
            <a:ext cx="2571452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5580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aotise päi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2204" y="1635367"/>
            <a:ext cx="15055596" cy="7738886"/>
          </a:xfrm>
        </p:spPr>
        <p:txBody>
          <a:bodyPr>
            <a:normAutofit/>
          </a:bodyPr>
          <a:lstStyle>
            <a:lvl1pPr>
              <a:defRPr sz="1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8802"/>
            <a:ext cx="1206293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10707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410" y="1633054"/>
            <a:ext cx="12718608" cy="209333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45046" y="3726383"/>
            <a:ext cx="12701337" cy="5309271"/>
          </a:xfrm>
        </p:spPr>
        <p:txBody>
          <a:bodyPr>
            <a:normAutofit/>
          </a:bodyPr>
          <a:lstStyle>
            <a:lvl1pPr marL="685800" indent="-685800">
              <a:lnSpc>
                <a:spcPct val="100000"/>
              </a:lnSpc>
              <a:buFont typeface="+mj-lt"/>
              <a:buAutoNum type="arabicPeriod"/>
              <a:defRPr sz="3000"/>
            </a:lvl1pPr>
            <a:lvl2pPr marL="1028700" indent="-685800">
              <a:lnSpc>
                <a:spcPct val="100000"/>
              </a:lnSpc>
              <a:buFont typeface="+mj-lt"/>
              <a:buAutoNum type="arabicPeriod"/>
              <a:defRPr sz="3000"/>
            </a:lvl2pPr>
            <a:lvl3pPr marL="1200150" indent="-514350">
              <a:lnSpc>
                <a:spcPct val="100000"/>
              </a:lnSpc>
              <a:buFont typeface="+mj-lt"/>
              <a:buAutoNum type="arabicPeriod"/>
              <a:defRPr sz="3000"/>
            </a:lvl3pPr>
            <a:lvl4pPr marL="1543050" indent="-514350">
              <a:lnSpc>
                <a:spcPct val="100000"/>
              </a:lnSpc>
              <a:buFont typeface="+mj-lt"/>
              <a:buAutoNum type="arabicPeriod"/>
              <a:defRPr sz="3000"/>
            </a:lvl4pPr>
            <a:lvl5pPr marL="1885950" indent="-514350">
              <a:lnSpc>
                <a:spcPct val="100000"/>
              </a:lnSpc>
              <a:buFont typeface="+mj-lt"/>
              <a:buAutoNum type="arabicPeriod"/>
              <a:defRPr sz="3000"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25869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2204" y="1632204"/>
            <a:ext cx="8624088" cy="2331720"/>
          </a:xfrm>
        </p:spPr>
        <p:txBody>
          <a:bodyPr anchor="t" anchorCtr="0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2204" y="3977640"/>
            <a:ext cx="8624088" cy="5541264"/>
          </a:xfrm>
        </p:spPr>
        <p:txBody>
          <a:bodyPr>
            <a:normAutofit/>
          </a:bodyPr>
          <a:lstStyle>
            <a:lvl1pPr marL="514350" indent="-514350">
              <a:lnSpc>
                <a:spcPct val="100000"/>
              </a:lnSpc>
              <a:buFont typeface="System Font Regular"/>
              <a:buChar char="-"/>
              <a:defRPr sz="3000"/>
            </a:lvl1pPr>
            <a:lvl2pPr>
              <a:lnSpc>
                <a:spcPct val="100000"/>
              </a:lnSpc>
              <a:defRPr sz="3000"/>
            </a:lvl2pPr>
            <a:lvl3pPr>
              <a:lnSpc>
                <a:spcPct val="100000"/>
              </a:lnSpc>
              <a:defRPr sz="3000"/>
            </a:lvl3pPr>
            <a:lvl4pPr>
              <a:lnSpc>
                <a:spcPct val="100000"/>
              </a:lnSpc>
              <a:defRPr sz="3000"/>
            </a:lvl4pPr>
            <a:lvl5pPr>
              <a:lnSpc>
                <a:spcPct val="100000"/>
              </a:lnSpc>
              <a:defRPr sz="3000"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6410" y="9658350"/>
            <a:ext cx="5873106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09516" y="9658350"/>
            <a:ext cx="1689180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696" y="9658350"/>
            <a:ext cx="1057596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0" y="0"/>
            <a:ext cx="7315200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263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15" y="1672284"/>
            <a:ext cx="5885183" cy="612537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41919" y="1672935"/>
            <a:ext cx="8714570" cy="775681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16106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552" y="1671983"/>
            <a:ext cx="4156989" cy="551332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1799" y="1693718"/>
            <a:ext cx="11691347" cy="773603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43169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682" y="1666652"/>
            <a:ext cx="9509118" cy="1714500"/>
          </a:xfrm>
        </p:spPr>
        <p:txBody>
          <a:bodyPr anchor="t"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289" y="0"/>
            <a:ext cx="6759878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78681" y="3604331"/>
            <a:ext cx="9509121" cy="582542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063420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78682" y="9658350"/>
            <a:ext cx="7162353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6329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487" y="1668156"/>
            <a:ext cx="10982423" cy="1399032"/>
          </a:xfrm>
        </p:spPr>
        <p:txBody>
          <a:bodyPr anchor="t"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" y="0"/>
            <a:ext cx="5289659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64113" y="3280887"/>
            <a:ext cx="11023689" cy="61488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063420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4114" y="9658350"/>
            <a:ext cx="8676921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4451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91" y="1668156"/>
            <a:ext cx="11015346" cy="1399032"/>
          </a:xfrm>
        </p:spPr>
        <p:txBody>
          <a:bodyPr anchor="t"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40090" y="3280887"/>
            <a:ext cx="11015348" cy="61488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0091" y="9658350"/>
            <a:ext cx="8668581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3981" y="9658350"/>
            <a:ext cx="1297056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3283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998339" y="0"/>
            <a:ext cx="5289659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839487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100" y="1673605"/>
            <a:ext cx="7107875" cy="193225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2288" y="3828186"/>
            <a:ext cx="7107675" cy="56015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2100" y="9658350"/>
            <a:ext cx="4761098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528507" y="9658350"/>
            <a:ext cx="1297056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7809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0" y="0"/>
            <a:ext cx="9144000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0877863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595" y="1666652"/>
            <a:ext cx="5720768" cy="2240795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47596" y="4051007"/>
            <a:ext cx="5720769" cy="537874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7593" y="9658350"/>
            <a:ext cx="3374003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156906" y="9658350"/>
            <a:ext cx="1297056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66208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8348" y="0"/>
            <a:ext cx="10499652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5567717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841311" y="1668647"/>
            <a:ext cx="4846490" cy="2788412"/>
          </a:xfrm>
        </p:spPr>
        <p:txBody>
          <a:bodyPr anchor="t"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289" y="0"/>
            <a:ext cx="11222666" cy="10287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51920" y="4699883"/>
            <a:ext cx="4835880" cy="398437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342900" indent="0">
              <a:lnSpc>
                <a:spcPct val="100000"/>
              </a:lnSpc>
              <a:buNone/>
              <a:defRPr lang="en-US" dirty="0"/>
            </a:lvl2pPr>
            <a:lvl3pPr marL="685800" indent="0">
              <a:lnSpc>
                <a:spcPct val="100000"/>
              </a:lnSpc>
              <a:buNone/>
              <a:defRPr lang="en-US" dirty="0"/>
            </a:lvl3pPr>
            <a:lvl4pPr marL="1028700" indent="0">
              <a:lnSpc>
                <a:spcPct val="100000"/>
              </a:lnSpc>
              <a:buNone/>
              <a:defRPr lang="en-US" dirty="0"/>
            </a:lvl4pPr>
            <a:lvl5pPr marL="13716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063420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841311" y="9658350"/>
            <a:ext cx="2499723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9611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986" y="5981704"/>
            <a:ext cx="4567431" cy="346467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1"/>
            <a:ext cx="18288000" cy="516499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83903" y="5981704"/>
            <a:ext cx="11190044" cy="346467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342900" indent="0">
              <a:lnSpc>
                <a:spcPct val="100000"/>
              </a:lnSpc>
              <a:buNone/>
              <a:defRPr lang="en-US" dirty="0"/>
            </a:lvl2pPr>
            <a:lvl3pPr marL="685800" indent="0">
              <a:lnSpc>
                <a:spcPct val="100000"/>
              </a:lnSpc>
              <a:buNone/>
              <a:defRPr lang="en-US" dirty="0"/>
            </a:lvl3pPr>
            <a:lvl4pPr marL="1028700" indent="0">
              <a:lnSpc>
                <a:spcPct val="100000"/>
              </a:lnSpc>
              <a:buNone/>
              <a:defRPr lang="en-US" dirty="0"/>
            </a:lvl4pPr>
            <a:lvl5pPr marL="13716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6172638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395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10" y="1681485"/>
            <a:ext cx="15715980" cy="145389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3429012"/>
            <a:ext cx="9144000" cy="6857988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037618" y="3429012"/>
            <a:ext cx="7314773" cy="60007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037617" y="9658350"/>
            <a:ext cx="4438727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798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11" y="1683301"/>
            <a:ext cx="5545289" cy="225773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71651" y="4260272"/>
            <a:ext cx="5410049" cy="516947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70510" y="1683302"/>
            <a:ext cx="9903437" cy="774644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570212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956" y="7135790"/>
            <a:ext cx="9716844" cy="1689831"/>
          </a:xfrm>
        </p:spPr>
        <p:txBody>
          <a:bodyPr anchor="b">
            <a:normAutofit/>
          </a:bodyPr>
          <a:lstStyle>
            <a:lvl1pPr algn="r">
              <a:defRPr sz="3000" b="0" cap="none" baseline="0">
                <a:solidFill>
                  <a:schemeClr val="bg1"/>
                </a:solidFill>
              </a:defRPr>
            </a:lvl1pPr>
          </a:lstStyle>
          <a:p>
            <a:r>
              <a:rPr lang="et-EE"/>
              <a:t>Klõpsake juhteksemplari pealkirja laadi redigeerimiseks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444" y="96012"/>
            <a:ext cx="18041112" cy="6900888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46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81708" y="8572500"/>
            <a:ext cx="1206293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4445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-1929392"/>
            <a:ext cx="15979140" cy="17007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t-EE"/>
              <a:t>Klõpsake juhteksemplari pealkirja laadi redigeerimiseks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32204" y="1558643"/>
            <a:ext cx="14127480" cy="7605102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9000" b="1"/>
            </a:lvl1pPr>
            <a:lvl2pPr marL="342900" indent="0">
              <a:lnSpc>
                <a:spcPct val="90000"/>
              </a:lnSpc>
              <a:buNone/>
              <a:defRPr sz="9000" b="1"/>
            </a:lvl2pPr>
            <a:lvl3pPr marL="685800" indent="0">
              <a:lnSpc>
                <a:spcPct val="90000"/>
              </a:lnSpc>
              <a:buNone/>
              <a:defRPr sz="9000" b="1"/>
            </a:lvl3pPr>
            <a:lvl4pPr marL="1028700" indent="0">
              <a:lnSpc>
                <a:spcPct val="90000"/>
              </a:lnSpc>
              <a:buNone/>
              <a:defRPr sz="9000" b="1"/>
            </a:lvl4pPr>
            <a:lvl5pPr marL="1371600" indent="0">
              <a:lnSpc>
                <a:spcPct val="90000"/>
              </a:lnSpc>
              <a:buNone/>
              <a:defRPr sz="9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01159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0200" y="8127541"/>
            <a:ext cx="15087600" cy="699518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3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2875" y="95250"/>
            <a:ext cx="17966532" cy="762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12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81708" y="8572938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3744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 si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78698"/>
            <a:ext cx="14835099" cy="1806890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3278" y="3660852"/>
            <a:ext cx="7262258" cy="570192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3660853"/>
            <a:ext cx="7209003" cy="570192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658863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õrd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11" y="1672994"/>
            <a:ext cx="14924183" cy="1258284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133" y="2884785"/>
            <a:ext cx="7224713" cy="12582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700" b="1" cap="all" spc="150" baseline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23224" y="2884785"/>
            <a:ext cx="7237370" cy="12582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700" b="1" cap="all" spc="150" baseline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133" y="4238687"/>
            <a:ext cx="7224713" cy="504580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323224" y="4238687"/>
            <a:ext cx="7237370" cy="504580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633373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inult pealki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56150"/>
            <a:ext cx="14884146" cy="1941342"/>
          </a:xfrm>
        </p:spPr>
        <p:txBody>
          <a:bodyPr>
            <a:normAutofit/>
          </a:bodyPr>
          <a:lstStyle>
            <a:lvl1pPr>
              <a:defRPr sz="5400" cap="none" baseline="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83412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57559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32203"/>
            <a:ext cx="15941742" cy="3126827"/>
          </a:xfrm>
        </p:spPr>
        <p:txBody>
          <a:bodyPr anchor="t" anchorCtr="0">
            <a:noAutofit/>
          </a:bodyPr>
          <a:lstStyle>
            <a:lvl1pPr>
              <a:defRPr sz="9000" cap="all" baseline="0">
                <a:solidFill>
                  <a:schemeClr val="tx1"/>
                </a:solidFill>
              </a:defRPr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2202" y="4914900"/>
            <a:ext cx="15941744" cy="474345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3429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1371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79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5" y="1632204"/>
            <a:ext cx="12646151" cy="2763030"/>
          </a:xfrm>
        </p:spPr>
        <p:txBody>
          <a:bodyPr anchor="t" anchorCtr="0">
            <a:noAutofit/>
          </a:bodyPr>
          <a:lstStyle>
            <a:lvl1pPr>
              <a:defRPr sz="9000" cap="all" baseline="0">
                <a:solidFill>
                  <a:schemeClr val="tx1"/>
                </a:solidFill>
              </a:defRPr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15820" y="6370038"/>
            <a:ext cx="12645959" cy="241201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2pPr>
            <a:lvl3pPr marL="6858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5pPr>
          </a:lstStyle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303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U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892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IS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897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handatud paigu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6BD68F48-0569-CB67-607E-044A8226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t-EE"/>
              <a:t>Klõpsake juhteksemplari pealkirja laadi redigeerimiseks</a:t>
            </a:r>
          </a:p>
        </p:txBody>
      </p:sp>
      <p:sp>
        <p:nvSpPr>
          <p:cNvPr id="3" name="Kuupäeva kohatäide 2">
            <a:extLst>
              <a:ext uri="{FF2B5EF4-FFF2-40B4-BE49-F238E27FC236}">
                <a16:creationId xmlns:a16="http://schemas.microsoft.com/office/drawing/2014/main" id="{6231F5FB-31C4-A33B-982D-A21DB4EF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Jaluse kohatäide 3">
            <a:extLst>
              <a:ext uri="{FF2B5EF4-FFF2-40B4-BE49-F238E27FC236}">
                <a16:creationId xmlns:a16="http://schemas.microsoft.com/office/drawing/2014/main" id="{B2DFFB76-5E67-F5FF-36E9-C39149A1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idinumbri kohatäide 4">
            <a:extLst>
              <a:ext uri="{FF2B5EF4-FFF2-40B4-BE49-F238E27FC236}">
                <a16:creationId xmlns:a16="http://schemas.microsoft.com/office/drawing/2014/main" id="{FB159357-E11F-A211-6212-0B6B3E6D9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ldi kohatäide 6">
            <a:extLst>
              <a:ext uri="{FF2B5EF4-FFF2-40B4-BE49-F238E27FC236}">
                <a16:creationId xmlns:a16="http://schemas.microsoft.com/office/drawing/2014/main" id="{1F5AB400-A7E7-7D29-AD92-FA9CA3AE7F3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14400" y="3009900"/>
            <a:ext cx="3276600" cy="27432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t-EE"/>
          </a:p>
        </p:txBody>
      </p:sp>
      <p:sp>
        <p:nvSpPr>
          <p:cNvPr id="8" name="Ristkülik: ümarnurkne 7">
            <a:extLst>
              <a:ext uri="{FF2B5EF4-FFF2-40B4-BE49-F238E27FC236}">
                <a16:creationId xmlns:a16="http://schemas.microsoft.com/office/drawing/2014/main" id="{074EEE8F-FE2C-C063-0729-E507448B3DF5}"/>
              </a:ext>
            </a:extLst>
          </p:cNvPr>
          <p:cNvSpPr/>
          <p:nvPr userDrawn="1"/>
        </p:nvSpPr>
        <p:spPr>
          <a:xfrm>
            <a:off x="6400800" y="3848100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9" name="Ristkülik: ümarnurkne 8">
            <a:extLst>
              <a:ext uri="{FF2B5EF4-FFF2-40B4-BE49-F238E27FC236}">
                <a16:creationId xmlns:a16="http://schemas.microsoft.com/office/drawing/2014/main" id="{D60C775E-E05D-D097-6117-853DB1B5AEA3}"/>
              </a:ext>
            </a:extLst>
          </p:cNvPr>
          <p:cNvSpPr/>
          <p:nvPr userDrawn="1"/>
        </p:nvSpPr>
        <p:spPr>
          <a:xfrm>
            <a:off x="2514600" y="3390900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1387E86F-6C62-63A5-351C-D24208F58010}"/>
              </a:ext>
            </a:extLst>
          </p:cNvPr>
          <p:cNvSpPr/>
          <p:nvPr userDrawn="1"/>
        </p:nvSpPr>
        <p:spPr>
          <a:xfrm>
            <a:off x="9144000" y="2476500"/>
            <a:ext cx="3505200" cy="48006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1" name="Ristkülik 10">
            <a:extLst>
              <a:ext uri="{FF2B5EF4-FFF2-40B4-BE49-F238E27FC236}">
                <a16:creationId xmlns:a16="http://schemas.microsoft.com/office/drawing/2014/main" id="{B2009516-2078-244F-DBB8-F9444064C80C}"/>
              </a:ext>
            </a:extLst>
          </p:cNvPr>
          <p:cNvSpPr/>
          <p:nvPr userDrawn="1"/>
        </p:nvSpPr>
        <p:spPr>
          <a:xfrm>
            <a:off x="15925800" y="30099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77081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35368"/>
            <a:ext cx="14884146" cy="14039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204" y="3179618"/>
            <a:ext cx="14884146" cy="6250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2204" y="9658350"/>
            <a:ext cx="12844140" cy="62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3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76344" y="9658350"/>
            <a:ext cx="1297056" cy="62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3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85646" y="9658350"/>
            <a:ext cx="902154" cy="62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35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8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662" r:id="rId30"/>
  </p:sldLayoutIdLst>
  <p:hf hdr="0" ftr="0" dt="0"/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54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7.jpg"/><Relationship Id="rId7" Type="http://schemas.openxmlformats.org/officeDocument/2006/relationships/hyperlink" Target="https://www.linkedin.com/in/siret-laaneoks-4b10b21a3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.jpg"/><Relationship Id="rId11" Type="http://schemas.openxmlformats.org/officeDocument/2006/relationships/image" Target="../media/image11.png"/><Relationship Id="rId5" Type="http://schemas.openxmlformats.org/officeDocument/2006/relationships/hyperlink" Target="https://www.linkedin.com/in/kaidi-soiela-a32782159/" TargetMode="External"/><Relationship Id="rId10" Type="http://schemas.openxmlformats.org/officeDocument/2006/relationships/hyperlink" Target="https://www.linkedin.com/in/merje-n%C3%B5mmik-362948210/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www.linkedin.com/in/kristel-kuusik-474a8514b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aidisoiela/Grupitoo_kinnisvara" TargetMode="External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koratsioon 1"/>
          <p:cNvSpPr/>
          <p:nvPr/>
        </p:nvSpPr>
        <p:spPr>
          <a:xfrm>
            <a:off x="11795760" y="822960"/>
            <a:ext cx="6141720" cy="6309360"/>
          </a:xfrm>
          <a:prstGeom prst="ellipse">
            <a:avLst/>
          </a:prstGeom>
          <a:solidFill>
            <a:srgbClr val="F3EADA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3" name="Dekoratsioon 2"/>
          <p:cNvSpPr/>
          <p:nvPr/>
        </p:nvSpPr>
        <p:spPr>
          <a:xfrm>
            <a:off x="9783387" y="4023360"/>
            <a:ext cx="6005253" cy="5760720"/>
          </a:xfrm>
          <a:prstGeom prst="ellipse">
            <a:avLst/>
          </a:prstGeom>
          <a:solidFill>
            <a:srgbClr val="EFE4CE"/>
          </a:solidFill>
          <a:ln w="12700">
            <a:solidFill>
              <a:srgbClr val="F3EADA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4" name="Text 2"/>
          <p:cNvSpPr txBox="1"/>
          <p:nvPr/>
        </p:nvSpPr>
        <p:spPr>
          <a:xfrm>
            <a:off x="1097280" y="2057400"/>
            <a:ext cx="1234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0" b="1" kern="0" spc="45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ANDMEANALÜÜSI KURSUSE LÕPUTÖÖ · GRUPIPROJEKT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743200"/>
            <a:ext cx="16428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t-EE" sz="66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66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alga ja kinnisvara</a:t>
            </a:r>
            <a:r>
              <a:rPr lang="et-EE" sz="66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66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hindade </a:t>
            </a:r>
            <a:r>
              <a:rPr lang="et-EE" sz="66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suhte </a:t>
            </a:r>
            <a:r>
              <a:rPr lang="en-US" sz="66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analüüs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760720"/>
            <a:ext cx="1234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3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2005–2026 · Eesti korteriturg maakonniti</a:t>
            </a:r>
            <a:endParaRPr lang="en-US" sz="3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E25A47E-18FE-9D21-1474-D581652D050A}"/>
              </a:ext>
            </a:extLst>
          </p:cNvPr>
          <p:cNvSpPr/>
          <p:nvPr/>
        </p:nvSpPr>
        <p:spPr>
          <a:xfrm>
            <a:off x="10549331" y="5411289"/>
            <a:ext cx="4344503" cy="3073736"/>
          </a:xfrm>
          <a:custGeom>
            <a:avLst/>
            <a:gdLst/>
            <a:ahLst/>
            <a:cxnLst/>
            <a:rect l="l" t="t" r="r" b="b"/>
            <a:pathLst>
              <a:path w="4344503" h="3073736">
                <a:moveTo>
                  <a:pt x="0" y="0"/>
                </a:moveTo>
                <a:lnTo>
                  <a:pt x="4344503" y="0"/>
                </a:lnTo>
                <a:lnTo>
                  <a:pt x="4344503" y="3073736"/>
                </a:lnTo>
                <a:lnTo>
                  <a:pt x="0" y="3073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t-E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"/>
          <p:cNvSpPr txBox="1"/>
          <p:nvPr/>
        </p:nvSpPr>
        <p:spPr>
          <a:xfrm>
            <a:off x="822960" y="548640"/>
            <a:ext cx="1659636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1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Meie tiim</a:t>
            </a:r>
            <a:endParaRPr lang="en-US" sz="51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2034540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t-EE" sz="27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Kaidi Soiela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811780"/>
            <a:ext cx="3840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42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aragsa"/>
                <a:sym typeface="Maragsa"/>
              </a:rPr>
              <a:t>Data Analyst | Power BI &amp; Alteryx Developer | SQL &amp; Python | Ex-PwC</a:t>
            </a:r>
          </a:p>
        </p:txBody>
      </p:sp>
      <p:sp>
        <p:nvSpPr>
          <p:cNvPr id="6" name="Foto raam 1"/>
          <p:cNvSpPr/>
          <p:nvPr/>
        </p:nvSpPr>
        <p:spPr>
          <a:xfrm>
            <a:off x="822960" y="3497580"/>
            <a:ext cx="3840480" cy="3779520"/>
          </a:xfrm>
          <a:prstGeom prst="roundRect">
            <a:avLst>
              <a:gd name="adj" fmla="val 4286"/>
            </a:avLst>
          </a:prstGeom>
          <a:solidFill>
            <a:srgbClr val="F7F1E6"/>
          </a:solidFill>
          <a:ln w="19050">
            <a:solidFill>
              <a:srgbClr val="D2BC94"/>
            </a:solidFill>
            <a:prstDash val="dash"/>
          </a:ln>
        </p:spPr>
        <p:txBody>
          <a:bodyPr/>
          <a:lstStyle/>
          <a:p>
            <a:endParaRPr lang="et-EE" sz="2700"/>
          </a:p>
        </p:txBody>
      </p:sp>
      <p:sp>
        <p:nvSpPr>
          <p:cNvPr id="7" name="Ikooni taust"/>
          <p:cNvSpPr/>
          <p:nvPr/>
        </p:nvSpPr>
        <p:spPr>
          <a:xfrm>
            <a:off x="2057400" y="4732020"/>
            <a:ext cx="1371600" cy="137160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680" y="3497580"/>
            <a:ext cx="3794760" cy="3779520"/>
          </a:xfrm>
          <a:prstGeom prst="rect">
            <a:avLst/>
          </a:prstGeom>
          <a:effectLst/>
        </p:spPr>
      </p:pic>
      <p:sp>
        <p:nvSpPr>
          <p:cNvPr id="9" name="Text 5"/>
          <p:cNvSpPr txBox="1"/>
          <p:nvPr/>
        </p:nvSpPr>
        <p:spPr>
          <a:xfrm>
            <a:off x="587829" y="61036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foto</a:t>
            </a:r>
            <a:endParaRPr lang="en-US" sz="2100" dirty="0"/>
          </a:p>
        </p:txBody>
      </p:sp>
      <p:sp>
        <p:nvSpPr>
          <p:cNvPr id="10" name="LinkedIn väli 1"/>
          <p:cNvSpPr/>
          <p:nvPr/>
        </p:nvSpPr>
        <p:spPr>
          <a:xfrm>
            <a:off x="822960" y="8092440"/>
            <a:ext cx="3840480" cy="891540"/>
          </a:xfrm>
          <a:prstGeom prst="roundRect">
            <a:avLst>
              <a:gd name="adj" fmla="val 15385"/>
            </a:avLst>
          </a:prstGeom>
          <a:solidFill>
            <a:srgbClr val="EFE4CE"/>
          </a:solidFill>
          <a:ln w="12700">
            <a:solidFill>
              <a:srgbClr val="EFE4CE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11" name="Image 1" descr="Linked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8298180"/>
            <a:ext cx="480060" cy="4800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8092440"/>
            <a:ext cx="27432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t-EE" sz="2000" dirty="0">
                <a:hlinkClick r:id="rId5"/>
              </a:rPr>
              <a:t>Kaidi Soiela | LinkedIn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5074920" y="2057400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t-EE" sz="27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Siret Laaneoks</a:t>
            </a:r>
            <a:endParaRPr lang="en-US" sz="2700" dirty="0"/>
          </a:p>
        </p:txBody>
      </p:sp>
      <p:sp>
        <p:nvSpPr>
          <p:cNvPr id="14" name="Text 9"/>
          <p:cNvSpPr txBox="1"/>
          <p:nvPr/>
        </p:nvSpPr>
        <p:spPr>
          <a:xfrm>
            <a:off x="5074920" y="2811780"/>
            <a:ext cx="3840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42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aragsa"/>
                <a:sym typeface="Maragsa"/>
              </a:rPr>
              <a:t>Banking and Product Management Professional</a:t>
            </a:r>
          </a:p>
        </p:txBody>
      </p:sp>
      <p:sp>
        <p:nvSpPr>
          <p:cNvPr id="15" name="Foto raam 2"/>
          <p:cNvSpPr/>
          <p:nvPr/>
        </p:nvSpPr>
        <p:spPr>
          <a:xfrm>
            <a:off x="5074920" y="3497580"/>
            <a:ext cx="3840480" cy="3840480"/>
          </a:xfrm>
          <a:prstGeom prst="roundRect">
            <a:avLst>
              <a:gd name="adj" fmla="val 4286"/>
            </a:avLst>
          </a:prstGeom>
          <a:solidFill>
            <a:srgbClr val="F7F1E6"/>
          </a:solidFill>
          <a:ln w="19050">
            <a:solidFill>
              <a:srgbClr val="D2BC94"/>
            </a:solidFill>
            <a:prstDash val="dash"/>
          </a:ln>
        </p:spPr>
        <p:txBody>
          <a:bodyPr/>
          <a:lstStyle/>
          <a:p>
            <a:endParaRPr lang="et-EE" sz="2700"/>
          </a:p>
        </p:txBody>
      </p:sp>
      <p:sp>
        <p:nvSpPr>
          <p:cNvPr id="16" name="Ikooni taust"/>
          <p:cNvSpPr/>
          <p:nvPr/>
        </p:nvSpPr>
        <p:spPr>
          <a:xfrm>
            <a:off x="6309360" y="4732020"/>
            <a:ext cx="1371600" cy="137160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17" name="Imag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4920" y="3497580"/>
            <a:ext cx="3840480" cy="3840480"/>
          </a:xfrm>
          <a:prstGeom prst="rect">
            <a:avLst/>
          </a:prstGeom>
          <a:effectLst/>
        </p:spPr>
      </p:pic>
      <p:sp>
        <p:nvSpPr>
          <p:cNvPr id="18" name="Text 12"/>
          <p:cNvSpPr txBox="1"/>
          <p:nvPr/>
        </p:nvSpPr>
        <p:spPr>
          <a:xfrm>
            <a:off x="5074920" y="6309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foto</a:t>
            </a:r>
            <a:endParaRPr lang="en-US" sz="2100" dirty="0"/>
          </a:p>
        </p:txBody>
      </p:sp>
      <p:sp>
        <p:nvSpPr>
          <p:cNvPr id="19" name="LinkedIn väli 2"/>
          <p:cNvSpPr/>
          <p:nvPr/>
        </p:nvSpPr>
        <p:spPr>
          <a:xfrm>
            <a:off x="5074920" y="8092440"/>
            <a:ext cx="3840480" cy="891540"/>
          </a:xfrm>
          <a:prstGeom prst="roundRect">
            <a:avLst>
              <a:gd name="adj" fmla="val 15385"/>
            </a:avLst>
          </a:prstGeom>
          <a:solidFill>
            <a:srgbClr val="EFE4CE"/>
          </a:solidFill>
          <a:ln w="12700">
            <a:solidFill>
              <a:srgbClr val="EFE4CE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20" name="Image 3" descr="Linked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8298180"/>
            <a:ext cx="480060" cy="4800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35040" y="8092440"/>
            <a:ext cx="27279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t-EE" sz="2000" dirty="0">
                <a:hlinkClick r:id="rId7"/>
              </a:rPr>
              <a:t>Siret Laaneoks | LinkedIn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9281160" y="2034540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t-EE" sz="27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Kristel Kuusik</a:t>
            </a:r>
            <a:endParaRPr lang="en-US" sz="2700" dirty="0"/>
          </a:p>
        </p:txBody>
      </p:sp>
      <p:sp>
        <p:nvSpPr>
          <p:cNvPr id="23" name="Text 16"/>
          <p:cNvSpPr txBox="1"/>
          <p:nvPr/>
        </p:nvSpPr>
        <p:spPr>
          <a:xfrm>
            <a:off x="9326880" y="2811780"/>
            <a:ext cx="3840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42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aragsa"/>
                <a:sym typeface="Maragsa"/>
              </a:rPr>
              <a:t>Aspiring Data Analyst | SQL, Power BI, Excel, SAP | Turning 5+ Years of Operations Data </a:t>
            </a:r>
            <a:r>
              <a:rPr lang="en-US" sz="2000" dirty="0">
                <a:solidFill>
                  <a:srgbClr val="000000"/>
                </a:solidFill>
                <a:ea typeface="Maragsa"/>
                <a:cs typeface="Maragsa"/>
                <a:sym typeface="Maragsa"/>
              </a:rPr>
              <a:t>into Insights</a:t>
            </a:r>
          </a:p>
        </p:txBody>
      </p:sp>
      <p:sp>
        <p:nvSpPr>
          <p:cNvPr id="24" name="Foto raam 3"/>
          <p:cNvSpPr/>
          <p:nvPr/>
        </p:nvSpPr>
        <p:spPr>
          <a:xfrm>
            <a:off x="9326880" y="3497580"/>
            <a:ext cx="3840480" cy="3840480"/>
          </a:xfrm>
          <a:prstGeom prst="roundRect">
            <a:avLst>
              <a:gd name="adj" fmla="val 4286"/>
            </a:avLst>
          </a:prstGeom>
          <a:solidFill>
            <a:srgbClr val="F7F1E6"/>
          </a:solidFill>
          <a:ln w="19050">
            <a:solidFill>
              <a:srgbClr val="D2BC94"/>
            </a:solidFill>
            <a:prstDash val="dash"/>
          </a:ln>
        </p:spPr>
        <p:txBody>
          <a:bodyPr/>
          <a:lstStyle/>
          <a:p>
            <a:endParaRPr lang="et-EE" sz="2700"/>
          </a:p>
        </p:txBody>
      </p:sp>
      <p:sp>
        <p:nvSpPr>
          <p:cNvPr id="25" name="Ikooni taust"/>
          <p:cNvSpPr/>
          <p:nvPr/>
        </p:nvSpPr>
        <p:spPr>
          <a:xfrm>
            <a:off x="10561320" y="4732020"/>
            <a:ext cx="1371600" cy="137160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26" name="Imag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2602" y="3513909"/>
            <a:ext cx="3779520" cy="3840480"/>
          </a:xfrm>
          <a:prstGeom prst="rect">
            <a:avLst/>
          </a:prstGeom>
          <a:effectLst/>
        </p:spPr>
      </p:pic>
      <p:sp>
        <p:nvSpPr>
          <p:cNvPr id="27" name="Text 19"/>
          <p:cNvSpPr txBox="1"/>
          <p:nvPr/>
        </p:nvSpPr>
        <p:spPr>
          <a:xfrm>
            <a:off x="9326880" y="6309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foto</a:t>
            </a:r>
            <a:endParaRPr lang="en-US" sz="2100" dirty="0"/>
          </a:p>
        </p:txBody>
      </p:sp>
      <p:sp>
        <p:nvSpPr>
          <p:cNvPr id="28" name="LinkedIn väli 3"/>
          <p:cNvSpPr/>
          <p:nvPr/>
        </p:nvSpPr>
        <p:spPr>
          <a:xfrm>
            <a:off x="9326880" y="8092440"/>
            <a:ext cx="3840480" cy="891540"/>
          </a:xfrm>
          <a:prstGeom prst="roundRect">
            <a:avLst>
              <a:gd name="adj" fmla="val 15385"/>
            </a:avLst>
          </a:prstGeom>
          <a:solidFill>
            <a:srgbClr val="EFE4CE"/>
          </a:solidFill>
          <a:ln w="12700">
            <a:solidFill>
              <a:srgbClr val="EFE4CE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29" name="Image 5" descr="Linked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8298180"/>
            <a:ext cx="480060" cy="4800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287000" y="8092440"/>
            <a:ext cx="27432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t-EE" sz="2000" dirty="0">
                <a:hlinkClick r:id="rId9"/>
              </a:rPr>
              <a:t>Kristel Kuusik | LinkedIn</a:t>
            </a:r>
            <a:endParaRPr lang="en-US" sz="2000" dirty="0"/>
          </a:p>
        </p:txBody>
      </p:sp>
      <p:sp>
        <p:nvSpPr>
          <p:cNvPr id="31" name="Text 22"/>
          <p:cNvSpPr txBox="1"/>
          <p:nvPr/>
        </p:nvSpPr>
        <p:spPr>
          <a:xfrm>
            <a:off x="13578840" y="2057400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t-EE" sz="27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Merje Nõmmik</a:t>
            </a:r>
            <a:endParaRPr lang="en-US" sz="2700" dirty="0"/>
          </a:p>
        </p:txBody>
      </p:sp>
      <p:sp>
        <p:nvSpPr>
          <p:cNvPr id="32" name="Text 23"/>
          <p:cNvSpPr txBox="1"/>
          <p:nvPr/>
        </p:nvSpPr>
        <p:spPr>
          <a:xfrm>
            <a:off x="13578840" y="2811780"/>
            <a:ext cx="3886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42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aragsa"/>
                <a:sym typeface="Maragsa"/>
              </a:rPr>
              <a:t>Data &amp; Business Intelligence Analyst  Customer Experience &amp; Operations </a:t>
            </a:r>
          </a:p>
        </p:txBody>
      </p:sp>
      <p:sp>
        <p:nvSpPr>
          <p:cNvPr id="33" name="Foto raam 4"/>
          <p:cNvSpPr/>
          <p:nvPr/>
        </p:nvSpPr>
        <p:spPr>
          <a:xfrm>
            <a:off x="13652366" y="3497580"/>
            <a:ext cx="3492633" cy="3779520"/>
          </a:xfrm>
          <a:prstGeom prst="roundRect">
            <a:avLst>
              <a:gd name="adj" fmla="val 4286"/>
            </a:avLst>
          </a:prstGeom>
          <a:solidFill>
            <a:srgbClr val="F7F1E6"/>
          </a:solidFill>
          <a:ln w="19050">
            <a:solidFill>
              <a:srgbClr val="D2BC94"/>
            </a:solidFill>
            <a:prstDash val="dash"/>
          </a:ln>
        </p:spPr>
        <p:txBody>
          <a:bodyPr/>
          <a:lstStyle/>
          <a:p>
            <a:endParaRPr lang="et-EE" sz="2700"/>
          </a:p>
        </p:txBody>
      </p:sp>
      <p:sp>
        <p:nvSpPr>
          <p:cNvPr id="34" name="Ikooni taust"/>
          <p:cNvSpPr/>
          <p:nvPr/>
        </p:nvSpPr>
        <p:spPr>
          <a:xfrm>
            <a:off x="14813280" y="4732020"/>
            <a:ext cx="1371600" cy="137160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36" name="Text 26"/>
          <p:cNvSpPr txBox="1"/>
          <p:nvPr/>
        </p:nvSpPr>
        <p:spPr>
          <a:xfrm>
            <a:off x="13578840" y="6309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foto</a:t>
            </a:r>
            <a:endParaRPr lang="en-US" sz="2100" dirty="0"/>
          </a:p>
        </p:txBody>
      </p:sp>
      <p:sp>
        <p:nvSpPr>
          <p:cNvPr id="37" name="LinkedIn väli 4"/>
          <p:cNvSpPr/>
          <p:nvPr/>
        </p:nvSpPr>
        <p:spPr>
          <a:xfrm>
            <a:off x="13578840" y="8092440"/>
            <a:ext cx="3840480" cy="891540"/>
          </a:xfrm>
          <a:prstGeom prst="roundRect">
            <a:avLst>
              <a:gd name="adj" fmla="val 15385"/>
            </a:avLst>
          </a:prstGeom>
          <a:solidFill>
            <a:srgbClr val="EFE4CE"/>
          </a:solidFill>
          <a:ln w="12700">
            <a:solidFill>
              <a:srgbClr val="EFE4CE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38" name="Image 7" descr="Linked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3160" y="8298180"/>
            <a:ext cx="480060" cy="48006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4538960" y="8092440"/>
            <a:ext cx="27432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t-EE" sz="2000" dirty="0">
                <a:hlinkClick r:id="rId10"/>
              </a:rPr>
              <a:t>Merje Nõmmik | LinkedIn</a:t>
            </a:r>
            <a:endParaRPr lang="en-US" sz="2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53" name="Pilt 52">
            <a:extLst>
              <a:ext uri="{FF2B5EF4-FFF2-40B4-BE49-F238E27FC236}">
                <a16:creationId xmlns:a16="http://schemas.microsoft.com/office/drawing/2014/main" id="{B4724FF4-A2DD-7543-761C-F7DF5E6CC7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52367" y="3459407"/>
            <a:ext cx="3492633" cy="38195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688C1-21A8-FA15-F8BB-41D09F8EF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">
            <a:extLst>
              <a:ext uri="{FF2B5EF4-FFF2-40B4-BE49-F238E27FC236}">
                <a16:creationId xmlns:a16="http://schemas.microsoft.com/office/drawing/2014/main" id="{C03458AE-0C0A-9F05-6239-EB40F626CFAE}"/>
              </a:ext>
            </a:extLst>
          </p:cNvPr>
          <p:cNvSpPr txBox="1"/>
          <p:nvPr/>
        </p:nvSpPr>
        <p:spPr>
          <a:xfrm>
            <a:off x="822960" y="548640"/>
            <a:ext cx="1659636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1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Projekti eesmärk ja fookus</a:t>
            </a:r>
            <a:endParaRPr lang="en-US" sz="5100" dirty="0"/>
          </a:p>
        </p:txBody>
      </p:sp>
      <p:sp>
        <p:nvSpPr>
          <p:cNvPr id="4" name="Kaart">
            <a:extLst>
              <a:ext uri="{FF2B5EF4-FFF2-40B4-BE49-F238E27FC236}">
                <a16:creationId xmlns:a16="http://schemas.microsoft.com/office/drawing/2014/main" id="{2AEC947F-494F-16F2-9C6A-EBD60B141545}"/>
              </a:ext>
            </a:extLst>
          </p:cNvPr>
          <p:cNvSpPr/>
          <p:nvPr/>
        </p:nvSpPr>
        <p:spPr>
          <a:xfrm>
            <a:off x="822960" y="2400300"/>
            <a:ext cx="5212080" cy="4862620"/>
          </a:xfrm>
          <a:prstGeom prst="roundRect">
            <a:avLst>
              <a:gd name="adj" fmla="val 315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5" name="Ikooni taust">
            <a:extLst>
              <a:ext uri="{FF2B5EF4-FFF2-40B4-BE49-F238E27FC236}">
                <a16:creationId xmlns:a16="http://schemas.microsoft.com/office/drawing/2014/main" id="{8BABF7D4-5F5E-01FB-9714-98C053C12CAD}"/>
              </a:ext>
            </a:extLst>
          </p:cNvPr>
          <p:cNvSpPr/>
          <p:nvPr/>
        </p:nvSpPr>
        <p:spPr>
          <a:xfrm>
            <a:off x="1303020" y="2880360"/>
            <a:ext cx="1097280" cy="109728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6" name="Image 0" descr="FaBullseye">
            <a:extLst>
              <a:ext uri="{FF2B5EF4-FFF2-40B4-BE49-F238E27FC236}">
                <a16:creationId xmlns:a16="http://schemas.microsoft.com/office/drawing/2014/main" id="{3AE84931-9B3B-CA1C-2007-68910FE29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313" y="3165653"/>
            <a:ext cx="526695" cy="52669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5BC1795B-1B1D-B340-9FFC-B0387E383E6C}"/>
              </a:ext>
            </a:extLst>
          </p:cNvPr>
          <p:cNvSpPr txBox="1"/>
          <p:nvPr/>
        </p:nvSpPr>
        <p:spPr>
          <a:xfrm>
            <a:off x="1303020" y="43205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Eesmärk</a:t>
            </a:r>
            <a:endParaRPr lang="en-US" sz="3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EF4CA0C-9510-6545-2C29-CC403CE7906B}"/>
              </a:ext>
            </a:extLst>
          </p:cNvPr>
          <p:cNvSpPr txBox="1"/>
          <p:nvPr/>
        </p:nvSpPr>
        <p:spPr>
          <a:xfrm>
            <a:off x="1303020" y="5212080"/>
            <a:ext cx="425196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t-EE" sz="2400" noProof="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Analüüsime brutopalkade muutust, pikaajalist inflatsiooni ja finantstingimuste mõju elanike ostujõule Eesti kinnisvaraturul.</a:t>
            </a:r>
          </a:p>
          <a:p>
            <a:endParaRPr lang="et-EE" sz="2400" dirty="0">
              <a:solidFill>
                <a:srgbClr val="2F2B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2400" dirty="0"/>
          </a:p>
        </p:txBody>
      </p:sp>
      <p:sp>
        <p:nvSpPr>
          <p:cNvPr id="9" name="Kaart">
            <a:extLst>
              <a:ext uri="{FF2B5EF4-FFF2-40B4-BE49-F238E27FC236}">
                <a16:creationId xmlns:a16="http://schemas.microsoft.com/office/drawing/2014/main" id="{EB4AC4A9-029E-5D9E-E3F5-3CFDC6E2E1C2}"/>
              </a:ext>
            </a:extLst>
          </p:cNvPr>
          <p:cNvSpPr/>
          <p:nvPr/>
        </p:nvSpPr>
        <p:spPr>
          <a:xfrm>
            <a:off x="6515100" y="2400300"/>
            <a:ext cx="5212080" cy="4911090"/>
          </a:xfrm>
          <a:prstGeom prst="roundRect">
            <a:avLst>
              <a:gd name="adj" fmla="val 315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10" name="Ikooni taust">
            <a:extLst>
              <a:ext uri="{FF2B5EF4-FFF2-40B4-BE49-F238E27FC236}">
                <a16:creationId xmlns:a16="http://schemas.microsoft.com/office/drawing/2014/main" id="{35A628CE-6FC7-1B18-9CEB-2135080B712D}"/>
              </a:ext>
            </a:extLst>
          </p:cNvPr>
          <p:cNvSpPr/>
          <p:nvPr/>
        </p:nvSpPr>
        <p:spPr>
          <a:xfrm>
            <a:off x="6995160" y="2880360"/>
            <a:ext cx="1097280" cy="109728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14" name="Kaart">
            <a:extLst>
              <a:ext uri="{FF2B5EF4-FFF2-40B4-BE49-F238E27FC236}">
                <a16:creationId xmlns:a16="http://schemas.microsoft.com/office/drawing/2014/main" id="{873D2262-268B-0BEE-6946-9224713ED28A}"/>
              </a:ext>
            </a:extLst>
          </p:cNvPr>
          <p:cNvSpPr/>
          <p:nvPr/>
        </p:nvSpPr>
        <p:spPr>
          <a:xfrm>
            <a:off x="12207240" y="2400300"/>
            <a:ext cx="5212080" cy="4911090"/>
          </a:xfrm>
          <a:prstGeom prst="roundRect">
            <a:avLst>
              <a:gd name="adj" fmla="val 315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15" name="Ikooni taust">
            <a:extLst>
              <a:ext uri="{FF2B5EF4-FFF2-40B4-BE49-F238E27FC236}">
                <a16:creationId xmlns:a16="http://schemas.microsoft.com/office/drawing/2014/main" id="{FE4EF709-E05F-D42E-C875-C623ED8AFE43}"/>
              </a:ext>
            </a:extLst>
          </p:cNvPr>
          <p:cNvSpPr/>
          <p:nvPr/>
        </p:nvSpPr>
        <p:spPr>
          <a:xfrm>
            <a:off x="12687300" y="2880360"/>
            <a:ext cx="1097280" cy="109728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D6AD596-8474-3C1C-5CFE-2159DD8B28DA}"/>
              </a:ext>
            </a:extLst>
          </p:cNvPr>
          <p:cNvSpPr txBox="1"/>
          <p:nvPr/>
        </p:nvSpPr>
        <p:spPr>
          <a:xfrm>
            <a:off x="7022374" y="434993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t-EE" sz="36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</a:rPr>
              <a:t>Sihtrühm</a:t>
            </a:r>
            <a:endParaRPr lang="en-US" sz="36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7FD4BD9-81F4-6DD0-065D-4DD4651A76A6}"/>
              </a:ext>
            </a:extLst>
          </p:cNvPr>
          <p:cNvSpPr txBox="1"/>
          <p:nvPr/>
        </p:nvSpPr>
        <p:spPr>
          <a:xfrm>
            <a:off x="6978227" y="5270259"/>
            <a:ext cx="4251960" cy="173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t-EE" sz="2400" noProof="0" dirty="0">
                <a:solidFill>
                  <a:srgbClr val="2F2B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Eraisikud ja koduostjad</a:t>
            </a:r>
          </a:p>
          <a:p>
            <a:endParaRPr lang="et-EE" sz="2400" noProof="0" dirty="0">
              <a:solidFill>
                <a:srgbClr val="2F2B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t-EE" sz="2400" noProof="0" dirty="0">
                <a:solidFill>
                  <a:srgbClr val="2F2B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Väärtus: </a:t>
            </a:r>
            <a:r>
              <a:rPr lang="et-EE" sz="2400" dirty="0">
                <a:solidFill>
                  <a:srgbClr val="2F2B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Aitab teha kaalutletud otsuseid kinnisvara ostu osas</a:t>
            </a:r>
            <a:endParaRPr lang="et-E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t-EE" sz="2400" noProof="0" dirty="0">
              <a:solidFill>
                <a:srgbClr val="2F2B26"/>
              </a:solidFill>
              <a:ea typeface="Calibri" pitchFamily="34" charset="-122"/>
              <a:cs typeface="Calibri" pitchFamily="34" charset="-120"/>
            </a:endParaRPr>
          </a:p>
          <a:p>
            <a:endParaRPr lang="et-EE" sz="3600" b="1" noProof="0" dirty="0">
              <a:solidFill>
                <a:srgbClr val="2F2B26"/>
              </a:solidFill>
              <a:ea typeface="Calibri" pitchFamily="34" charset="-122"/>
              <a:cs typeface="Calibri" pitchFamily="34" charset="-120"/>
            </a:endParaRPr>
          </a:p>
          <a:p>
            <a:endParaRPr lang="et-EE" sz="3000" noProof="0" dirty="0">
              <a:solidFill>
                <a:srgbClr val="2F2B26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2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BC3729B-36BA-DF05-3E43-FC183FC69E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9" name="Image 0" descr="FaUsers">
            <a:extLst>
              <a:ext uri="{FF2B5EF4-FFF2-40B4-BE49-F238E27FC236}">
                <a16:creationId xmlns:a16="http://schemas.microsoft.com/office/drawing/2014/main" id="{E44C6502-68FC-64AC-8E5F-2F1CF3F2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226" y="3134935"/>
            <a:ext cx="613257" cy="613257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A34DC16A-BDAB-9E5A-1A66-A5D90B6C124F}"/>
              </a:ext>
            </a:extLst>
          </p:cNvPr>
          <p:cNvSpPr txBox="1"/>
          <p:nvPr/>
        </p:nvSpPr>
        <p:spPr>
          <a:xfrm>
            <a:off x="12687300" y="43817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Fookus</a:t>
            </a:r>
            <a:endParaRPr lang="en-US" sz="3600" dirty="0"/>
          </a:p>
        </p:txBody>
      </p:sp>
      <p:pic>
        <p:nvPicPr>
          <p:cNvPr id="11" name="Image 1" descr="FaSearch">
            <a:extLst>
              <a:ext uri="{FF2B5EF4-FFF2-40B4-BE49-F238E27FC236}">
                <a16:creationId xmlns:a16="http://schemas.microsoft.com/office/drawing/2014/main" id="{F13A5AF1-0CEA-F2D3-4D38-6A0EB4284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17854" y="3201575"/>
            <a:ext cx="526695" cy="526695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C0671651-35E2-FEB6-9D5A-2B2B5D66112E}"/>
              </a:ext>
            </a:extLst>
          </p:cNvPr>
          <p:cNvSpPr txBox="1"/>
          <p:nvPr/>
        </p:nvSpPr>
        <p:spPr>
          <a:xfrm>
            <a:off x="12573000" y="5150031"/>
            <a:ext cx="42519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t-EE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t-EE" sz="2400" noProof="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keskmise palgaga töötaja suudab kinnisvara hindadega sammu pidada?</a:t>
            </a:r>
          </a:p>
          <a:p>
            <a:endParaRPr lang="et-EE" sz="3000" dirty="0">
              <a:solidFill>
                <a:srgbClr val="2F2B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t-EE" sz="3000" dirty="0">
              <a:solidFill>
                <a:srgbClr val="2F2B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t-EE" sz="3000" dirty="0">
              <a:solidFill>
                <a:srgbClr val="2F2B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3200" dirty="0"/>
          </a:p>
        </p:txBody>
      </p:sp>
      <p:sp>
        <p:nvSpPr>
          <p:cNvPr id="36" name="Kaart">
            <a:extLst>
              <a:ext uri="{FF2B5EF4-FFF2-40B4-BE49-F238E27FC236}">
                <a16:creationId xmlns:a16="http://schemas.microsoft.com/office/drawing/2014/main" id="{E3637397-5C95-3727-0B58-F4B50FBFDB85}"/>
              </a:ext>
            </a:extLst>
          </p:cNvPr>
          <p:cNvSpPr/>
          <p:nvPr/>
        </p:nvSpPr>
        <p:spPr>
          <a:xfrm>
            <a:off x="4685937" y="7800674"/>
            <a:ext cx="8916126" cy="1687830"/>
          </a:xfrm>
          <a:prstGeom prst="roundRect">
            <a:avLst>
              <a:gd name="adj" fmla="val 315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772B937E-95B7-7883-86F2-C802784897B3}"/>
              </a:ext>
            </a:extLst>
          </p:cNvPr>
          <p:cNvSpPr txBox="1"/>
          <p:nvPr/>
        </p:nvSpPr>
        <p:spPr>
          <a:xfrm>
            <a:off x="5395874" y="832167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t-EE" sz="36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</a:rPr>
              <a:t>Hüpotees</a:t>
            </a:r>
            <a:endParaRPr lang="en-US" sz="36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8FAA6304-53D9-92CC-8717-F5D6F089E8DA}"/>
              </a:ext>
            </a:extLst>
          </p:cNvPr>
          <p:cNvSpPr txBox="1"/>
          <p:nvPr/>
        </p:nvSpPr>
        <p:spPr>
          <a:xfrm>
            <a:off x="8435340" y="8266340"/>
            <a:ext cx="4251960" cy="99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t-EE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Ostuvõime on inflatsiooni tõttu madalam kui eelmisel kümnendil</a:t>
            </a:r>
          </a:p>
          <a:p>
            <a:endParaRPr lang="et-EE" sz="2400" dirty="0">
              <a:solidFill>
                <a:srgbClr val="2F2B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0817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Kaart">
            <a:extLst>
              <a:ext uri="{FF2B5EF4-FFF2-40B4-BE49-F238E27FC236}">
                <a16:creationId xmlns:a16="http://schemas.microsoft.com/office/drawing/2014/main" id="{CE0D82F9-21FB-E56E-6F36-953B72FA24AB}"/>
              </a:ext>
            </a:extLst>
          </p:cNvPr>
          <p:cNvSpPr/>
          <p:nvPr/>
        </p:nvSpPr>
        <p:spPr>
          <a:xfrm>
            <a:off x="9755236" y="5995850"/>
            <a:ext cx="5516878" cy="3076304"/>
          </a:xfrm>
          <a:prstGeom prst="roundRect">
            <a:avLst>
              <a:gd name="adj" fmla="val 5000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pPr algn="just"/>
            <a:endParaRPr lang="et-EE" sz="2700" dirty="0"/>
          </a:p>
        </p:txBody>
      </p:sp>
      <p:sp>
        <p:nvSpPr>
          <p:cNvPr id="41" name="Kaart">
            <a:extLst>
              <a:ext uri="{FF2B5EF4-FFF2-40B4-BE49-F238E27FC236}">
                <a16:creationId xmlns:a16="http://schemas.microsoft.com/office/drawing/2014/main" id="{72CE275C-EA55-627A-C17C-B4408AC7A363}"/>
              </a:ext>
            </a:extLst>
          </p:cNvPr>
          <p:cNvSpPr/>
          <p:nvPr/>
        </p:nvSpPr>
        <p:spPr>
          <a:xfrm>
            <a:off x="9755235" y="2184765"/>
            <a:ext cx="5516879" cy="3233058"/>
          </a:xfrm>
          <a:prstGeom prst="roundRect">
            <a:avLst>
              <a:gd name="adj" fmla="val 5000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pPr algn="just"/>
            <a:endParaRPr lang="et-EE" sz="2700" dirty="0"/>
          </a:p>
        </p:txBody>
      </p:sp>
      <p:sp>
        <p:nvSpPr>
          <p:cNvPr id="2" name="Pealkiri"/>
          <p:cNvSpPr txBox="1"/>
          <p:nvPr/>
        </p:nvSpPr>
        <p:spPr>
          <a:xfrm>
            <a:off x="822960" y="548640"/>
            <a:ext cx="1659636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1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Ärimõisted</a:t>
            </a:r>
            <a:endParaRPr lang="en-US" sz="5100" dirty="0"/>
          </a:p>
        </p:txBody>
      </p:sp>
      <p:sp>
        <p:nvSpPr>
          <p:cNvPr id="4" name="Kaart"/>
          <p:cNvSpPr/>
          <p:nvPr/>
        </p:nvSpPr>
        <p:spPr>
          <a:xfrm>
            <a:off x="3015886" y="2171700"/>
            <a:ext cx="5747113" cy="3233058"/>
          </a:xfrm>
          <a:prstGeom prst="roundRect">
            <a:avLst>
              <a:gd name="adj" fmla="val 5000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t-EE" sz="2700" dirty="0"/>
          </a:p>
        </p:txBody>
      </p:sp>
      <p:sp>
        <p:nvSpPr>
          <p:cNvPr id="5" name="Ikooni taust"/>
          <p:cNvSpPr/>
          <p:nvPr/>
        </p:nvSpPr>
        <p:spPr>
          <a:xfrm>
            <a:off x="3588891" y="2661557"/>
            <a:ext cx="822960" cy="82296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6" name="Image 0" descr="Fa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183" y="2893423"/>
            <a:ext cx="395021" cy="3950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58146" y="2661557"/>
            <a:ext cx="3497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5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Kinnisvara hind</a:t>
            </a:r>
            <a:endParaRPr lang="en-US" sz="2850" dirty="0"/>
          </a:p>
        </p:txBody>
      </p:sp>
      <p:sp>
        <p:nvSpPr>
          <p:cNvPr id="8" name="Text 4"/>
          <p:cNvSpPr txBox="1"/>
          <p:nvPr/>
        </p:nvSpPr>
        <p:spPr>
          <a:xfrm>
            <a:off x="3806190" y="3758837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Korteriomandite tehingute keskmine ühe m² hind eurodes valitud maakonnas.</a:t>
            </a:r>
            <a:endParaRPr lang="en-US" sz="2400" dirty="0"/>
          </a:p>
        </p:txBody>
      </p:sp>
      <p:sp>
        <p:nvSpPr>
          <p:cNvPr id="10" name="Ikooni taust"/>
          <p:cNvSpPr/>
          <p:nvPr/>
        </p:nvSpPr>
        <p:spPr>
          <a:xfrm>
            <a:off x="10218420" y="2495007"/>
            <a:ext cx="822960" cy="82296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11" name="Image 1" descr="FaMoneyBillWa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2695913"/>
            <a:ext cx="395021" cy="39502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315700" y="2517866"/>
            <a:ext cx="3497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5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Palk (nominaalne)</a:t>
            </a:r>
            <a:endParaRPr lang="en-US" sz="2850" dirty="0"/>
          </a:p>
        </p:txBody>
      </p:sp>
      <p:sp>
        <p:nvSpPr>
          <p:cNvPr id="13" name="Text 8"/>
          <p:cNvSpPr txBox="1"/>
          <p:nvPr/>
        </p:nvSpPr>
        <p:spPr>
          <a:xfrm>
            <a:off x="10595610" y="3523707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Täisajaga töötaja keskmine brutotasu kuus enne maksude mahaarvamist.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13647420" y="2743200"/>
            <a:ext cx="3497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850" dirty="0"/>
          </a:p>
        </p:txBody>
      </p:sp>
      <p:sp>
        <p:nvSpPr>
          <p:cNvPr id="18" name="Text 12"/>
          <p:cNvSpPr txBox="1"/>
          <p:nvPr/>
        </p:nvSpPr>
        <p:spPr>
          <a:xfrm>
            <a:off x="12618720" y="38404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2400" dirty="0"/>
          </a:p>
        </p:txBody>
      </p:sp>
      <p:sp>
        <p:nvSpPr>
          <p:cNvPr id="19" name="Kaart"/>
          <p:cNvSpPr/>
          <p:nvPr/>
        </p:nvSpPr>
        <p:spPr>
          <a:xfrm>
            <a:off x="3015887" y="6044837"/>
            <a:ext cx="5747112" cy="3027317"/>
          </a:xfrm>
          <a:prstGeom prst="roundRect">
            <a:avLst>
              <a:gd name="adj" fmla="val 5000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20" name="Ikooni taust"/>
          <p:cNvSpPr/>
          <p:nvPr/>
        </p:nvSpPr>
        <p:spPr>
          <a:xfrm>
            <a:off x="3372394" y="6364877"/>
            <a:ext cx="822960" cy="82296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21" name="Image 3" descr="FaShoppingC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413" y="6611502"/>
            <a:ext cx="395021" cy="39502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375799" y="6446520"/>
            <a:ext cx="3497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5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Inflatsioon (THI)</a:t>
            </a:r>
            <a:endParaRPr lang="en-US" sz="2850" dirty="0"/>
          </a:p>
        </p:txBody>
      </p:sp>
      <p:sp>
        <p:nvSpPr>
          <p:cNvPr id="23" name="Text 16"/>
          <p:cNvSpPr txBox="1"/>
          <p:nvPr/>
        </p:nvSpPr>
        <p:spPr>
          <a:xfrm>
            <a:off x="3621548" y="754380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Tarbija ostukorvi maksumuse muutus ajas ehk elukalliduse muutus.</a:t>
            </a:r>
            <a:endParaRPr lang="en-US" sz="2400" dirty="0"/>
          </a:p>
        </p:txBody>
      </p:sp>
      <p:sp>
        <p:nvSpPr>
          <p:cNvPr id="25" name="Ikooni taust"/>
          <p:cNvSpPr/>
          <p:nvPr/>
        </p:nvSpPr>
        <p:spPr>
          <a:xfrm>
            <a:off x="10424160" y="6328954"/>
            <a:ext cx="822960" cy="82296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26" name="Image 4" descr="FaPerc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8527" y="6611502"/>
            <a:ext cx="395021" cy="3950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1431089" y="6397533"/>
            <a:ext cx="3497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5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Intressimäär</a:t>
            </a:r>
            <a:endParaRPr lang="en-US" sz="2850" dirty="0"/>
          </a:p>
        </p:txBody>
      </p:sp>
      <p:sp>
        <p:nvSpPr>
          <p:cNvPr id="28" name="Text 20"/>
          <p:cNvSpPr txBox="1"/>
          <p:nvPr/>
        </p:nvSpPr>
        <p:spPr>
          <a:xfrm>
            <a:off x="10568527" y="7426234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Eesti kodumajapidamiste EUR-laenude lepingulised intressimäärad.</a:t>
            </a:r>
            <a:endParaRPr lang="en-US" sz="2400" dirty="0"/>
          </a:p>
        </p:txBody>
      </p:sp>
      <p:sp>
        <p:nvSpPr>
          <p:cNvPr id="33" name="Text 24"/>
          <p:cNvSpPr txBox="1"/>
          <p:nvPr/>
        </p:nvSpPr>
        <p:spPr>
          <a:xfrm>
            <a:off x="12618720" y="754380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2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"/>
          <p:cNvSpPr txBox="1"/>
          <p:nvPr/>
        </p:nvSpPr>
        <p:spPr>
          <a:xfrm>
            <a:off x="822960" y="548640"/>
            <a:ext cx="1659636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1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Andmeallikad</a:t>
            </a:r>
            <a:endParaRPr lang="en-US" sz="5100" dirty="0"/>
          </a:p>
        </p:txBody>
      </p:sp>
      <p:sp>
        <p:nvSpPr>
          <p:cNvPr id="4" name="Kaart"/>
          <p:cNvSpPr/>
          <p:nvPr/>
        </p:nvSpPr>
        <p:spPr>
          <a:xfrm>
            <a:off x="822960" y="2400300"/>
            <a:ext cx="3909060" cy="3497580"/>
          </a:xfrm>
          <a:prstGeom prst="roundRect">
            <a:avLst>
              <a:gd name="adj" fmla="val 4706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5" name="Ikooni taust"/>
          <p:cNvSpPr/>
          <p:nvPr/>
        </p:nvSpPr>
        <p:spPr>
          <a:xfrm>
            <a:off x="1234440" y="2743200"/>
            <a:ext cx="891540" cy="89154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6" name="Image 0" descr="FaBuil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242" y="2975002"/>
            <a:ext cx="427940" cy="4279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3909060"/>
            <a:ext cx="30861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Maa-amet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4526280"/>
            <a:ext cx="3086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Korterite m² hind ja tehingute arv (tehingute andmebaas)</a:t>
            </a:r>
            <a:endParaRPr lang="en-US" sz="2400" dirty="0"/>
          </a:p>
        </p:txBody>
      </p:sp>
      <p:sp>
        <p:nvSpPr>
          <p:cNvPr id="9" name="Kaart"/>
          <p:cNvSpPr/>
          <p:nvPr/>
        </p:nvSpPr>
        <p:spPr>
          <a:xfrm>
            <a:off x="5052015" y="2400300"/>
            <a:ext cx="3909060" cy="3497580"/>
          </a:xfrm>
          <a:prstGeom prst="roundRect">
            <a:avLst>
              <a:gd name="adj" fmla="val 4706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10" name="Ikooni taust"/>
          <p:cNvSpPr/>
          <p:nvPr/>
        </p:nvSpPr>
        <p:spPr>
          <a:xfrm>
            <a:off x="5463495" y="2743200"/>
            <a:ext cx="891540" cy="89154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11" name="Image 1" descr="FaUs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295" y="2975002"/>
            <a:ext cx="427940" cy="4279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63495" y="3909060"/>
            <a:ext cx="30861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Statistikaamet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5463495" y="4526280"/>
            <a:ext cx="3086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Palgastatistika (PA21, PA004, PA117)</a:t>
            </a:r>
            <a:endParaRPr lang="en-US" sz="2400" dirty="0"/>
          </a:p>
        </p:txBody>
      </p:sp>
      <p:sp>
        <p:nvSpPr>
          <p:cNvPr id="14" name="Kaart"/>
          <p:cNvSpPr/>
          <p:nvPr/>
        </p:nvSpPr>
        <p:spPr>
          <a:xfrm>
            <a:off x="9281069" y="2400300"/>
            <a:ext cx="3909060" cy="3497580"/>
          </a:xfrm>
          <a:prstGeom prst="roundRect">
            <a:avLst>
              <a:gd name="adj" fmla="val 4706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15" name="Ikooni taust"/>
          <p:cNvSpPr/>
          <p:nvPr/>
        </p:nvSpPr>
        <p:spPr>
          <a:xfrm>
            <a:off x="9692549" y="2743200"/>
            <a:ext cx="891540" cy="89154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16" name="Image 2" descr="FaUnivers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350" y="2975002"/>
            <a:ext cx="427940" cy="4279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692549" y="3909060"/>
            <a:ext cx="30861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Eesti Pank</a:t>
            </a:r>
            <a:endParaRPr lang="en-US" sz="3000" dirty="0"/>
          </a:p>
        </p:txBody>
      </p:sp>
      <p:sp>
        <p:nvSpPr>
          <p:cNvPr id="18" name="Text 12"/>
          <p:cNvSpPr txBox="1"/>
          <p:nvPr/>
        </p:nvSpPr>
        <p:spPr>
          <a:xfrm>
            <a:off x="9616440" y="4457700"/>
            <a:ext cx="3086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t-EE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Eluasemelaenude intressimäärad laenusummalt</a:t>
            </a:r>
            <a:endParaRPr lang="et-EE" sz="2400" dirty="0"/>
          </a:p>
        </p:txBody>
      </p:sp>
      <p:sp>
        <p:nvSpPr>
          <p:cNvPr id="19" name="Kaart"/>
          <p:cNvSpPr/>
          <p:nvPr/>
        </p:nvSpPr>
        <p:spPr>
          <a:xfrm>
            <a:off x="13510124" y="2400300"/>
            <a:ext cx="3909060" cy="3497580"/>
          </a:xfrm>
          <a:prstGeom prst="roundRect">
            <a:avLst>
              <a:gd name="adj" fmla="val 4706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20" name="Ikooni taust"/>
          <p:cNvSpPr/>
          <p:nvPr/>
        </p:nvSpPr>
        <p:spPr>
          <a:xfrm>
            <a:off x="13921604" y="2743200"/>
            <a:ext cx="891540" cy="89154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21" name="Image 3" descr="FaChart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53404" y="2975002"/>
            <a:ext cx="427940" cy="4279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921604" y="3909060"/>
            <a:ext cx="30861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Statistikaamet</a:t>
            </a:r>
            <a:endParaRPr lang="en-US" sz="3000" dirty="0"/>
          </a:p>
        </p:txBody>
      </p:sp>
      <p:sp>
        <p:nvSpPr>
          <p:cNvPr id="23" name="Text 16"/>
          <p:cNvSpPr txBox="1"/>
          <p:nvPr/>
        </p:nvSpPr>
        <p:spPr>
          <a:xfrm>
            <a:off x="13921604" y="4526280"/>
            <a:ext cx="3086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Tarbijahinnaindeks THI (tabel IA002)</a:t>
            </a:r>
            <a:endParaRPr lang="en-US" sz="2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8" name="Kaart">
            <a:extLst>
              <a:ext uri="{FF2B5EF4-FFF2-40B4-BE49-F238E27FC236}">
                <a16:creationId xmlns:a16="http://schemas.microsoft.com/office/drawing/2014/main" id="{BC2604D1-F601-B03F-0241-43B8286DB096}"/>
              </a:ext>
            </a:extLst>
          </p:cNvPr>
          <p:cNvSpPr/>
          <p:nvPr/>
        </p:nvSpPr>
        <p:spPr>
          <a:xfrm>
            <a:off x="1425551" y="6547757"/>
            <a:ext cx="3581400" cy="2006547"/>
          </a:xfrm>
          <a:prstGeom prst="roundRect">
            <a:avLst>
              <a:gd name="adj" fmla="val 4706"/>
            </a:avLst>
          </a:prstGeom>
          <a:noFill/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t-EE" sz="2700" dirty="0"/>
          </a:p>
          <a:p>
            <a:pPr algn="ctr"/>
            <a:r>
              <a:rPr lang="et-EE" sz="3000" b="1" dirty="0">
                <a:latin typeface="Cambria" panose="02040503050406030204" pitchFamily="18" charset="0"/>
                <a:ea typeface="Cambria" panose="02040503050406030204" pitchFamily="18" charset="0"/>
              </a:rPr>
              <a:t>15 </a:t>
            </a:r>
          </a:p>
          <a:p>
            <a:pPr algn="ctr"/>
            <a:r>
              <a:rPr lang="et-EE" sz="3000" b="1" dirty="0">
                <a:latin typeface="Cambria" panose="02040503050406030204" pitchFamily="18" charset="0"/>
                <a:ea typeface="Cambria" panose="02040503050406030204" pitchFamily="18" charset="0"/>
              </a:rPr>
              <a:t>maakonda</a:t>
            </a:r>
          </a:p>
        </p:txBody>
      </p:sp>
      <p:sp>
        <p:nvSpPr>
          <p:cNvPr id="40" name="Kaart">
            <a:extLst>
              <a:ext uri="{FF2B5EF4-FFF2-40B4-BE49-F238E27FC236}">
                <a16:creationId xmlns:a16="http://schemas.microsoft.com/office/drawing/2014/main" id="{6226989A-FE54-45E6-E06F-677E366DBB54}"/>
              </a:ext>
            </a:extLst>
          </p:cNvPr>
          <p:cNvSpPr/>
          <p:nvPr/>
        </p:nvSpPr>
        <p:spPr>
          <a:xfrm>
            <a:off x="13022444" y="6520543"/>
            <a:ext cx="3581400" cy="2006547"/>
          </a:xfrm>
          <a:prstGeom prst="roundRect">
            <a:avLst>
              <a:gd name="adj" fmla="val 4706"/>
            </a:avLst>
          </a:prstGeom>
          <a:noFill/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t-EE" sz="2700" dirty="0"/>
          </a:p>
          <a:p>
            <a:pPr algn="ctr"/>
            <a:r>
              <a:rPr lang="et-EE" sz="3000" b="1" dirty="0">
                <a:latin typeface="Cambria" panose="02040503050406030204" pitchFamily="18" charset="0"/>
                <a:ea typeface="Cambria" panose="02040503050406030204" pitchFamily="18" charset="0"/>
              </a:rPr>
              <a:t>3 kasutajarakendust</a:t>
            </a:r>
          </a:p>
        </p:txBody>
      </p:sp>
      <p:sp>
        <p:nvSpPr>
          <p:cNvPr id="42" name="Kaart">
            <a:extLst>
              <a:ext uri="{FF2B5EF4-FFF2-40B4-BE49-F238E27FC236}">
                <a16:creationId xmlns:a16="http://schemas.microsoft.com/office/drawing/2014/main" id="{3DE2DB34-E208-A717-DA23-649DFF912261}"/>
              </a:ext>
            </a:extLst>
          </p:cNvPr>
          <p:cNvSpPr/>
          <p:nvPr/>
        </p:nvSpPr>
        <p:spPr>
          <a:xfrm>
            <a:off x="5220381" y="6547757"/>
            <a:ext cx="3581400" cy="2006547"/>
          </a:xfrm>
          <a:prstGeom prst="roundRect">
            <a:avLst>
              <a:gd name="adj" fmla="val 4706"/>
            </a:avLst>
          </a:prstGeom>
          <a:noFill/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t-EE" sz="2700" dirty="0"/>
          </a:p>
          <a:p>
            <a:pPr algn="ctr"/>
            <a:r>
              <a:rPr lang="et-EE" sz="3000" b="1" dirty="0">
                <a:latin typeface="Cambria" panose="02040503050406030204" pitchFamily="18" charset="0"/>
                <a:ea typeface="Cambria" panose="02040503050406030204" pitchFamily="18" charset="0"/>
              </a:rPr>
              <a:t>2005-2026 vaatlusperiood</a:t>
            </a:r>
          </a:p>
        </p:txBody>
      </p:sp>
      <p:sp>
        <p:nvSpPr>
          <p:cNvPr id="44" name="Kaart">
            <a:extLst>
              <a:ext uri="{FF2B5EF4-FFF2-40B4-BE49-F238E27FC236}">
                <a16:creationId xmlns:a16="http://schemas.microsoft.com/office/drawing/2014/main" id="{59810C2E-DDC8-C6F9-453E-5490CACE6EB6}"/>
              </a:ext>
            </a:extLst>
          </p:cNvPr>
          <p:cNvSpPr/>
          <p:nvPr/>
        </p:nvSpPr>
        <p:spPr>
          <a:xfrm>
            <a:off x="9121140" y="6547757"/>
            <a:ext cx="3581400" cy="2006547"/>
          </a:xfrm>
          <a:prstGeom prst="roundRect">
            <a:avLst>
              <a:gd name="adj" fmla="val 4706"/>
            </a:avLst>
          </a:prstGeom>
          <a:noFill/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t-EE" sz="2700" dirty="0"/>
          </a:p>
          <a:p>
            <a:pPr algn="ctr"/>
            <a:r>
              <a:rPr lang="et-EE" sz="3000" b="1" dirty="0">
                <a:latin typeface="Cambria" panose="02040503050406030204" pitchFamily="18" charset="0"/>
                <a:ea typeface="Cambria" panose="02040503050406030204" pitchFamily="18" charset="0"/>
              </a:rPr>
              <a:t>3 </a:t>
            </a:r>
          </a:p>
          <a:p>
            <a:pPr algn="ctr"/>
            <a:r>
              <a:rPr lang="et-EE" sz="3000" b="1" dirty="0">
                <a:latin typeface="Cambria" panose="02040503050406030204" pitchFamily="18" charset="0"/>
                <a:ea typeface="Cambria" panose="02040503050406030204" pitchFamily="18" charset="0"/>
              </a:rPr>
              <a:t>andmeallikat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"/>
          <p:cNvSpPr txBox="1"/>
          <p:nvPr/>
        </p:nvSpPr>
        <p:spPr>
          <a:xfrm>
            <a:off x="822960" y="548640"/>
            <a:ext cx="1659636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1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Andmevoog allikatest raportini</a:t>
            </a:r>
            <a:endParaRPr lang="en-US" sz="5100" dirty="0"/>
          </a:p>
        </p:txBody>
      </p:sp>
      <p:sp>
        <p:nvSpPr>
          <p:cNvPr id="4" name="Skeemi raam"/>
          <p:cNvSpPr/>
          <p:nvPr/>
        </p:nvSpPr>
        <p:spPr>
          <a:xfrm>
            <a:off x="868680" y="2386584"/>
            <a:ext cx="10698480" cy="5239512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2700">
            <a:solidFill>
              <a:srgbClr val="E5D8C0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5" name="Allikate grupp"/>
          <p:cNvSpPr/>
          <p:nvPr/>
        </p:nvSpPr>
        <p:spPr>
          <a:xfrm>
            <a:off x="1165860" y="2674620"/>
            <a:ext cx="3017520" cy="4732020"/>
          </a:xfrm>
          <a:prstGeom prst="roundRect">
            <a:avLst>
              <a:gd name="adj" fmla="val 4545"/>
            </a:avLst>
          </a:prstGeom>
          <a:solidFill>
            <a:srgbClr val="EFE4CE"/>
          </a:solidFill>
          <a:ln w="15875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6" name="Text 3"/>
          <p:cNvSpPr txBox="1"/>
          <p:nvPr/>
        </p:nvSpPr>
        <p:spPr>
          <a:xfrm>
            <a:off x="1165860" y="2743200"/>
            <a:ext cx="3017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100" b="1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Allikad</a:t>
            </a:r>
            <a:endParaRPr lang="en-US" sz="2100" dirty="0"/>
          </a:p>
        </p:txBody>
      </p:sp>
      <p:sp>
        <p:nvSpPr>
          <p:cNvPr id="7" name="Allikas"/>
          <p:cNvSpPr/>
          <p:nvPr/>
        </p:nvSpPr>
        <p:spPr>
          <a:xfrm>
            <a:off x="1371600" y="336042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8" name="Text 5"/>
          <p:cNvSpPr txBox="1"/>
          <p:nvPr/>
        </p:nvSpPr>
        <p:spPr>
          <a:xfrm>
            <a:off x="1371600" y="33604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Statistikaamet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Palk &amp; THI</a:t>
            </a:r>
            <a:endParaRPr lang="en-US" sz="2400" dirty="0"/>
          </a:p>
        </p:txBody>
      </p:sp>
      <p:sp>
        <p:nvSpPr>
          <p:cNvPr id="9" name="Allikas"/>
          <p:cNvSpPr/>
          <p:nvPr/>
        </p:nvSpPr>
        <p:spPr>
          <a:xfrm>
            <a:off x="1371600" y="473202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10" name="Text 7"/>
          <p:cNvSpPr txBox="1"/>
          <p:nvPr/>
        </p:nvSpPr>
        <p:spPr>
          <a:xfrm>
            <a:off x="1371600" y="47320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Eesti Pank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Intressid</a:t>
            </a:r>
            <a:endParaRPr lang="en-US" sz="2400" dirty="0"/>
          </a:p>
        </p:txBody>
      </p:sp>
      <p:sp>
        <p:nvSpPr>
          <p:cNvPr id="11" name="Allikas"/>
          <p:cNvSpPr/>
          <p:nvPr/>
        </p:nvSpPr>
        <p:spPr>
          <a:xfrm>
            <a:off x="1371600" y="610362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12" name="Text 9"/>
          <p:cNvSpPr txBox="1"/>
          <p:nvPr/>
        </p:nvSpPr>
        <p:spPr>
          <a:xfrm>
            <a:off x="1371600" y="61036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Maa-amet</a:t>
            </a:r>
            <a:endParaRPr lang="en-US" sz="2100" dirty="0"/>
          </a:p>
          <a:p>
            <a:pPr algn="ctr"/>
            <a:r>
              <a:rPr lang="en-US" sz="24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m² hind &amp; tehingute arv</a:t>
            </a:r>
            <a:endParaRPr lang="en-US" sz="2400" dirty="0"/>
          </a:p>
        </p:txBody>
      </p:sp>
      <p:sp>
        <p:nvSpPr>
          <p:cNvPr id="13" name="Nool"/>
          <p:cNvSpPr/>
          <p:nvPr/>
        </p:nvSpPr>
        <p:spPr>
          <a:xfrm>
            <a:off x="3977640" y="3909060"/>
            <a:ext cx="754380" cy="1097280"/>
          </a:xfrm>
          <a:prstGeom prst="line">
            <a:avLst/>
          </a:prstGeom>
          <a:noFill/>
          <a:ln w="22225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14" name="Nool"/>
          <p:cNvSpPr/>
          <p:nvPr/>
        </p:nvSpPr>
        <p:spPr>
          <a:xfrm>
            <a:off x="3977640" y="5280660"/>
            <a:ext cx="754380" cy="0"/>
          </a:xfrm>
          <a:prstGeom prst="line">
            <a:avLst/>
          </a:prstGeom>
          <a:noFill/>
          <a:ln w="22225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15" name="Nool"/>
          <p:cNvSpPr/>
          <p:nvPr/>
        </p:nvSpPr>
        <p:spPr>
          <a:xfrm flipV="1">
            <a:off x="3977640" y="5554980"/>
            <a:ext cx="754380" cy="1097280"/>
          </a:xfrm>
          <a:prstGeom prst="line">
            <a:avLst/>
          </a:prstGeom>
          <a:noFill/>
          <a:ln w="22225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16" name="Etapp"/>
          <p:cNvSpPr/>
          <p:nvPr/>
        </p:nvSpPr>
        <p:spPr>
          <a:xfrm>
            <a:off x="4800600" y="4389120"/>
            <a:ext cx="2057400" cy="1783080"/>
          </a:xfrm>
          <a:prstGeom prst="roundRect">
            <a:avLst>
              <a:gd name="adj" fmla="val 7692"/>
            </a:avLst>
          </a:prstGeom>
          <a:solidFill>
            <a:srgbClr val="EADBC2"/>
          </a:solidFill>
          <a:ln w="12700">
            <a:solidFill>
              <a:srgbClr val="E0D0B0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17" name="Text 14"/>
          <p:cNvSpPr txBox="1"/>
          <p:nvPr/>
        </p:nvSpPr>
        <p:spPr>
          <a:xfrm>
            <a:off x="4869180" y="438912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Laadimine &amp; Rikastamine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400" dirty="0"/>
          </a:p>
        </p:txBody>
      </p:sp>
      <p:sp>
        <p:nvSpPr>
          <p:cNvPr id="18" name="Nool"/>
          <p:cNvSpPr/>
          <p:nvPr/>
        </p:nvSpPr>
        <p:spPr>
          <a:xfrm>
            <a:off x="6858000" y="5280660"/>
            <a:ext cx="137160" cy="0"/>
          </a:xfrm>
          <a:prstGeom prst="line">
            <a:avLst/>
          </a:prstGeom>
          <a:noFill/>
          <a:ln w="22225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19" name="Etapp"/>
          <p:cNvSpPr/>
          <p:nvPr/>
        </p:nvSpPr>
        <p:spPr>
          <a:xfrm>
            <a:off x="6995160" y="4389120"/>
            <a:ext cx="2057400" cy="1783080"/>
          </a:xfrm>
          <a:prstGeom prst="roundRect">
            <a:avLst>
              <a:gd name="adj" fmla="val 7692"/>
            </a:avLst>
          </a:prstGeom>
          <a:solidFill>
            <a:srgbClr val="F3EADA"/>
          </a:solidFill>
          <a:ln w="12700">
            <a:solidFill>
              <a:srgbClr val="E0D0B0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20" name="Text 17"/>
          <p:cNvSpPr txBox="1"/>
          <p:nvPr/>
        </p:nvSpPr>
        <p:spPr>
          <a:xfrm>
            <a:off x="7018020" y="438912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Töötlus &amp; Tähtskeem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2400" dirty="0"/>
          </a:p>
        </p:txBody>
      </p:sp>
      <p:sp>
        <p:nvSpPr>
          <p:cNvPr id="21" name="Nool"/>
          <p:cNvSpPr/>
          <p:nvPr/>
        </p:nvSpPr>
        <p:spPr>
          <a:xfrm>
            <a:off x="9052560" y="5280660"/>
            <a:ext cx="137160" cy="0"/>
          </a:xfrm>
          <a:prstGeom prst="line">
            <a:avLst/>
          </a:prstGeom>
          <a:noFill/>
          <a:ln w="22225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22" name="Etapp"/>
          <p:cNvSpPr/>
          <p:nvPr/>
        </p:nvSpPr>
        <p:spPr>
          <a:xfrm>
            <a:off x="9189720" y="4389120"/>
            <a:ext cx="2057400" cy="1783080"/>
          </a:xfrm>
          <a:prstGeom prst="roundRect">
            <a:avLst>
              <a:gd name="adj" fmla="val 7692"/>
            </a:avLst>
          </a:prstGeom>
          <a:solidFill>
            <a:srgbClr val="FAF6EE"/>
          </a:solidFill>
          <a:ln w="12700">
            <a:solidFill>
              <a:srgbClr val="E0D0B0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23" name="Text 20"/>
          <p:cNvSpPr txBox="1"/>
          <p:nvPr/>
        </p:nvSpPr>
        <p:spPr>
          <a:xfrm>
            <a:off x="9258300" y="438912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Analüüs &amp; Raport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2400" b="1" dirty="0"/>
          </a:p>
        </p:txBody>
      </p:sp>
      <p:sp>
        <p:nvSpPr>
          <p:cNvPr id="24" name="Text 21"/>
          <p:cNvSpPr txBox="1"/>
          <p:nvPr/>
        </p:nvSpPr>
        <p:spPr>
          <a:xfrm>
            <a:off x="12070080" y="2626994"/>
            <a:ext cx="5349240" cy="499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t-EE" sz="2400" b="1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Failid</a:t>
            </a: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kolmest avalikust allikast (</a:t>
            </a:r>
            <a:r>
              <a:rPr lang="et-EE" sz="240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cs</a:t>
            </a: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v)</a:t>
            </a:r>
          </a:p>
          <a:p>
            <a:endParaRPr lang="et-EE" sz="2400" noProof="0" dirty="0">
              <a:solidFill>
                <a:srgbClr val="2F2B26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et-EE" sz="2400" b="1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Python</a:t>
            </a: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– andmete laadimine, puhastamine ja rikastamine</a:t>
            </a:r>
          </a:p>
          <a:p>
            <a:endParaRPr lang="et-EE" sz="24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t-EE" sz="2400" b="1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PostgreSQL</a:t>
            </a: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– töötlus ja tähtskeem </a:t>
            </a:r>
          </a:p>
          <a:p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(skeem grupitoo_kv)</a:t>
            </a:r>
          </a:p>
          <a:p>
            <a:endParaRPr lang="et-EE" sz="24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t-EE" sz="2400" b="1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Power BI Desktop</a:t>
            </a: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– analüüs ja raport</a:t>
            </a:r>
          </a:p>
          <a:p>
            <a:endParaRPr lang="et-EE" sz="2400" dirty="0">
              <a:solidFill>
                <a:srgbClr val="2F2B26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et-EE" sz="24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Streamlit</a:t>
            </a:r>
            <a:r>
              <a:rPr lang="et-EE" sz="2400" noProof="0" dirty="0">
                <a:latin typeface="Cambria" panose="02040503050406030204" pitchFamily="18" charset="0"/>
                <a:ea typeface="Cambria" panose="02040503050406030204" pitchFamily="18" charset="0"/>
              </a:rPr>
              <a:t> – interaktiivsed veebirakendused</a:t>
            </a:r>
          </a:p>
          <a:p>
            <a:endParaRPr lang="et-EE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t-EE" sz="24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t-EE" sz="2400" dirty="0">
                <a:latin typeface="Cambria" panose="02040503050406030204" pitchFamily="18" charset="0"/>
                <a:ea typeface="Cambria" panose="02040503050406030204" pitchFamily="18" charset="0"/>
              </a:rPr>
              <a:t> - projektihaldus</a:t>
            </a:r>
            <a:endParaRPr lang="et-EE" sz="24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t-EE" sz="2400" noProof="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"/>
          <p:cNvSpPr txBox="1"/>
          <p:nvPr/>
        </p:nvSpPr>
        <p:spPr>
          <a:xfrm>
            <a:off x="845820" y="883312"/>
            <a:ext cx="1659636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t-EE" sz="5100" b="1" noProof="0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Andmetöötlus  ja väljakutsed</a:t>
            </a:r>
          </a:p>
          <a:p>
            <a:pPr algn="ctr">
              <a:buSzPct val="100000"/>
            </a:pPr>
            <a:r>
              <a:rPr lang="et-EE" sz="2400" noProof="0" dirty="0">
                <a:solidFill>
                  <a:srgbClr val="2F2B26"/>
                </a:solidFill>
                <a:ea typeface="Calibri" pitchFamily="34" charset="-122"/>
                <a:cs typeface="Calibri" pitchFamily="34" charset="-120"/>
              </a:rPr>
              <a:t>Andmed seisuga september 2026</a:t>
            </a:r>
            <a:endParaRPr lang="et-EE" sz="2400" noProof="0" dirty="0"/>
          </a:p>
          <a:p>
            <a:pPr algn="ctr"/>
            <a:endParaRPr lang="en-US" sz="5100" dirty="0"/>
          </a:p>
        </p:txBody>
      </p:sp>
      <p:sp>
        <p:nvSpPr>
          <p:cNvPr id="4" name="Kaart"/>
          <p:cNvSpPr/>
          <p:nvPr/>
        </p:nvSpPr>
        <p:spPr>
          <a:xfrm>
            <a:off x="822960" y="2400300"/>
            <a:ext cx="5212080" cy="6652260"/>
          </a:xfrm>
          <a:prstGeom prst="roundRect">
            <a:avLst>
              <a:gd name="adj" fmla="val 315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5" name="Ikooni taust"/>
          <p:cNvSpPr/>
          <p:nvPr/>
        </p:nvSpPr>
        <p:spPr>
          <a:xfrm>
            <a:off x="1234440" y="2743200"/>
            <a:ext cx="891540" cy="89154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6" name="Image 0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242" y="2975002"/>
            <a:ext cx="427940" cy="4279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263140" y="2743200"/>
            <a:ext cx="34975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Andmekvaliteet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3977640"/>
            <a:ext cx="438912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spcAft>
                <a:spcPts val="900"/>
              </a:spcAft>
              <a:buSzPct val="100000"/>
              <a:buChar char="•"/>
            </a:pP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Avalikud andmed, kvaliteet väga hea</a:t>
            </a:r>
          </a:p>
          <a:p>
            <a:pPr>
              <a:spcAft>
                <a:spcPts val="900"/>
              </a:spcAft>
              <a:buSzPct val="100000"/>
            </a:pPr>
            <a:endParaRPr lang="et-EE" sz="24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66700" indent="-266700">
              <a:spcAft>
                <a:spcPts val="900"/>
              </a:spcAft>
              <a:buSzPct val="100000"/>
              <a:buFontTx/>
              <a:buChar char="•"/>
            </a:pPr>
            <a:r>
              <a:rPr lang="et-EE" sz="2400" noProof="0" dirty="0">
                <a:solidFill>
                  <a:srgbClr val="424242"/>
                </a:solidFill>
                <a:latin typeface="Cambria" panose="02040503050406030204" pitchFamily="18" charset="0"/>
                <a:ea typeface="Cambria" panose="02040503050406030204" pitchFamily="18" charset="0"/>
                <a:cs typeface="Agrandir"/>
                <a:sym typeface="Agrandir"/>
              </a:rPr>
              <a:t>Puuduvad väärtused: </a:t>
            </a: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Hiiu maakonnal puudub kolm kvartalit (tehinguid alla 5): rida 2009 IV puudub, hinnad puuduvad 2010 ja 2014 I – jäetud null-väärtusega</a:t>
            </a:r>
            <a:endParaRPr lang="et-EE" sz="24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Kaart"/>
          <p:cNvSpPr/>
          <p:nvPr/>
        </p:nvSpPr>
        <p:spPr>
          <a:xfrm>
            <a:off x="6515100" y="2400300"/>
            <a:ext cx="5212080" cy="6652260"/>
          </a:xfrm>
          <a:prstGeom prst="roundRect">
            <a:avLst>
              <a:gd name="adj" fmla="val 315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10" name="Ikooni taust"/>
          <p:cNvSpPr/>
          <p:nvPr/>
        </p:nvSpPr>
        <p:spPr>
          <a:xfrm>
            <a:off x="6926580" y="2743200"/>
            <a:ext cx="891540" cy="89154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11" name="Image 1" descr="FaSyn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382" y="2975002"/>
            <a:ext cx="427940" cy="4279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955280" y="2743200"/>
            <a:ext cx="34975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Transformeerimine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6926580" y="3977640"/>
            <a:ext cx="438912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spcAft>
                <a:spcPts val="900"/>
              </a:spcAft>
              <a:buSzPct val="100000"/>
              <a:buChar char="•"/>
            </a:pP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Laiaformaadilised tabelid Pythonis pikaformaadi­liseks – vajalik JOIN-</a:t>
            </a:r>
            <a:r>
              <a:rPr lang="et-EE" sz="2400" noProof="0" dirty="0" err="1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ideks</a:t>
            </a: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ja Power BI tähtskeemi jaoks.</a:t>
            </a:r>
          </a:p>
          <a:p>
            <a:pPr>
              <a:spcAft>
                <a:spcPts val="900"/>
              </a:spcAft>
              <a:buSzPct val="100000"/>
            </a:pPr>
            <a:endParaRPr lang="et-EE" sz="2400" noProof="0" dirty="0">
              <a:solidFill>
                <a:srgbClr val="424242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  <a:sym typeface="Agrandir Bold"/>
            </a:endParaRPr>
          </a:p>
          <a:p>
            <a:pPr marL="266700" indent="-266700">
              <a:spcAft>
                <a:spcPts val="900"/>
              </a:spcAft>
              <a:buSzPct val="100000"/>
              <a:buFontTx/>
              <a:buChar char="•"/>
            </a:pP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Kolme palgatabeli ühendamine ja duplikaatide eemaldamine. </a:t>
            </a:r>
            <a:endParaRPr lang="et-EE" sz="24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Kaart"/>
          <p:cNvSpPr/>
          <p:nvPr/>
        </p:nvSpPr>
        <p:spPr>
          <a:xfrm>
            <a:off x="12207240" y="2400300"/>
            <a:ext cx="5212080" cy="6652260"/>
          </a:xfrm>
          <a:prstGeom prst="roundRect">
            <a:avLst>
              <a:gd name="adj" fmla="val 315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15" name="Ikooni taust"/>
          <p:cNvSpPr/>
          <p:nvPr/>
        </p:nvSpPr>
        <p:spPr>
          <a:xfrm>
            <a:off x="12618720" y="2743200"/>
            <a:ext cx="891540" cy="891540"/>
          </a:xfrm>
          <a:prstGeom prst="ellipse">
            <a:avLst/>
          </a:prstGeom>
          <a:solidFill>
            <a:srgbClr val="D2BC94"/>
          </a:solidFill>
          <a:ln w="12700">
            <a:solidFill>
              <a:srgbClr val="D2BC94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pic>
        <p:nvPicPr>
          <p:cNvPr id="16" name="Image 2" descr="FaPlusCirc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0522" y="2975002"/>
            <a:ext cx="427940" cy="4279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647420" y="2743200"/>
            <a:ext cx="34975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Rikastamine</a:t>
            </a:r>
            <a:endParaRPr lang="en-US" sz="3000" dirty="0"/>
          </a:p>
        </p:txBody>
      </p:sp>
      <p:sp>
        <p:nvSpPr>
          <p:cNvPr id="18" name="Text 12"/>
          <p:cNvSpPr txBox="1"/>
          <p:nvPr/>
        </p:nvSpPr>
        <p:spPr>
          <a:xfrm>
            <a:off x="12618720" y="3977640"/>
            <a:ext cx="438912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spcAft>
                <a:spcPts val="900"/>
              </a:spcAft>
              <a:buSzPct val="100000"/>
              <a:buChar char="•"/>
            </a:pP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THI ja intressi kuised väärtused → kvartali keskmine</a:t>
            </a:r>
          </a:p>
          <a:p>
            <a:pPr>
              <a:spcAft>
                <a:spcPts val="900"/>
              </a:spcAft>
              <a:buSzPct val="100000"/>
            </a:pPr>
            <a:endParaRPr lang="et-EE" sz="24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66700" indent="-266700">
              <a:spcAft>
                <a:spcPts val="900"/>
              </a:spcAft>
              <a:buSzPct val="100000"/>
              <a:buChar char="•"/>
            </a:pPr>
            <a:r>
              <a:rPr lang="et-EE" sz="2400" noProof="0" dirty="0">
                <a:solidFill>
                  <a:srgbClr val="2F2B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Igale faktitabelile quarter_id veerg (aasta + kvartali alguse kuu ja päev), et ühendada SQL-is tabeliga dim_time</a:t>
            </a:r>
            <a:endParaRPr lang="et-EE" sz="24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"/>
          <p:cNvSpPr txBox="1"/>
          <p:nvPr/>
        </p:nvSpPr>
        <p:spPr>
          <a:xfrm>
            <a:off x="822960" y="548640"/>
            <a:ext cx="1659636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1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Andmemudel: SQL tähtskeem</a:t>
            </a:r>
            <a:endParaRPr lang="en-US" sz="5100" dirty="0"/>
          </a:p>
        </p:txBody>
      </p:sp>
      <p:sp>
        <p:nvSpPr>
          <p:cNvPr id="4" name="Tabel Palk"/>
          <p:cNvSpPr/>
          <p:nvPr/>
        </p:nvSpPr>
        <p:spPr>
          <a:xfrm>
            <a:off x="6816852" y="2057400"/>
            <a:ext cx="4663440" cy="22494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D8C3A0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5" name="Päis Palk"/>
          <p:cNvSpPr/>
          <p:nvPr/>
        </p:nvSpPr>
        <p:spPr>
          <a:xfrm>
            <a:off x="6816852" y="205740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EADBC2"/>
          </a:solidFill>
          <a:ln w="12700">
            <a:solidFill>
              <a:srgbClr val="EADBC2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6" name="Text 3"/>
          <p:cNvSpPr txBox="1"/>
          <p:nvPr/>
        </p:nvSpPr>
        <p:spPr>
          <a:xfrm>
            <a:off x="7063740" y="20574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Palk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834372" y="2057400"/>
            <a:ext cx="1440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5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063740" y="2811780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667244" y="2811780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Keskmine_palk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063740" y="3278124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7667244" y="3278124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Võõrvõti_kvartali_id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7063740" y="3744468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7667244" y="3744468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Võõrvõti_maakonna_id</a:t>
            </a:r>
            <a:endParaRPr lang="en-US" sz="2100" dirty="0"/>
          </a:p>
        </p:txBody>
      </p:sp>
      <p:sp>
        <p:nvSpPr>
          <p:cNvPr id="14" name="Tabel Maakond"/>
          <p:cNvSpPr/>
          <p:nvPr/>
        </p:nvSpPr>
        <p:spPr>
          <a:xfrm>
            <a:off x="822960" y="2331720"/>
            <a:ext cx="4663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D8C3A0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15" name="Päis Maakond"/>
          <p:cNvSpPr/>
          <p:nvPr/>
        </p:nvSpPr>
        <p:spPr>
          <a:xfrm>
            <a:off x="822960" y="23317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F3EADA"/>
          </a:solidFill>
          <a:ln w="12700">
            <a:solidFill>
              <a:srgbClr val="F3EADA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16" name="Text 13"/>
          <p:cNvSpPr txBox="1"/>
          <p:nvPr/>
        </p:nvSpPr>
        <p:spPr>
          <a:xfrm>
            <a:off x="1069848" y="233172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Maakond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331720"/>
            <a:ext cx="1440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5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69848" y="3086100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50" dirty="0"/>
          </a:p>
        </p:txBody>
      </p:sp>
      <p:sp>
        <p:nvSpPr>
          <p:cNvPr id="19" name="Text 16"/>
          <p:cNvSpPr txBox="1"/>
          <p:nvPr/>
        </p:nvSpPr>
        <p:spPr>
          <a:xfrm>
            <a:off x="1673352" y="3086100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Maakonna_nimi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1069848" y="3552444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1673352" y="3552444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Põhivõti_maakonna_id</a:t>
            </a:r>
            <a:endParaRPr lang="en-US" sz="2100" dirty="0"/>
          </a:p>
        </p:txBody>
      </p:sp>
      <p:sp>
        <p:nvSpPr>
          <p:cNvPr id="22" name="Tabel Aeg"/>
          <p:cNvSpPr/>
          <p:nvPr/>
        </p:nvSpPr>
        <p:spPr>
          <a:xfrm>
            <a:off x="6816852" y="5143500"/>
            <a:ext cx="4663440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D8C3A0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23" name="Päis Aeg"/>
          <p:cNvSpPr/>
          <p:nvPr/>
        </p:nvSpPr>
        <p:spPr>
          <a:xfrm>
            <a:off x="6816852" y="514350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F3EADA"/>
          </a:solidFill>
          <a:ln w="12700">
            <a:solidFill>
              <a:srgbClr val="F3EADA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24" name="Text 21"/>
          <p:cNvSpPr txBox="1"/>
          <p:nvPr/>
        </p:nvSpPr>
        <p:spPr>
          <a:xfrm>
            <a:off x="7063740" y="51435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9834372" y="5143500"/>
            <a:ext cx="1440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5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DIMENSIOON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063740" y="5897880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50" dirty="0"/>
          </a:p>
        </p:txBody>
      </p:sp>
      <p:sp>
        <p:nvSpPr>
          <p:cNvPr id="27" name="Text 24"/>
          <p:cNvSpPr txBox="1"/>
          <p:nvPr/>
        </p:nvSpPr>
        <p:spPr>
          <a:xfrm>
            <a:off x="7667244" y="5897880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Aasta</a:t>
            </a:r>
            <a:endParaRPr lang="en-US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7063740" y="6364224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50" dirty="0"/>
          </a:p>
        </p:txBody>
      </p:sp>
      <p:sp>
        <p:nvSpPr>
          <p:cNvPr id="29" name="Text 26"/>
          <p:cNvSpPr txBox="1"/>
          <p:nvPr/>
        </p:nvSpPr>
        <p:spPr>
          <a:xfrm>
            <a:off x="7667244" y="6364224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Kvartali_aasta_lõikes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7063740" y="6830568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7667244" y="6830568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Kvartali_number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7063740" y="7296912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650" dirty="0"/>
          </a:p>
        </p:txBody>
      </p:sp>
      <p:sp>
        <p:nvSpPr>
          <p:cNvPr id="33" name="Text 30"/>
          <p:cNvSpPr txBox="1"/>
          <p:nvPr/>
        </p:nvSpPr>
        <p:spPr>
          <a:xfrm>
            <a:off x="7667244" y="7296912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Põhivõti_kvartali_id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7063740" y="7763256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50" dirty="0"/>
          </a:p>
        </p:txBody>
      </p:sp>
      <p:sp>
        <p:nvSpPr>
          <p:cNvPr id="35" name="Text 32"/>
          <p:cNvSpPr txBox="1"/>
          <p:nvPr/>
        </p:nvSpPr>
        <p:spPr>
          <a:xfrm>
            <a:off x="7667244" y="7763256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Poolaasta</a:t>
            </a:r>
            <a:endParaRPr lang="en-US" sz="2100" dirty="0"/>
          </a:p>
        </p:txBody>
      </p:sp>
      <p:sp>
        <p:nvSpPr>
          <p:cNvPr id="36" name="Tabel Intressid"/>
          <p:cNvSpPr/>
          <p:nvPr/>
        </p:nvSpPr>
        <p:spPr>
          <a:xfrm>
            <a:off x="12797028" y="4114800"/>
            <a:ext cx="4663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D8C3A0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37" name="Päis Intressid"/>
          <p:cNvSpPr/>
          <p:nvPr/>
        </p:nvSpPr>
        <p:spPr>
          <a:xfrm>
            <a:off x="12797028" y="411480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EADBC2"/>
          </a:solidFill>
          <a:ln w="12700">
            <a:solidFill>
              <a:srgbClr val="EADBC2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38" name="Text 35"/>
          <p:cNvSpPr txBox="1"/>
          <p:nvPr/>
        </p:nvSpPr>
        <p:spPr>
          <a:xfrm>
            <a:off x="13043916" y="41148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Intressid</a:t>
            </a:r>
            <a:endParaRPr lang="en-US" sz="2400" dirty="0"/>
          </a:p>
        </p:txBody>
      </p:sp>
      <p:sp>
        <p:nvSpPr>
          <p:cNvPr id="39" name="Text 36"/>
          <p:cNvSpPr txBox="1"/>
          <p:nvPr/>
        </p:nvSpPr>
        <p:spPr>
          <a:xfrm>
            <a:off x="15814548" y="4114800"/>
            <a:ext cx="1440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5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3043916" y="4869180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13647420" y="4869180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Intress</a:t>
            </a:r>
            <a:endParaRPr lang="en-US" sz="2100" dirty="0"/>
          </a:p>
        </p:txBody>
      </p:sp>
      <p:sp>
        <p:nvSpPr>
          <p:cNvPr id="42" name="Text 39"/>
          <p:cNvSpPr txBox="1"/>
          <p:nvPr/>
        </p:nvSpPr>
        <p:spPr>
          <a:xfrm>
            <a:off x="13043916" y="5335524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650" dirty="0"/>
          </a:p>
        </p:txBody>
      </p:sp>
      <p:sp>
        <p:nvSpPr>
          <p:cNvPr id="43" name="Text 40"/>
          <p:cNvSpPr txBox="1"/>
          <p:nvPr/>
        </p:nvSpPr>
        <p:spPr>
          <a:xfrm>
            <a:off x="13647420" y="5335524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Võõrvõti_kvartali_id</a:t>
            </a:r>
            <a:endParaRPr lang="en-US" sz="2100" dirty="0"/>
          </a:p>
        </p:txBody>
      </p:sp>
      <p:sp>
        <p:nvSpPr>
          <p:cNvPr id="44" name="Tabel Kinnisvara"/>
          <p:cNvSpPr/>
          <p:nvPr/>
        </p:nvSpPr>
        <p:spPr>
          <a:xfrm>
            <a:off x="822960" y="6515100"/>
            <a:ext cx="4663440" cy="2715768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5875">
            <a:solidFill>
              <a:srgbClr val="D8C3A0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45" name="Päis Kinnisvara"/>
          <p:cNvSpPr/>
          <p:nvPr/>
        </p:nvSpPr>
        <p:spPr>
          <a:xfrm>
            <a:off x="822960" y="651510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EADBC2"/>
          </a:solidFill>
          <a:ln w="12700">
            <a:solidFill>
              <a:srgbClr val="EADBC2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46" name="Text 43"/>
          <p:cNvSpPr txBox="1"/>
          <p:nvPr/>
        </p:nvSpPr>
        <p:spPr>
          <a:xfrm>
            <a:off x="1069848" y="65151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Kinnisvara</a:t>
            </a:r>
            <a:endParaRPr lang="en-US" sz="2400" dirty="0"/>
          </a:p>
        </p:txBody>
      </p:sp>
      <p:sp>
        <p:nvSpPr>
          <p:cNvPr id="47" name="Text 44"/>
          <p:cNvSpPr txBox="1"/>
          <p:nvPr/>
        </p:nvSpPr>
        <p:spPr>
          <a:xfrm>
            <a:off x="3840480" y="6515100"/>
            <a:ext cx="1440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5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069848" y="7269480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50" dirty="0"/>
          </a:p>
        </p:txBody>
      </p:sp>
      <p:sp>
        <p:nvSpPr>
          <p:cNvPr id="49" name="Text 46"/>
          <p:cNvSpPr txBox="1"/>
          <p:nvPr/>
        </p:nvSpPr>
        <p:spPr>
          <a:xfrm>
            <a:off x="1673352" y="7269480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Keskmine_m2_hind</a:t>
            </a:r>
            <a:endParaRPr lang="en-US" sz="2100" dirty="0"/>
          </a:p>
        </p:txBody>
      </p:sp>
      <p:sp>
        <p:nvSpPr>
          <p:cNvPr id="50" name="Text 47"/>
          <p:cNvSpPr txBox="1"/>
          <p:nvPr/>
        </p:nvSpPr>
        <p:spPr>
          <a:xfrm>
            <a:off x="1069848" y="7735824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50" dirty="0"/>
          </a:p>
        </p:txBody>
      </p:sp>
      <p:sp>
        <p:nvSpPr>
          <p:cNvPr id="51" name="Text 48"/>
          <p:cNvSpPr txBox="1"/>
          <p:nvPr/>
        </p:nvSpPr>
        <p:spPr>
          <a:xfrm>
            <a:off x="1673352" y="7735824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Tehingute_arv</a:t>
            </a:r>
            <a:endParaRPr lang="en-US" sz="2100" dirty="0"/>
          </a:p>
        </p:txBody>
      </p:sp>
      <p:sp>
        <p:nvSpPr>
          <p:cNvPr id="52" name="Text 49"/>
          <p:cNvSpPr txBox="1"/>
          <p:nvPr/>
        </p:nvSpPr>
        <p:spPr>
          <a:xfrm>
            <a:off x="1069848" y="8202168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650" dirty="0"/>
          </a:p>
        </p:txBody>
      </p:sp>
      <p:sp>
        <p:nvSpPr>
          <p:cNvPr id="53" name="Text 50"/>
          <p:cNvSpPr txBox="1"/>
          <p:nvPr/>
        </p:nvSpPr>
        <p:spPr>
          <a:xfrm>
            <a:off x="1673352" y="8202168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Võõrvõti_kvartali_id</a:t>
            </a:r>
            <a:endParaRPr lang="en-US" sz="2100" dirty="0"/>
          </a:p>
        </p:txBody>
      </p:sp>
      <p:sp>
        <p:nvSpPr>
          <p:cNvPr id="54" name="Text 51"/>
          <p:cNvSpPr txBox="1"/>
          <p:nvPr/>
        </p:nvSpPr>
        <p:spPr>
          <a:xfrm>
            <a:off x="1069848" y="8668512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650" dirty="0"/>
          </a:p>
        </p:txBody>
      </p:sp>
      <p:sp>
        <p:nvSpPr>
          <p:cNvPr id="55" name="Text 52"/>
          <p:cNvSpPr txBox="1"/>
          <p:nvPr/>
        </p:nvSpPr>
        <p:spPr>
          <a:xfrm>
            <a:off x="1673352" y="8668512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Võõrvõti_maakonna_id</a:t>
            </a:r>
            <a:endParaRPr lang="en-US" sz="2100" dirty="0"/>
          </a:p>
        </p:txBody>
      </p:sp>
      <p:sp>
        <p:nvSpPr>
          <p:cNvPr id="56" name="Tabel Tarbijahinnaindeks"/>
          <p:cNvSpPr/>
          <p:nvPr/>
        </p:nvSpPr>
        <p:spPr>
          <a:xfrm>
            <a:off x="12797028" y="6789420"/>
            <a:ext cx="4663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D8C3A0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  <p:txBody>
          <a:bodyPr/>
          <a:lstStyle/>
          <a:p>
            <a:endParaRPr lang="et-EE" sz="2700"/>
          </a:p>
        </p:txBody>
      </p:sp>
      <p:sp>
        <p:nvSpPr>
          <p:cNvPr id="57" name="Päis Tarbijahinnaindeks"/>
          <p:cNvSpPr/>
          <p:nvPr/>
        </p:nvSpPr>
        <p:spPr>
          <a:xfrm>
            <a:off x="12797028" y="67894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EADBC2"/>
          </a:solidFill>
          <a:ln w="12700">
            <a:solidFill>
              <a:srgbClr val="EADBC2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58" name="Text 55"/>
          <p:cNvSpPr txBox="1"/>
          <p:nvPr/>
        </p:nvSpPr>
        <p:spPr>
          <a:xfrm>
            <a:off x="13043916" y="678942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Tarbijahinnaindeks</a:t>
            </a:r>
            <a:endParaRPr lang="en-US" sz="2400" dirty="0"/>
          </a:p>
        </p:txBody>
      </p:sp>
      <p:sp>
        <p:nvSpPr>
          <p:cNvPr id="59" name="Text 56"/>
          <p:cNvSpPr txBox="1"/>
          <p:nvPr/>
        </p:nvSpPr>
        <p:spPr>
          <a:xfrm>
            <a:off x="15814548" y="6789420"/>
            <a:ext cx="1440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5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13043916" y="7543800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50" dirty="0"/>
          </a:p>
        </p:txBody>
      </p:sp>
      <p:sp>
        <p:nvSpPr>
          <p:cNvPr id="61" name="Text 58"/>
          <p:cNvSpPr txBox="1"/>
          <p:nvPr/>
        </p:nvSpPr>
        <p:spPr>
          <a:xfrm>
            <a:off x="13647420" y="7543800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Keskmine_indeks</a:t>
            </a:r>
            <a:endParaRPr lang="en-US" sz="2100" dirty="0"/>
          </a:p>
        </p:txBody>
      </p:sp>
      <p:sp>
        <p:nvSpPr>
          <p:cNvPr id="62" name="Text 59"/>
          <p:cNvSpPr txBox="1"/>
          <p:nvPr/>
        </p:nvSpPr>
        <p:spPr>
          <a:xfrm>
            <a:off x="13043916" y="8010144"/>
            <a:ext cx="576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650" dirty="0"/>
          </a:p>
        </p:txBody>
      </p:sp>
      <p:sp>
        <p:nvSpPr>
          <p:cNvPr id="63" name="Text 60"/>
          <p:cNvSpPr txBox="1"/>
          <p:nvPr/>
        </p:nvSpPr>
        <p:spPr>
          <a:xfrm>
            <a:off x="13647420" y="8010144"/>
            <a:ext cx="36347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Võõrvõti_kvartali_id</a:t>
            </a:r>
            <a:endParaRPr lang="en-US" sz="2100" dirty="0"/>
          </a:p>
        </p:txBody>
      </p:sp>
      <p:sp>
        <p:nvSpPr>
          <p:cNvPr id="64" name="Seos"/>
          <p:cNvSpPr/>
          <p:nvPr/>
        </p:nvSpPr>
        <p:spPr>
          <a:xfrm>
            <a:off x="5486400" y="3154680"/>
            <a:ext cx="1330452" cy="0"/>
          </a:xfrm>
          <a:prstGeom prst="line">
            <a:avLst/>
          </a:prstGeom>
          <a:noFill/>
          <a:ln w="25400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65" name="Seos"/>
          <p:cNvSpPr/>
          <p:nvPr/>
        </p:nvSpPr>
        <p:spPr>
          <a:xfrm flipV="1">
            <a:off x="9148572" y="4306824"/>
            <a:ext cx="0" cy="836676"/>
          </a:xfrm>
          <a:prstGeom prst="line">
            <a:avLst/>
          </a:prstGeom>
          <a:noFill/>
          <a:ln w="25400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66" name="Seos"/>
          <p:cNvSpPr/>
          <p:nvPr/>
        </p:nvSpPr>
        <p:spPr>
          <a:xfrm>
            <a:off x="3154680" y="4114800"/>
            <a:ext cx="0" cy="2400300"/>
          </a:xfrm>
          <a:prstGeom prst="line">
            <a:avLst/>
          </a:prstGeom>
          <a:noFill/>
          <a:ln w="25400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67" name="Seos"/>
          <p:cNvSpPr/>
          <p:nvPr/>
        </p:nvSpPr>
        <p:spPr>
          <a:xfrm flipH="1">
            <a:off x="5486400" y="7406640"/>
            <a:ext cx="1330452" cy="0"/>
          </a:xfrm>
          <a:prstGeom prst="line">
            <a:avLst/>
          </a:prstGeom>
          <a:noFill/>
          <a:ln w="25400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68" name="Seos"/>
          <p:cNvSpPr/>
          <p:nvPr/>
        </p:nvSpPr>
        <p:spPr>
          <a:xfrm>
            <a:off x="11480292" y="5486400"/>
            <a:ext cx="1316736" cy="0"/>
          </a:xfrm>
          <a:prstGeom prst="line">
            <a:avLst/>
          </a:prstGeom>
          <a:noFill/>
          <a:ln w="25400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69" name="Seos"/>
          <p:cNvSpPr/>
          <p:nvPr/>
        </p:nvSpPr>
        <p:spPr>
          <a:xfrm>
            <a:off x="11480292" y="7680960"/>
            <a:ext cx="1316736" cy="0"/>
          </a:xfrm>
          <a:prstGeom prst="line">
            <a:avLst/>
          </a:prstGeom>
          <a:noFill/>
          <a:ln w="25400">
            <a:solidFill>
              <a:srgbClr val="5C5346"/>
            </a:solidFill>
            <a:prstDash val="solid"/>
            <a:tailEnd type="triangle"/>
          </a:ln>
        </p:spPr>
        <p:txBody>
          <a:bodyPr/>
          <a:lstStyle/>
          <a:p>
            <a:endParaRPr lang="et-EE" sz="2700"/>
          </a:p>
        </p:txBody>
      </p:sp>
      <p:sp>
        <p:nvSpPr>
          <p:cNvPr id="70" name="Selgitus"/>
          <p:cNvSpPr/>
          <p:nvPr/>
        </p:nvSpPr>
        <p:spPr>
          <a:xfrm>
            <a:off x="5829300" y="8641080"/>
            <a:ext cx="6652260" cy="822960"/>
          </a:xfrm>
          <a:prstGeom prst="roundRect">
            <a:avLst>
              <a:gd name="adj" fmla="val 13333"/>
            </a:avLst>
          </a:prstGeom>
          <a:solidFill>
            <a:srgbClr val="EFE4CE"/>
          </a:solidFill>
          <a:ln w="12700">
            <a:solidFill>
              <a:srgbClr val="EFE4CE"/>
            </a:solidFill>
            <a:prstDash val="solid"/>
          </a:ln>
        </p:spPr>
        <p:txBody>
          <a:bodyPr/>
          <a:lstStyle/>
          <a:p>
            <a:endParaRPr lang="et-EE" sz="2700"/>
          </a:p>
        </p:txBody>
      </p:sp>
      <p:sp>
        <p:nvSpPr>
          <p:cNvPr id="71" name="Text 68"/>
          <p:cNvSpPr txBox="1"/>
          <p:nvPr/>
        </p:nvSpPr>
        <p:spPr>
          <a:xfrm>
            <a:off x="5897880" y="8641080"/>
            <a:ext cx="6515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Nool: üks (dimensioon) → mitu (fakt). </a:t>
            </a:r>
            <a:endParaRPr lang="en-US" sz="1650" dirty="0"/>
          </a:p>
          <a:p>
            <a:pPr algn="ctr"/>
            <a:r>
              <a:rPr lang="en-US" sz="1650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Ridu: Kinnisvara 1289, Palk 1290, Intressid / THI / Aeg 86, Maakond 15</a:t>
            </a:r>
            <a:endParaRPr lang="en-US" sz="16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73" name="Freeform 5">
            <a:extLst>
              <a:ext uri="{FF2B5EF4-FFF2-40B4-BE49-F238E27FC236}">
                <a16:creationId xmlns:a16="http://schemas.microsoft.com/office/drawing/2014/main" id="{451C6BA3-2612-E3EC-AD20-79854CF999DA}"/>
              </a:ext>
            </a:extLst>
          </p:cNvPr>
          <p:cNvSpPr/>
          <p:nvPr/>
        </p:nvSpPr>
        <p:spPr>
          <a:xfrm>
            <a:off x="657291" y="1635601"/>
            <a:ext cx="7146754" cy="584300"/>
          </a:xfrm>
          <a:custGeom>
            <a:avLst/>
            <a:gdLst/>
            <a:ahLst/>
            <a:cxnLst/>
            <a:rect l="l" t="t" r="r" b="b"/>
            <a:pathLst>
              <a:path w="7146754" h="584300">
                <a:moveTo>
                  <a:pt x="0" y="0"/>
                </a:moveTo>
                <a:lnTo>
                  <a:pt x="7146754" y="0"/>
                </a:lnTo>
                <a:lnTo>
                  <a:pt x="7146754" y="584300"/>
                </a:lnTo>
                <a:lnTo>
                  <a:pt x="0" y="584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108"/>
            </a:stretch>
          </a:blipFill>
        </p:spPr>
        <p:txBody>
          <a:bodyPr/>
          <a:lstStyle/>
          <a:p>
            <a:endParaRPr lang="et-E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"/>
          <p:cNvSpPr txBox="1"/>
          <p:nvPr/>
        </p:nvSpPr>
        <p:spPr>
          <a:xfrm>
            <a:off x="822960" y="548640"/>
            <a:ext cx="1659636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1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Kus töö asub</a:t>
            </a:r>
            <a:endParaRPr lang="en-US" sz="5100" dirty="0"/>
          </a:p>
        </p:txBody>
      </p:sp>
      <p:pic>
        <p:nvPicPr>
          <p:cNvPr id="4" name="Image 0" descr="VALI I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0" y="754381"/>
            <a:ext cx="2331720" cy="812342"/>
          </a:xfrm>
          <a:prstGeom prst="rect">
            <a:avLst/>
          </a:prstGeom>
        </p:spPr>
      </p:pic>
      <p:sp>
        <p:nvSpPr>
          <p:cNvPr id="5" name="Rakenduste paneel"/>
          <p:cNvSpPr/>
          <p:nvPr/>
        </p:nvSpPr>
        <p:spPr>
          <a:xfrm>
            <a:off x="822960" y="2194560"/>
            <a:ext cx="7132320" cy="7132320"/>
          </a:xfrm>
          <a:prstGeom prst="roundRect">
            <a:avLst>
              <a:gd name="adj" fmla="val 230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blurRad="101600" dist="25400" dir="5400000" algn="bl" rotWithShape="0">
              <a:srgbClr val="3A3025">
                <a:alpha val="15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1303020" y="2441448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700" b="1" dirty="0">
                <a:solidFill>
                  <a:srgbClr val="5C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Rakendused</a:t>
            </a:r>
            <a:endParaRPr lang="en-US" sz="2700" dirty="0"/>
          </a:p>
        </p:txBody>
      </p:sp>
      <p:sp>
        <p:nvSpPr>
          <p:cNvPr id="7" name="QR raam"/>
          <p:cNvSpPr/>
          <p:nvPr/>
        </p:nvSpPr>
        <p:spPr>
          <a:xfrm>
            <a:off x="1303020" y="3154680"/>
            <a:ext cx="1714500" cy="1714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D8C0"/>
            </a:solidFill>
            <a:prstDash val="solid"/>
          </a:ln>
        </p:spPr>
      </p:sp>
      <p:pic>
        <p:nvPicPr>
          <p:cNvPr id="8" name="Image 1" descr="QR-kood: Kinnisvarahindade ostujõu indek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748" y="3264408"/>
            <a:ext cx="1495044" cy="14950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360420" y="3154680"/>
            <a:ext cx="438912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Kinnisvarahindade ostujõu indeks</a:t>
            </a:r>
            <a:endParaRPr lang="en-US" sz="2400" dirty="0"/>
          </a:p>
        </p:txBody>
      </p:sp>
      <p:sp>
        <p:nvSpPr>
          <p:cNvPr id="10" name="Eraldusjoon"/>
          <p:cNvSpPr/>
          <p:nvPr/>
        </p:nvSpPr>
        <p:spPr>
          <a:xfrm>
            <a:off x="1303020" y="5074920"/>
            <a:ext cx="6172200" cy="0"/>
          </a:xfrm>
          <a:prstGeom prst="line">
            <a:avLst/>
          </a:prstGeom>
          <a:noFill/>
          <a:ln w="12700">
            <a:solidFill>
              <a:srgbClr val="D8C3A0"/>
            </a:solidFill>
            <a:prstDash val="solid"/>
          </a:ln>
        </p:spPr>
      </p:sp>
      <p:sp>
        <p:nvSpPr>
          <p:cNvPr id="11" name="QR raam"/>
          <p:cNvSpPr/>
          <p:nvPr/>
        </p:nvSpPr>
        <p:spPr>
          <a:xfrm>
            <a:off x="1303020" y="5212080"/>
            <a:ext cx="1714500" cy="1714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D8C0"/>
            </a:solidFill>
            <a:prstDash val="solid"/>
          </a:ln>
        </p:spPr>
      </p:sp>
      <p:pic>
        <p:nvPicPr>
          <p:cNvPr id="12" name="Image 2" descr="QR-kood: Eesti kinnisvara ostujõu kompa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748" y="5321808"/>
            <a:ext cx="1495044" cy="14950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360420" y="5212080"/>
            <a:ext cx="438912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Eesti kinnisvara ostujõu kompass</a:t>
            </a:r>
            <a:endParaRPr lang="en-US" sz="2400" dirty="0"/>
          </a:p>
        </p:txBody>
      </p:sp>
      <p:sp>
        <p:nvSpPr>
          <p:cNvPr id="14" name="Eraldusjoon"/>
          <p:cNvSpPr/>
          <p:nvPr/>
        </p:nvSpPr>
        <p:spPr>
          <a:xfrm>
            <a:off x="1303020" y="7132320"/>
            <a:ext cx="6172200" cy="0"/>
          </a:xfrm>
          <a:prstGeom prst="line">
            <a:avLst/>
          </a:prstGeom>
          <a:noFill/>
          <a:ln w="12700">
            <a:solidFill>
              <a:srgbClr val="D8C3A0"/>
            </a:solidFill>
            <a:prstDash val="solid"/>
          </a:ln>
        </p:spPr>
      </p:sp>
      <p:sp>
        <p:nvSpPr>
          <p:cNvPr id="15" name="QR raam"/>
          <p:cNvSpPr/>
          <p:nvPr/>
        </p:nvSpPr>
        <p:spPr>
          <a:xfrm>
            <a:off x="1303020" y="7269480"/>
            <a:ext cx="1714500" cy="1714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D8C0"/>
            </a:solidFill>
            <a:prstDash val="solid"/>
          </a:ln>
        </p:spPr>
      </p:sp>
      <p:pic>
        <p:nvPicPr>
          <p:cNvPr id="16" name="Image 3" descr="QR-kood: Kinnisvaraturu analüü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2748" y="7379208"/>
            <a:ext cx="1495044" cy="14950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360420" y="7269480"/>
            <a:ext cx="438912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Kinnisvaraturu analüüs</a:t>
            </a:r>
            <a:endParaRPr lang="en-US" sz="2400" dirty="0"/>
          </a:p>
        </p:txBody>
      </p:sp>
      <p:sp>
        <p:nvSpPr>
          <p:cNvPr id="18" name="Põhikoodi paneel"/>
          <p:cNvSpPr/>
          <p:nvPr/>
        </p:nvSpPr>
        <p:spPr>
          <a:xfrm>
            <a:off x="8366760" y="2194560"/>
            <a:ext cx="9052560" cy="71323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D8C0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8366760" y="244144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700" b="1" dirty="0">
                <a:solidFill>
                  <a:srgbClr val="5C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Projekti kood GitHubis</a:t>
            </a:r>
            <a:endParaRPr lang="en-US" sz="2700" dirty="0"/>
          </a:p>
        </p:txBody>
      </p:sp>
      <p:sp>
        <p:nvSpPr>
          <p:cNvPr id="20" name="Põhi-QR raam"/>
          <p:cNvSpPr/>
          <p:nvPr/>
        </p:nvSpPr>
        <p:spPr>
          <a:xfrm>
            <a:off x="11109960" y="31546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D8C3A0"/>
            </a:solidFill>
            <a:prstDash val="solid"/>
          </a:ln>
        </p:spPr>
      </p:sp>
      <p:pic>
        <p:nvPicPr>
          <p:cNvPr id="21" name="Image 4" descr="QR-kood GitHubi hoidla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0" y="3291840"/>
            <a:ext cx="3291840" cy="3291840"/>
          </a:xfrm>
          <a:prstGeom prst="rect">
            <a:avLst/>
          </a:prstGeom>
        </p:spPr>
      </p:pic>
      <p:sp>
        <p:nvSpPr>
          <p:cNvPr id="22" name="Text 14">
            <a:hlinkClick r:id="rId8"/>
          </p:cNvPr>
          <p:cNvSpPr txBox="1"/>
          <p:nvPr/>
        </p:nvSpPr>
        <p:spPr>
          <a:xfrm>
            <a:off x="8366760" y="6995160"/>
            <a:ext cx="9052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u="sng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github.com/kaidisoiela/Grupitoo_kinnisvara</a:t>
            </a:r>
            <a:endParaRPr lang="en-US" sz="2400" dirty="0"/>
          </a:p>
        </p:txBody>
      </p:sp>
      <p:sp>
        <p:nvSpPr>
          <p:cNvPr id="23" name="Text 15"/>
          <p:cNvSpPr txBox="1"/>
          <p:nvPr/>
        </p:nvSpPr>
        <p:spPr>
          <a:xfrm>
            <a:off x="8366760" y="7955280"/>
            <a:ext cx="90525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2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Aitäh!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596360" y="960120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B64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'i kujundu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'i kujundu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645</TotalTime>
  <Words>759</Words>
  <Application>Microsoft Office PowerPoint</Application>
  <PresentationFormat>Custom</PresentationFormat>
  <Paragraphs>179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Cambria</vt:lpstr>
      <vt:lpstr>Calibri</vt:lpstr>
      <vt:lpstr>Neue Haas Grotesk Text Pro</vt:lpstr>
      <vt:lpstr>Maragsa</vt:lpstr>
      <vt:lpstr>Arial</vt:lpstr>
      <vt:lpstr>Aptos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GRUPITÖÖ</dc:title>
  <dc:creator>Administrator</dc:creator>
  <cp:lastModifiedBy>Õpilane</cp:lastModifiedBy>
  <cp:revision>37</cp:revision>
  <dcterms:created xsi:type="dcterms:W3CDTF">2006-08-16T00:00:00Z</dcterms:created>
  <dcterms:modified xsi:type="dcterms:W3CDTF">2026-10-08T09:27:36Z</dcterms:modified>
  <dc:identifier>DAHXPOCYsWw</dc:identifier>
</cp:coreProperties>
</file>